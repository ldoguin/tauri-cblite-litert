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5"/>
    <p:sldMasterId id="2147483689" r:id="rId6"/>
  </p:sldMasterIdLst>
  <p:notesMasterIdLst>
    <p:notesMasterId r:id="rId7"/>
  </p:notesMasterIdLst>
  <p:sldIdLst>
    <p:sldId id="256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37"/>
    <p:sldId id="272" r:id="rId38"/>
    <p:sldId id="273" r:id="rId39"/>
    <p:sldId id="274" r:id="rId40"/>
    <p:sldId id="275" r:id="rId41"/>
    <p:sldId id="276" r:id="rId42"/>
    <p:sldId id="277" r:id="rId43"/>
    <p:sldId id="278" r:id="rId44"/>
    <p:sldId id="279" r:id="rId45"/>
    <p:sldId id="280" r:id="rId46"/>
    <p:sldId id="281" r:id="rId47"/>
    <p:sldId id="282" r:id="rId21"/>
    <p:sldId id="283" r:id="rId20"/>
    <p:sldId id="284" r:id="rId19"/>
    <p:sldId id="285" r:id="rId18"/>
    <p:sldId id="286" r:id="rId17"/>
    <p:sldId id="287" r:id="rId16"/>
    <p:sldId id="288" r:id="rId15"/>
    <p:sldId id="289" r:id="rId14"/>
    <p:sldId id="290" r:id="rId13"/>
    <p:sldId id="291" r:id="rId12"/>
    <p:sldId id="292" r:id="rId11"/>
    <p:sldId id="293" r:id="rId10"/>
    <p:sldId id="294" r:id="rId9"/>
    <p:sldId id="295" r:id="rId8"/>
    <p:sldId id="296" r:id="rId62"/>
    <p:sldId id="297" r:id="rId63"/>
    <p:sldId id="298" r:id="rId64"/>
    <p:sldId id="299" r:id="rId65"/>
    <p:sldId id="300" r:id="rId66"/>
    <p:sldId id="301" r:id="rId67"/>
    <p:sldId id="302" r:id="rId68"/>
    <p:sldId id="303" r:id="rId69"/>
    <p:sldId id="304" r:id="rId70"/>
    <p:sldId id="305" r:id="rId71"/>
    <p:sldId id="306" r:id="rId72"/>
    <p:sldId id="307" r:id="rId73"/>
    <p:sldId id="308" r:id="rId74"/>
    <p:sldId id="309" r:id="rId75"/>
    <p:sldId id="310" r:id="rId76"/>
    <p:sldId id="311" r:id="rId77"/>
    <p:sldId id="312" r:id="rId78"/>
    <p:sldId id="313" r:id="rId79"/>
    <p:sldId id="314" r:id="rId80"/>
    <p:sldId id="315" r:id="rId81"/>
    <p:sldId id="316" r:id="rId82"/>
    <p:sldId id="317" r:id="rId83"/>
    <p:sldId id="318" r:id="rId84"/>
    <p:sldId id="319" r:id="rId85"/>
    <p:sldId id="320" r:id="rId86"/>
    <p:sldId id="321" r:id="rId87"/>
    <p:sldId id="322" r:id="rId88"/>
    <p:sldId id="323" r:id="rId89"/>
    <p:sldId id="324" r:id="rId90"/>
    <p:sldId id="325" r:id="rId91"/>
    <p:sldId id="326" r:id="rId92"/>
    <p:sldId id="327" r:id="rId93"/>
    <p:sldId id="328" r:id="rId94"/>
  </p:sldIdLst>
  <p:sldSz cy="5143500" cx="9144000"/>
  <p:notesSz cx="6858000" cy="9144000"/>
  <p:embeddedFontLst>
    <p:embeddedFont>
      <p:font typeface="Source Code Pro"/>
      <p:regular r:id="rId48"/>
      <p:bold r:id="rId49"/>
      <p:italic r:id="rId50"/>
      <p:boldItalic r:id="rId51"/>
    </p:embeddedFont>
    <p:embeddedFont>
      <p:font typeface="Open Sans SemiBold"/>
      <p:regular r:id="rId52"/>
      <p:bold r:id="rId53"/>
      <p:italic r:id="rId54"/>
      <p:boldItalic r:id="rId55"/>
    </p:embeddedFont>
    <p:embeddedFont>
      <p:font typeface="Open Sans ExtraBold"/>
      <p:bold r:id="rId56"/>
      <p:boldItalic r:id="rId57"/>
    </p:embeddedFont>
    <p:embeddedFont>
      <p:font typeface="Open Sans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A5781F-18A9-4F84-8F3C-4C15E518FA00}">
  <a:tblStyle styleId="{54A5781F-18A9-4F84-8F3C-4C15E518FA0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40.xml"/><Relationship Id="rId9" Type="http://schemas.openxmlformats.org/officeDocument/2006/relationships/slide" Target="slides/slide39.xml"/><Relationship Id="rId10" Type="http://schemas.openxmlformats.org/officeDocument/2006/relationships/slide" Target="slides/slide38.xml"/><Relationship Id="rId11" Type="http://schemas.openxmlformats.org/officeDocument/2006/relationships/slide" Target="slides/slide37.xml"/><Relationship Id="rId12" Type="http://schemas.openxmlformats.org/officeDocument/2006/relationships/slide" Target="slides/slide36.xml"/><Relationship Id="rId13" Type="http://schemas.openxmlformats.org/officeDocument/2006/relationships/slide" Target="slides/slide35.xml"/><Relationship Id="rId14" Type="http://schemas.openxmlformats.org/officeDocument/2006/relationships/slide" Target="slides/slide34.xml"/><Relationship Id="rId15" Type="http://schemas.openxmlformats.org/officeDocument/2006/relationships/slide" Target="slides/slide33.xml"/><Relationship Id="rId16" Type="http://schemas.openxmlformats.org/officeDocument/2006/relationships/slide" Target="slides/slide32.xml"/><Relationship Id="rId17" Type="http://schemas.openxmlformats.org/officeDocument/2006/relationships/slide" Target="slides/slide31.xml"/><Relationship Id="rId18" Type="http://schemas.openxmlformats.org/officeDocument/2006/relationships/slide" Target="slides/slide30.xml"/><Relationship Id="rId19" Type="http://schemas.openxmlformats.org/officeDocument/2006/relationships/slide" Target="slides/slide29.xml"/><Relationship Id="rId20" Type="http://schemas.openxmlformats.org/officeDocument/2006/relationships/slide" Target="slides/slide28.xml"/><Relationship Id="rId21" Type="http://schemas.openxmlformats.org/officeDocument/2006/relationships/slide" Target="slides/slide27.xml"/><Relationship Id="rId22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slide" Target="slides/slide14.xml"/><Relationship Id="rId36" Type="http://schemas.openxmlformats.org/officeDocument/2006/relationships/slide" Target="slides/slide15.xml"/><Relationship Id="rId37" Type="http://schemas.openxmlformats.org/officeDocument/2006/relationships/slide" Target="slides/slide16.xml"/><Relationship Id="rId38" Type="http://schemas.openxmlformats.org/officeDocument/2006/relationships/slide" Target="slides/slide17.xml"/><Relationship Id="rId39" Type="http://schemas.openxmlformats.org/officeDocument/2006/relationships/slide" Target="slides/slide18.xml"/><Relationship Id="rId40" Type="http://schemas.openxmlformats.org/officeDocument/2006/relationships/slide" Target="slides/slide19.xml"/><Relationship Id="rId41" Type="http://schemas.openxmlformats.org/officeDocument/2006/relationships/slide" Target="slides/slide20.xml"/><Relationship Id="rId42" Type="http://schemas.openxmlformats.org/officeDocument/2006/relationships/slide" Target="slides/slide21.xml"/><Relationship Id="rId43" Type="http://schemas.openxmlformats.org/officeDocument/2006/relationships/slide" Target="slides/slide22.xml"/><Relationship Id="rId44" Type="http://schemas.openxmlformats.org/officeDocument/2006/relationships/slide" Target="slides/slide23.xml"/><Relationship Id="rId45" Type="http://schemas.openxmlformats.org/officeDocument/2006/relationships/slide" Target="slides/slide24.xml"/><Relationship Id="rId46" Type="http://schemas.openxmlformats.org/officeDocument/2006/relationships/slide" Target="slides/slide25.xml"/><Relationship Id="rId47" Type="http://schemas.openxmlformats.org/officeDocument/2006/relationships/slide" Target="slides/slide26.xml"/><Relationship Id="rId48" Type="http://schemas.openxmlformats.org/officeDocument/2006/relationships/font" Target="fonts/SourceCodePro-regular.fntdata"/><Relationship Id="rId49" Type="http://schemas.openxmlformats.org/officeDocument/2006/relationships/font" Target="fonts/SourceCodePro-bold.fntdata"/><Relationship Id="rId50" Type="http://schemas.openxmlformats.org/officeDocument/2006/relationships/font" Target="fonts/SourceCodePro-italic.fntdata"/><Relationship Id="rId51" Type="http://schemas.openxmlformats.org/officeDocument/2006/relationships/font" Target="fonts/SourceCodePro-boldItalic.fntdata"/><Relationship Id="rId52" Type="http://schemas.openxmlformats.org/officeDocument/2006/relationships/font" Target="fonts/OpenSansSemiBold-regular.fntdata"/><Relationship Id="rId53" Type="http://schemas.openxmlformats.org/officeDocument/2006/relationships/font" Target="fonts/OpenSansSemiBold-bold.fntdata"/><Relationship Id="rId54" Type="http://schemas.openxmlformats.org/officeDocument/2006/relationships/font" Target="fonts/OpenSansSemiBold-italic.fntdata"/><Relationship Id="rId55" Type="http://schemas.openxmlformats.org/officeDocument/2006/relationships/font" Target="fonts/OpenSansSemiBold-boldItalic.fntdata"/><Relationship Id="rId56" Type="http://schemas.openxmlformats.org/officeDocument/2006/relationships/font" Target="fonts/OpenSansExtraBold-bold.fntdata"/><Relationship Id="rId57" Type="http://schemas.openxmlformats.org/officeDocument/2006/relationships/font" Target="fonts/OpenSansExtraBold-boldItalic.fntdata"/><Relationship Id="rId58" Type="http://schemas.openxmlformats.org/officeDocument/2006/relationships/font" Target="fonts/OpenSans-regular.fntdata"/><Relationship Id="rId59" Type="http://schemas.openxmlformats.org/officeDocument/2006/relationships/font" Target="fonts/OpenSans-bold.fntdata"/><Relationship Id="rId60" Type="http://schemas.openxmlformats.org/officeDocument/2006/relationships/font" Target="fonts/OpenSans-italic.fntdata"/><Relationship Id="rId61" Type="http://schemas.openxmlformats.org/officeDocument/2006/relationships/font" Target="fonts/OpenSans-boldItalic.fntdata"/><Relationship Id="rId62" Type="http://schemas.openxmlformats.org/officeDocument/2006/relationships/slide" Target="slides/slide41.xml"/><Relationship Id="rId63" Type="http://schemas.openxmlformats.org/officeDocument/2006/relationships/slide" Target="slides/slide42.xml"/><Relationship Id="rId64" Type="http://schemas.openxmlformats.org/officeDocument/2006/relationships/slide" Target="slides/slide43.xml"/><Relationship Id="rId65" Type="http://schemas.openxmlformats.org/officeDocument/2006/relationships/slide" Target="slides/slide44.xml"/><Relationship Id="rId66" Type="http://schemas.openxmlformats.org/officeDocument/2006/relationships/slide" Target="slides/slide45.xml"/><Relationship Id="rId67" Type="http://schemas.openxmlformats.org/officeDocument/2006/relationships/slide" Target="slides/slide46.xml"/><Relationship Id="rId68" Type="http://schemas.openxmlformats.org/officeDocument/2006/relationships/slide" Target="slides/slide47.xml"/><Relationship Id="rId69" Type="http://schemas.openxmlformats.org/officeDocument/2006/relationships/slide" Target="slides/slide48.xml"/><Relationship Id="rId70" Type="http://schemas.openxmlformats.org/officeDocument/2006/relationships/slide" Target="slides/slide49.xml"/><Relationship Id="rId71" Type="http://schemas.openxmlformats.org/officeDocument/2006/relationships/slide" Target="slides/slide50.xml"/><Relationship Id="rId72" Type="http://schemas.openxmlformats.org/officeDocument/2006/relationships/slide" Target="slides/slide51.xml"/><Relationship Id="rId73" Type="http://schemas.openxmlformats.org/officeDocument/2006/relationships/slide" Target="slides/slide52.xml"/><Relationship Id="rId74" Type="http://schemas.openxmlformats.org/officeDocument/2006/relationships/slide" Target="slides/slide53.xml"/><Relationship Id="rId75" Type="http://schemas.openxmlformats.org/officeDocument/2006/relationships/slide" Target="slides/slide54.xml"/><Relationship Id="rId76" Type="http://schemas.openxmlformats.org/officeDocument/2006/relationships/slide" Target="slides/slide55.xml"/><Relationship Id="rId77" Type="http://schemas.openxmlformats.org/officeDocument/2006/relationships/slide" Target="slides/slide56.xml"/><Relationship Id="rId78" Type="http://schemas.openxmlformats.org/officeDocument/2006/relationships/slide" Target="slides/slide57.xml"/><Relationship Id="rId79" Type="http://schemas.openxmlformats.org/officeDocument/2006/relationships/slide" Target="slides/slide58.xml"/><Relationship Id="rId80" Type="http://schemas.openxmlformats.org/officeDocument/2006/relationships/slide" Target="slides/slide59.xml"/><Relationship Id="rId81" Type="http://schemas.openxmlformats.org/officeDocument/2006/relationships/slide" Target="slides/slide60.xml"/><Relationship Id="rId82" Type="http://schemas.openxmlformats.org/officeDocument/2006/relationships/slide" Target="slides/slide61.xml"/><Relationship Id="rId83" Type="http://schemas.openxmlformats.org/officeDocument/2006/relationships/slide" Target="slides/slide62.xml"/><Relationship Id="rId84" Type="http://schemas.openxmlformats.org/officeDocument/2006/relationships/slide" Target="slides/slide63.xml"/><Relationship Id="rId85" Type="http://schemas.openxmlformats.org/officeDocument/2006/relationships/slide" Target="slides/slide64.xml"/><Relationship Id="rId86" Type="http://schemas.openxmlformats.org/officeDocument/2006/relationships/slide" Target="slides/slide65.xml"/><Relationship Id="rId87" Type="http://schemas.openxmlformats.org/officeDocument/2006/relationships/slide" Target="slides/slide66.xml"/><Relationship Id="rId88" Type="http://schemas.openxmlformats.org/officeDocument/2006/relationships/slide" Target="slides/slide67.xml"/><Relationship Id="rId89" Type="http://schemas.openxmlformats.org/officeDocument/2006/relationships/slide" Target="slides/slide68.xml"/><Relationship Id="rId90" Type="http://schemas.openxmlformats.org/officeDocument/2006/relationships/slide" Target="slides/slide69.xml"/><Relationship Id="rId91" Type="http://schemas.openxmlformats.org/officeDocument/2006/relationships/slide" Target="slides/slide70.xml"/><Relationship Id="rId92" Type="http://schemas.openxmlformats.org/officeDocument/2006/relationships/slide" Target="slides/slide71.xml"/><Relationship Id="rId93" Type="http://schemas.openxmlformats.org/officeDocument/2006/relationships/slide" Target="slides/slide72.xml"/><Relationship Id="rId94" Type="http://schemas.openxmlformats.org/officeDocument/2006/relationships/slide" Target="slides/slide7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2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4.png"/><Relationship Id="rId4" Type="http://schemas.openxmlformats.org/officeDocument/2006/relationships/image" Target="../media/image24.png"/><Relationship Id="rId5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21.png"/><Relationship Id="rId4" Type="http://schemas.openxmlformats.org/officeDocument/2006/relationships/image" Target="../media/image10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5" Type="http://schemas.openxmlformats.org/officeDocument/2006/relationships/image" Target="../media/image1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0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2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2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2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2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2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2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2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2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2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2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38.png"/><Relationship Id="rId4" Type="http://schemas.openxmlformats.org/officeDocument/2006/relationships/image" Target="../media/image50.png"/><Relationship Id="rId5" Type="http://schemas.openxmlformats.org/officeDocument/2006/relationships/image" Target="../media/image2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2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20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 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6250" y="329872"/>
            <a:ext cx="2204799" cy="510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5824" y="1700328"/>
            <a:ext cx="3224379" cy="299867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>
            <a:off x="0" y="1079418"/>
            <a:ext cx="6645052" cy="3063956"/>
          </a:xfrm>
          <a:custGeom>
            <a:rect b="b" l="l" r="r" t="t"/>
            <a:pathLst>
              <a:path extrusionOk="0" h="4085275" w="8860069">
                <a:moveTo>
                  <a:pt x="0" y="0"/>
                </a:moveTo>
                <a:lnTo>
                  <a:pt x="8751265" y="0"/>
                </a:lnTo>
                <a:lnTo>
                  <a:pt x="8750443" y="1950"/>
                </a:lnTo>
                <a:lnTo>
                  <a:pt x="8860069" y="293257"/>
                </a:lnTo>
                <a:cubicBezTo>
                  <a:pt x="8787909" y="348377"/>
                  <a:pt x="8716365" y="424643"/>
                  <a:pt x="8645437" y="521745"/>
                </a:cubicBezTo>
                <a:cubicBezTo>
                  <a:pt x="8573277" y="617718"/>
                  <a:pt x="8507583" y="736479"/>
                  <a:pt x="8448562" y="878334"/>
                </a:cubicBezTo>
                <a:cubicBezTo>
                  <a:pt x="8388207" y="1018958"/>
                  <a:pt x="8340271" y="1183703"/>
                  <a:pt x="8304858" y="1372776"/>
                </a:cubicBezTo>
                <a:cubicBezTo>
                  <a:pt x="8269446" y="1561848"/>
                  <a:pt x="8251688" y="1776581"/>
                  <a:pt x="8251688" y="2016874"/>
                </a:cubicBezTo>
                <a:lnTo>
                  <a:pt x="8251688" y="2068094"/>
                </a:lnTo>
                <a:cubicBezTo>
                  <a:pt x="8251688" y="2308386"/>
                  <a:pt x="8269446" y="2523119"/>
                  <a:pt x="8304858" y="2712192"/>
                </a:cubicBezTo>
                <a:cubicBezTo>
                  <a:pt x="8338937" y="2901264"/>
                  <a:pt x="8385641" y="3066112"/>
                  <a:pt x="8444662" y="3206633"/>
                </a:cubicBezTo>
                <a:cubicBezTo>
                  <a:pt x="8503684" y="3348489"/>
                  <a:pt x="8569376" y="3468070"/>
                  <a:pt x="8641537" y="3565172"/>
                </a:cubicBezTo>
                <a:lnTo>
                  <a:pt x="8641434" y="3565275"/>
                </a:lnTo>
                <a:cubicBezTo>
                  <a:pt x="8712259" y="3662480"/>
                  <a:pt x="8785138" y="3738643"/>
                  <a:pt x="8859966" y="3793763"/>
                </a:cubicBezTo>
                <a:lnTo>
                  <a:pt x="8750443" y="4083325"/>
                </a:lnTo>
                <a:lnTo>
                  <a:pt x="8751265" y="4085275"/>
                </a:lnTo>
                <a:lnTo>
                  <a:pt x="0" y="408527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556249" y="1325594"/>
            <a:ext cx="5501651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b="0" i="0" sz="3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556249" y="3233572"/>
            <a:ext cx="5501651" cy="9098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34275" wrap="square" tIns="34275">
            <a:noAutofit/>
          </a:bodyPr>
          <a:lstStyle>
            <a:lvl1pPr lvl="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ctr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ctr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ctr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ctr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59" name="Google Shape;5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90632" y="1255830"/>
            <a:ext cx="697120" cy="690149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>
            <p:ph idx="2" type="body"/>
          </p:nvPr>
        </p:nvSpPr>
        <p:spPr>
          <a:xfrm>
            <a:off x="542731" y="4382570"/>
            <a:ext cx="2448848" cy="29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1" name="Google Shape;61;p14"/>
          <p:cNvSpPr txBox="1"/>
          <p:nvPr/>
        </p:nvSpPr>
        <p:spPr>
          <a:xfrm>
            <a:off x="236762" y="4805319"/>
            <a:ext cx="42864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Confidential and Proprietary. Do not distribute without Couchbase consent. © Couchbase 202</a:t>
            </a:r>
            <a:r>
              <a:rPr lang="en" sz="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All rights reserved. </a:t>
            </a:r>
            <a:endParaRPr b="0" i="0" sz="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2450" y="3700539"/>
            <a:ext cx="5334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 rotWithShape="1">
          <a:blip r:embed="rId6">
            <a:alphaModFix/>
          </a:blip>
          <a:srcRect b="28161" l="0" r="0" t="0"/>
          <a:stretch/>
        </p:blipFill>
        <p:spPr>
          <a:xfrm>
            <a:off x="4853299" y="2942369"/>
            <a:ext cx="919187" cy="2201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1_Title Slide 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35824" y="1700328"/>
            <a:ext cx="3224379" cy="29986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/>
          <p:nvPr/>
        </p:nvSpPr>
        <p:spPr>
          <a:xfrm>
            <a:off x="0" y="1079418"/>
            <a:ext cx="6645052" cy="3063956"/>
          </a:xfrm>
          <a:custGeom>
            <a:rect b="b" l="l" r="r" t="t"/>
            <a:pathLst>
              <a:path extrusionOk="0" h="4085275" w="8860069">
                <a:moveTo>
                  <a:pt x="0" y="0"/>
                </a:moveTo>
                <a:lnTo>
                  <a:pt x="8751265" y="0"/>
                </a:lnTo>
                <a:lnTo>
                  <a:pt x="8750443" y="1950"/>
                </a:lnTo>
                <a:lnTo>
                  <a:pt x="8860069" y="293257"/>
                </a:lnTo>
                <a:cubicBezTo>
                  <a:pt x="8787909" y="348377"/>
                  <a:pt x="8716365" y="424643"/>
                  <a:pt x="8645437" y="521745"/>
                </a:cubicBezTo>
                <a:cubicBezTo>
                  <a:pt x="8573277" y="617718"/>
                  <a:pt x="8507583" y="736479"/>
                  <a:pt x="8448562" y="878334"/>
                </a:cubicBezTo>
                <a:cubicBezTo>
                  <a:pt x="8388207" y="1018958"/>
                  <a:pt x="8340271" y="1183703"/>
                  <a:pt x="8304858" y="1372776"/>
                </a:cubicBezTo>
                <a:cubicBezTo>
                  <a:pt x="8269446" y="1561848"/>
                  <a:pt x="8251688" y="1776581"/>
                  <a:pt x="8251688" y="2016874"/>
                </a:cubicBezTo>
                <a:lnTo>
                  <a:pt x="8251688" y="2068094"/>
                </a:lnTo>
                <a:cubicBezTo>
                  <a:pt x="8251688" y="2308386"/>
                  <a:pt x="8269446" y="2523119"/>
                  <a:pt x="8304858" y="2712192"/>
                </a:cubicBezTo>
                <a:cubicBezTo>
                  <a:pt x="8338937" y="2901264"/>
                  <a:pt x="8385641" y="3066112"/>
                  <a:pt x="8444662" y="3206633"/>
                </a:cubicBezTo>
                <a:cubicBezTo>
                  <a:pt x="8503684" y="3348489"/>
                  <a:pt x="8569376" y="3468070"/>
                  <a:pt x="8641537" y="3565172"/>
                </a:cubicBezTo>
                <a:lnTo>
                  <a:pt x="8641434" y="3565275"/>
                </a:lnTo>
                <a:cubicBezTo>
                  <a:pt x="8712259" y="3662480"/>
                  <a:pt x="8785138" y="3738643"/>
                  <a:pt x="8859966" y="3793763"/>
                </a:cubicBezTo>
                <a:lnTo>
                  <a:pt x="8750443" y="4083325"/>
                </a:lnTo>
                <a:lnTo>
                  <a:pt x="8751265" y="4085275"/>
                </a:lnTo>
                <a:lnTo>
                  <a:pt x="0" y="408527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" name="Google Shape;67;p15"/>
          <p:cNvSpPr txBox="1"/>
          <p:nvPr>
            <p:ph type="ctrTitle"/>
          </p:nvPr>
        </p:nvSpPr>
        <p:spPr>
          <a:xfrm>
            <a:off x="556249" y="1325594"/>
            <a:ext cx="5501651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b="0" i="0" sz="3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556249" y="3233572"/>
            <a:ext cx="5501651" cy="9098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34275" wrap="square" tIns="34275">
            <a:noAutofit/>
          </a:bodyPr>
          <a:lstStyle>
            <a:lvl1pPr lvl="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ctr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ctr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ctr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ctr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3169" y="1251165"/>
            <a:ext cx="697120" cy="690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 rotWithShape="1">
          <a:blip r:embed="rId4">
            <a:alphaModFix/>
          </a:blip>
          <a:srcRect b="0" l="0" r="0" t="22455"/>
          <a:stretch/>
        </p:blipFill>
        <p:spPr>
          <a:xfrm>
            <a:off x="4143374" y="0"/>
            <a:ext cx="557213" cy="1578767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>
            <p:ph idx="2" type="body"/>
          </p:nvPr>
        </p:nvSpPr>
        <p:spPr>
          <a:xfrm>
            <a:off x="542731" y="4382570"/>
            <a:ext cx="2448848" cy="29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2" name="Google Shape;72;p15"/>
          <p:cNvSpPr txBox="1"/>
          <p:nvPr/>
        </p:nvSpPr>
        <p:spPr>
          <a:xfrm>
            <a:off x="236762" y="4805319"/>
            <a:ext cx="42864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Confidential and Proprietary. Do not distribute without Couchbase consent. © Couchbase 202</a:t>
            </a:r>
            <a:r>
              <a:rPr lang="en" sz="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All rights reserved. </a:t>
            </a:r>
            <a:endParaRPr b="0" i="0" sz="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6250" y="329872"/>
            <a:ext cx="2204799" cy="510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 Slide 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/>
          <p:nvPr/>
        </p:nvSpPr>
        <p:spPr>
          <a:xfrm>
            <a:off x="4872378" y="0"/>
            <a:ext cx="4271622" cy="5143500"/>
          </a:xfrm>
          <a:custGeom>
            <a:rect b="b" l="l" r="r" t="t"/>
            <a:pathLst>
              <a:path extrusionOk="0" h="6858000" w="5695496">
                <a:moveTo>
                  <a:pt x="2275084" y="0"/>
                </a:moveTo>
                <a:lnTo>
                  <a:pt x="5695496" y="0"/>
                </a:lnTo>
                <a:lnTo>
                  <a:pt x="569549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" name="Google Shape;76;p16"/>
          <p:cNvSpPr txBox="1"/>
          <p:nvPr>
            <p:ph type="ctrTitle"/>
          </p:nvPr>
        </p:nvSpPr>
        <p:spPr>
          <a:xfrm>
            <a:off x="556249" y="3040379"/>
            <a:ext cx="5501651" cy="92613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sz="3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" type="subTitle"/>
          </p:nvPr>
        </p:nvSpPr>
        <p:spPr>
          <a:xfrm>
            <a:off x="556249" y="4089055"/>
            <a:ext cx="3608042" cy="2731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34275" wrap="square" tIns="34275">
            <a:noAutofit/>
          </a:bodyPr>
          <a:lstStyle>
            <a:lvl1pPr lvl="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ctr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ctr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ctr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ctr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78" name="Google Shape;7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1350" y="2868216"/>
            <a:ext cx="497983" cy="526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18024" l="0" r="0" t="0"/>
          <a:stretch/>
        </p:blipFill>
        <p:spPr>
          <a:xfrm>
            <a:off x="7530765" y="3283805"/>
            <a:ext cx="687043" cy="185969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>
            <p:ph idx="2" type="body"/>
          </p:nvPr>
        </p:nvSpPr>
        <p:spPr>
          <a:xfrm>
            <a:off x="542731" y="2759510"/>
            <a:ext cx="2448848" cy="29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81" name="Google Shape;81;p16"/>
          <p:cNvPicPr preferRelativeResize="0"/>
          <p:nvPr/>
        </p:nvPicPr>
        <p:blipFill rotWithShape="1">
          <a:blip r:embed="rId4">
            <a:alphaModFix/>
          </a:blip>
          <a:srcRect b="21495" l="0" r="0" t="0"/>
          <a:stretch/>
        </p:blipFill>
        <p:spPr>
          <a:xfrm>
            <a:off x="4845844" y="-1"/>
            <a:ext cx="3614738" cy="234417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/>
          <p:nvPr/>
        </p:nvSpPr>
        <p:spPr>
          <a:xfrm>
            <a:off x="5064403" y="3819"/>
            <a:ext cx="1193921" cy="2336535"/>
          </a:xfrm>
          <a:custGeom>
            <a:rect b="b" l="l" r="r" t="t"/>
            <a:pathLst>
              <a:path extrusionOk="0" h="3115380" w="1591894">
                <a:moveTo>
                  <a:pt x="1052922" y="0"/>
                </a:moveTo>
                <a:lnTo>
                  <a:pt x="1591894" y="0"/>
                </a:lnTo>
                <a:lnTo>
                  <a:pt x="538972" y="3115380"/>
                </a:lnTo>
                <a:lnTo>
                  <a:pt x="0" y="311538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5600526" y="3819"/>
            <a:ext cx="1193928" cy="2336536"/>
          </a:xfrm>
          <a:custGeom>
            <a:rect b="b" l="l" r="r" t="t"/>
            <a:pathLst>
              <a:path extrusionOk="0" h="3115381" w="1591904">
                <a:moveTo>
                  <a:pt x="1052878" y="0"/>
                </a:moveTo>
                <a:lnTo>
                  <a:pt x="1591904" y="0"/>
                </a:lnTo>
                <a:lnTo>
                  <a:pt x="538982" y="3115381"/>
                </a:lnTo>
                <a:lnTo>
                  <a:pt x="0" y="31153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6137587" y="0"/>
            <a:ext cx="1756669" cy="2340355"/>
          </a:xfrm>
          <a:custGeom>
            <a:rect b="b" l="l" r="r" t="t"/>
            <a:pathLst>
              <a:path extrusionOk="0" h="3120473" w="2342226">
                <a:moveTo>
                  <a:pt x="1054599" y="0"/>
                </a:moveTo>
                <a:lnTo>
                  <a:pt x="2342226" y="0"/>
                </a:lnTo>
                <a:lnTo>
                  <a:pt x="1287561" y="3120473"/>
                </a:lnTo>
                <a:lnTo>
                  <a:pt x="0" y="312047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7265621" y="3818"/>
            <a:ext cx="1195160" cy="2340354"/>
          </a:xfrm>
          <a:custGeom>
            <a:rect b="b" l="l" r="r" t="t"/>
            <a:pathLst>
              <a:path extrusionOk="0" h="3120472" w="1593547">
                <a:moveTo>
                  <a:pt x="1054605" y="0"/>
                </a:moveTo>
                <a:lnTo>
                  <a:pt x="1593547" y="0"/>
                </a:lnTo>
                <a:lnTo>
                  <a:pt x="539000" y="3120472"/>
                </a:lnTo>
                <a:lnTo>
                  <a:pt x="0" y="312047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236762" y="4805319"/>
            <a:ext cx="42864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Confidential and Proprietary. Do not distribute without Couchbase consent. © Couchbase 202</a:t>
            </a:r>
            <a:r>
              <a:rPr lang="en" sz="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All rights reserved. </a:t>
            </a:r>
            <a:endParaRPr b="0" i="0" sz="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8859739" y="4766977"/>
            <a:ext cx="264616" cy="207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600" u="none" cap="none" strike="noStrike">
              <a:solidFill>
                <a:srgbClr val="A5A5A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6250" y="329872"/>
            <a:ext cx="2204799" cy="510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 1">
  <p:cSld name="Agenda Slide 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/>
        </p:nvSpPr>
        <p:spPr>
          <a:xfrm>
            <a:off x="292504" y="0"/>
            <a:ext cx="8854936" cy="5149031"/>
          </a:xfrm>
          <a:custGeom>
            <a:rect b="b" l="l" r="r" t="t"/>
            <a:pathLst>
              <a:path extrusionOk="0" h="6895067" w="11857646">
                <a:moveTo>
                  <a:pt x="1803451" y="0"/>
                </a:moveTo>
                <a:lnTo>
                  <a:pt x="11835355" y="7263"/>
                </a:lnTo>
                <a:cubicBezTo>
                  <a:pt x="11832857" y="2295761"/>
                  <a:pt x="11859982" y="4599161"/>
                  <a:pt x="11857484" y="6887659"/>
                </a:cubicBezTo>
                <a:lnTo>
                  <a:pt x="0" y="6895067"/>
                </a:lnTo>
                <a:lnTo>
                  <a:pt x="180345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5280728" y="1182961"/>
            <a:ext cx="2420580" cy="3112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2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8575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Open Sans"/>
              <a:buChar char="–"/>
              <a:defRPr b="0" i="0" sz="900" u="none" cap="none" strike="noStrik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92" name="Google Shape;92;p17"/>
          <p:cNvSpPr/>
          <p:nvPr/>
        </p:nvSpPr>
        <p:spPr>
          <a:xfrm>
            <a:off x="8859739" y="4766977"/>
            <a:ext cx="264616" cy="207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600" u="none" cap="none" strike="noStrike">
              <a:solidFill>
                <a:srgbClr val="A5A5A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 rotWithShape="1">
          <a:blip r:embed="rId2">
            <a:alphaModFix/>
          </a:blip>
          <a:srcRect b="0" l="0" r="76885" t="0"/>
          <a:stretch/>
        </p:blipFill>
        <p:spPr>
          <a:xfrm>
            <a:off x="8611316" y="4747501"/>
            <a:ext cx="251817" cy="24834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>
            <p:ph type="title"/>
          </p:nvPr>
        </p:nvSpPr>
        <p:spPr>
          <a:xfrm>
            <a:off x="1712984" y="1182961"/>
            <a:ext cx="3443964" cy="639116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 2">
  <p:cSld name="Agenda Slide 2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/>
          <p:nvPr/>
        </p:nvSpPr>
        <p:spPr>
          <a:xfrm rot="10800000">
            <a:off x="-1377672" y="0"/>
            <a:ext cx="4684775" cy="5143500"/>
          </a:xfrm>
          <a:custGeom>
            <a:rect b="b" l="l" r="r" t="t"/>
            <a:pathLst>
              <a:path extrusionOk="0" h="6887661" w="6273382">
                <a:moveTo>
                  <a:pt x="2277440" y="0"/>
                </a:moveTo>
                <a:lnTo>
                  <a:pt x="6273382" y="14670"/>
                </a:lnTo>
                <a:cubicBezTo>
                  <a:pt x="6270884" y="2303168"/>
                  <a:pt x="6268385" y="4599161"/>
                  <a:pt x="6265887" y="6887659"/>
                </a:cubicBezTo>
                <a:lnTo>
                  <a:pt x="0" y="6887661"/>
                </a:lnTo>
                <a:lnTo>
                  <a:pt x="227744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8"/>
          <p:cNvSpPr txBox="1"/>
          <p:nvPr>
            <p:ph type="title"/>
          </p:nvPr>
        </p:nvSpPr>
        <p:spPr>
          <a:xfrm>
            <a:off x="553292" y="633889"/>
            <a:ext cx="1544113" cy="99417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4572000" y="1181174"/>
            <a:ext cx="2420580" cy="3112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8575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Open Sans"/>
              <a:buChar char="–"/>
              <a:defRPr b="0" i="0" sz="900" u="none" cap="none" strike="noStrike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99" name="Google Shape;99;p18"/>
          <p:cNvSpPr/>
          <p:nvPr/>
        </p:nvSpPr>
        <p:spPr>
          <a:xfrm>
            <a:off x="8859739" y="4766977"/>
            <a:ext cx="264616" cy="207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600" u="none" cap="none" strike="noStrike">
              <a:solidFill>
                <a:srgbClr val="A5A5A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0" name="Google Shape;100;p18"/>
          <p:cNvPicPr preferRelativeResize="0"/>
          <p:nvPr/>
        </p:nvPicPr>
        <p:blipFill rotWithShape="1">
          <a:blip r:embed="rId2">
            <a:alphaModFix/>
          </a:blip>
          <a:srcRect b="0" l="0" r="76885" t="0"/>
          <a:stretch/>
        </p:blipFill>
        <p:spPr>
          <a:xfrm>
            <a:off x="8611316" y="4747501"/>
            <a:ext cx="251817" cy="248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 2" type="secHead">
  <p:cSld name="SECTION_HEADER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/>
          <p:nvPr/>
        </p:nvSpPr>
        <p:spPr>
          <a:xfrm>
            <a:off x="4522509" y="0"/>
            <a:ext cx="4621492" cy="5143500"/>
          </a:xfrm>
          <a:custGeom>
            <a:rect b="b" l="l" r="r" t="t"/>
            <a:pathLst>
              <a:path extrusionOk="0" h="6858000" w="6161989">
                <a:moveTo>
                  <a:pt x="2311030" y="1723"/>
                </a:moveTo>
                <a:lnTo>
                  <a:pt x="3237197" y="1723"/>
                </a:lnTo>
                <a:lnTo>
                  <a:pt x="926170" y="6858000"/>
                </a:lnTo>
                <a:lnTo>
                  <a:pt x="0" y="6858000"/>
                </a:lnTo>
                <a:close/>
                <a:moveTo>
                  <a:pt x="3923166" y="0"/>
                </a:moveTo>
                <a:lnTo>
                  <a:pt x="6161989" y="0"/>
                </a:lnTo>
                <a:lnTo>
                  <a:pt x="6161989" y="6856105"/>
                </a:lnTo>
                <a:lnTo>
                  <a:pt x="1743783" y="685610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" name="Google Shape;103;p19"/>
          <p:cNvSpPr txBox="1"/>
          <p:nvPr>
            <p:ph type="title"/>
          </p:nvPr>
        </p:nvSpPr>
        <p:spPr>
          <a:xfrm>
            <a:off x="570976" y="1458257"/>
            <a:ext cx="3791277" cy="9660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sz="3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570976" y="2571750"/>
            <a:ext cx="3628665" cy="4040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Open Sans"/>
              <a:buNone/>
              <a:defRPr b="0" i="0" sz="14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105" name="Google Shape;10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76348" y="3300832"/>
            <a:ext cx="288231" cy="32164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/>
          <p:nvPr/>
        </p:nvSpPr>
        <p:spPr>
          <a:xfrm>
            <a:off x="4970353" y="0"/>
            <a:ext cx="3252535" cy="3113907"/>
          </a:xfrm>
          <a:custGeom>
            <a:rect b="b" l="l" r="r" t="t"/>
            <a:pathLst>
              <a:path extrusionOk="0" h="2992134" w="3125341">
                <a:moveTo>
                  <a:pt x="2097435" y="937566"/>
                </a:moveTo>
                <a:lnTo>
                  <a:pt x="2590576" y="937566"/>
                </a:lnTo>
                <a:lnTo>
                  <a:pt x="2590576" y="1472330"/>
                </a:lnTo>
                <a:lnTo>
                  <a:pt x="3125341" y="1472330"/>
                </a:lnTo>
                <a:lnTo>
                  <a:pt x="3125341" y="1965471"/>
                </a:lnTo>
                <a:lnTo>
                  <a:pt x="2590576" y="1965471"/>
                </a:lnTo>
                <a:lnTo>
                  <a:pt x="2590576" y="2500235"/>
                </a:lnTo>
                <a:lnTo>
                  <a:pt x="2097435" y="2500235"/>
                </a:lnTo>
                <a:lnTo>
                  <a:pt x="2097435" y="1965471"/>
                </a:lnTo>
                <a:lnTo>
                  <a:pt x="1562670" y="1965471"/>
                </a:lnTo>
                <a:lnTo>
                  <a:pt x="1562670" y="2457370"/>
                </a:lnTo>
                <a:lnTo>
                  <a:pt x="1027906" y="2457370"/>
                </a:lnTo>
                <a:lnTo>
                  <a:pt x="1027906" y="2992134"/>
                </a:lnTo>
                <a:lnTo>
                  <a:pt x="534765" y="2992134"/>
                </a:lnTo>
                <a:lnTo>
                  <a:pt x="534765" y="2457370"/>
                </a:lnTo>
                <a:lnTo>
                  <a:pt x="0" y="2457370"/>
                </a:lnTo>
                <a:lnTo>
                  <a:pt x="0" y="1964229"/>
                </a:lnTo>
                <a:lnTo>
                  <a:pt x="534765" y="1964229"/>
                </a:lnTo>
                <a:lnTo>
                  <a:pt x="534765" y="1429464"/>
                </a:lnTo>
                <a:lnTo>
                  <a:pt x="1027906" y="1429464"/>
                </a:lnTo>
                <a:lnTo>
                  <a:pt x="1027906" y="1964229"/>
                </a:lnTo>
                <a:lnTo>
                  <a:pt x="1562670" y="1964229"/>
                </a:lnTo>
                <a:lnTo>
                  <a:pt x="1562670" y="1472330"/>
                </a:lnTo>
                <a:lnTo>
                  <a:pt x="2097435" y="1472330"/>
                </a:lnTo>
                <a:close/>
                <a:moveTo>
                  <a:pt x="534765" y="0"/>
                </a:moveTo>
                <a:lnTo>
                  <a:pt x="1027906" y="0"/>
                </a:lnTo>
                <a:lnTo>
                  <a:pt x="1027906" y="291475"/>
                </a:lnTo>
                <a:lnTo>
                  <a:pt x="1562670" y="291475"/>
                </a:lnTo>
                <a:lnTo>
                  <a:pt x="1562670" y="0"/>
                </a:lnTo>
                <a:lnTo>
                  <a:pt x="3125341" y="0"/>
                </a:lnTo>
                <a:lnTo>
                  <a:pt x="3125341" y="292718"/>
                </a:lnTo>
                <a:lnTo>
                  <a:pt x="2590576" y="292718"/>
                </a:lnTo>
                <a:lnTo>
                  <a:pt x="2590576" y="827482"/>
                </a:lnTo>
                <a:lnTo>
                  <a:pt x="2097435" y="827482"/>
                </a:lnTo>
                <a:lnTo>
                  <a:pt x="2097435" y="292718"/>
                </a:lnTo>
                <a:lnTo>
                  <a:pt x="1562670" y="292718"/>
                </a:lnTo>
                <a:lnTo>
                  <a:pt x="1562670" y="784616"/>
                </a:lnTo>
                <a:lnTo>
                  <a:pt x="1027906" y="784616"/>
                </a:lnTo>
                <a:lnTo>
                  <a:pt x="1027906" y="1319380"/>
                </a:lnTo>
                <a:lnTo>
                  <a:pt x="534765" y="1319380"/>
                </a:lnTo>
                <a:lnTo>
                  <a:pt x="534765" y="784616"/>
                </a:lnTo>
                <a:lnTo>
                  <a:pt x="0" y="784616"/>
                </a:lnTo>
                <a:lnTo>
                  <a:pt x="0" y="291475"/>
                </a:lnTo>
                <a:lnTo>
                  <a:pt x="534765" y="29147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8859739" y="4766977"/>
            <a:ext cx="264616" cy="207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600" u="none" cap="none" strike="noStrike">
              <a:solidFill>
                <a:srgbClr val="A5A5A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 rotWithShape="1">
          <a:blip r:embed="rId3">
            <a:alphaModFix/>
          </a:blip>
          <a:srcRect b="0" l="0" r="76885" t="0"/>
          <a:stretch/>
        </p:blipFill>
        <p:spPr>
          <a:xfrm>
            <a:off x="8611316" y="4747501"/>
            <a:ext cx="251817" cy="248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 rotWithShape="1">
          <a:blip r:embed="rId4">
            <a:alphaModFix/>
          </a:blip>
          <a:srcRect b="22298" l="0" r="0" t="0"/>
          <a:stretch/>
        </p:blipFill>
        <p:spPr>
          <a:xfrm>
            <a:off x="1004148" y="3461657"/>
            <a:ext cx="649332" cy="1681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 1">
  <p:cSld name="1_Divider Slide 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0"/>
          <p:cNvPicPr preferRelativeResize="0"/>
          <p:nvPr/>
        </p:nvPicPr>
        <p:blipFill rotWithShape="1">
          <a:blip r:embed="rId2">
            <a:alphaModFix/>
          </a:blip>
          <a:srcRect b="22607" l="0" r="0" t="0"/>
          <a:stretch/>
        </p:blipFill>
        <p:spPr>
          <a:xfrm>
            <a:off x="2046850" y="3413300"/>
            <a:ext cx="1315025" cy="175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/>
          <p:nvPr/>
        </p:nvSpPr>
        <p:spPr>
          <a:xfrm>
            <a:off x="4455610" y="-1238"/>
            <a:ext cx="4695905" cy="5144739"/>
          </a:xfrm>
          <a:custGeom>
            <a:rect b="b" l="l" r="r" t="t"/>
            <a:pathLst>
              <a:path extrusionOk="0" h="6872991" w="6273382">
                <a:moveTo>
                  <a:pt x="1841517" y="7496"/>
                </a:moveTo>
                <a:lnTo>
                  <a:pt x="6273382" y="0"/>
                </a:lnTo>
                <a:cubicBezTo>
                  <a:pt x="6270884" y="2288498"/>
                  <a:pt x="6268385" y="4584491"/>
                  <a:pt x="6265887" y="6872989"/>
                </a:cubicBezTo>
                <a:lnTo>
                  <a:pt x="0" y="6872991"/>
                </a:lnTo>
                <a:lnTo>
                  <a:pt x="1841517" y="749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20"/>
          <p:cNvPicPr preferRelativeResize="0"/>
          <p:nvPr/>
        </p:nvPicPr>
        <p:blipFill rotWithShape="1">
          <a:blip r:embed="rId3">
            <a:alphaModFix/>
          </a:blip>
          <a:srcRect b="0" l="0" r="0" t="10080"/>
          <a:stretch/>
        </p:blipFill>
        <p:spPr>
          <a:xfrm>
            <a:off x="4746775" y="-1250"/>
            <a:ext cx="4115300" cy="364022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/>
          <p:nvPr/>
        </p:nvSpPr>
        <p:spPr>
          <a:xfrm>
            <a:off x="8859739" y="4766977"/>
            <a:ext cx="264616" cy="207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600" u="none" cap="none" strike="noStrike">
              <a:solidFill>
                <a:srgbClr val="A5A5A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5" name="Google Shape;115;p20"/>
          <p:cNvPicPr preferRelativeResize="0"/>
          <p:nvPr/>
        </p:nvPicPr>
        <p:blipFill rotWithShape="1">
          <a:blip r:embed="rId4">
            <a:alphaModFix/>
          </a:blip>
          <a:srcRect b="0" l="0" r="76885" t="0"/>
          <a:stretch/>
        </p:blipFill>
        <p:spPr>
          <a:xfrm>
            <a:off x="8611316" y="4747501"/>
            <a:ext cx="251817" cy="248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35663" y="3775330"/>
            <a:ext cx="411179" cy="44054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 txBox="1"/>
          <p:nvPr>
            <p:ph type="title"/>
          </p:nvPr>
        </p:nvSpPr>
        <p:spPr>
          <a:xfrm>
            <a:off x="570976" y="1458257"/>
            <a:ext cx="3791277" cy="9660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sz="3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570976" y="2571750"/>
            <a:ext cx="3628665" cy="4040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Open Sans"/>
              <a:buNone/>
              <a:defRPr b="0" i="0" sz="14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 3">
  <p:cSld name="Divider Slide 3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/>
          <p:nvPr/>
        </p:nvSpPr>
        <p:spPr>
          <a:xfrm>
            <a:off x="4522509" y="0"/>
            <a:ext cx="4621492" cy="5143500"/>
          </a:xfrm>
          <a:custGeom>
            <a:rect b="b" l="l" r="r" t="t"/>
            <a:pathLst>
              <a:path extrusionOk="0" h="6858000" w="6161989">
                <a:moveTo>
                  <a:pt x="2311030" y="1723"/>
                </a:moveTo>
                <a:lnTo>
                  <a:pt x="3237197" y="1723"/>
                </a:lnTo>
                <a:lnTo>
                  <a:pt x="926170" y="6858000"/>
                </a:lnTo>
                <a:lnTo>
                  <a:pt x="0" y="6858000"/>
                </a:lnTo>
                <a:close/>
                <a:moveTo>
                  <a:pt x="3923166" y="0"/>
                </a:moveTo>
                <a:lnTo>
                  <a:pt x="6161989" y="0"/>
                </a:lnTo>
                <a:lnTo>
                  <a:pt x="6161989" y="6856105"/>
                </a:lnTo>
                <a:lnTo>
                  <a:pt x="1743783" y="685610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1" name="Google Shape;12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61457" y="3307526"/>
            <a:ext cx="443763" cy="495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 rotWithShape="1">
          <a:blip r:embed="rId3">
            <a:alphaModFix/>
          </a:blip>
          <a:srcRect b="30989" l="0" r="0" t="0"/>
          <a:stretch/>
        </p:blipFill>
        <p:spPr>
          <a:xfrm>
            <a:off x="2578432" y="3838634"/>
            <a:ext cx="398744" cy="1304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 rotWithShape="1">
          <a:blip r:embed="rId4">
            <a:alphaModFix/>
          </a:blip>
          <a:srcRect b="0" l="0" r="18482" t="11111"/>
          <a:stretch/>
        </p:blipFill>
        <p:spPr>
          <a:xfrm>
            <a:off x="5130795" y="1"/>
            <a:ext cx="4013205" cy="215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/>
          <p:nvPr/>
        </p:nvSpPr>
        <p:spPr>
          <a:xfrm>
            <a:off x="8859739" y="4766977"/>
            <a:ext cx="264616" cy="207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600" u="none" cap="none" strike="noStrike">
              <a:solidFill>
                <a:srgbClr val="A5A5A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" name="Google Shape;125;p21"/>
          <p:cNvSpPr txBox="1"/>
          <p:nvPr>
            <p:ph type="title"/>
          </p:nvPr>
        </p:nvSpPr>
        <p:spPr>
          <a:xfrm>
            <a:off x="570976" y="1458257"/>
            <a:ext cx="3791277" cy="9660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sz="3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570976" y="2571750"/>
            <a:ext cx="3628665" cy="4040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Open Sans"/>
              <a:buNone/>
              <a:defRPr b="0" i="0" sz="14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 1">
  <p:cSld name="1_Agenda Slide 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8859739" y="4766977"/>
            <a:ext cx="264616" cy="207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600" u="none" cap="none" strike="noStrike">
              <a:solidFill>
                <a:srgbClr val="A5A5A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0" name="Google Shape;130;p22"/>
          <p:cNvPicPr preferRelativeResize="0"/>
          <p:nvPr/>
        </p:nvPicPr>
        <p:blipFill rotWithShape="1">
          <a:blip r:embed="rId2">
            <a:alphaModFix/>
          </a:blip>
          <a:srcRect b="0" l="0" r="76885" t="0"/>
          <a:stretch/>
        </p:blipFill>
        <p:spPr>
          <a:xfrm>
            <a:off x="8611316" y="4747501"/>
            <a:ext cx="251817" cy="24834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2"/>
          <p:cNvSpPr txBox="1"/>
          <p:nvPr>
            <p:ph type="title"/>
          </p:nvPr>
        </p:nvSpPr>
        <p:spPr>
          <a:xfrm>
            <a:off x="1709057" y="1740374"/>
            <a:ext cx="5725885" cy="9660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342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sz="27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 2">
  <p:cSld name="1_Divider Slide 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3"/>
          <p:cNvSpPr/>
          <p:nvPr/>
        </p:nvSpPr>
        <p:spPr>
          <a:xfrm>
            <a:off x="4474564" y="0"/>
            <a:ext cx="2422785" cy="5149122"/>
          </a:xfrm>
          <a:custGeom>
            <a:rect b="b" l="l" r="r" t="t"/>
            <a:pathLst>
              <a:path extrusionOk="0" h="6865496" w="3230380">
                <a:moveTo>
                  <a:pt x="2300991" y="1"/>
                </a:moveTo>
                <a:lnTo>
                  <a:pt x="3230380" y="0"/>
                </a:lnTo>
                <a:lnTo>
                  <a:pt x="929390" y="6865494"/>
                </a:lnTo>
                <a:lnTo>
                  <a:pt x="0" y="6865496"/>
                </a:lnTo>
                <a:lnTo>
                  <a:pt x="230099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3"/>
          <p:cNvSpPr/>
          <p:nvPr/>
        </p:nvSpPr>
        <p:spPr>
          <a:xfrm>
            <a:off x="5773087" y="5622"/>
            <a:ext cx="3372786" cy="5149122"/>
          </a:xfrm>
          <a:custGeom>
            <a:rect b="b" l="l" r="r" t="t"/>
            <a:pathLst>
              <a:path extrusionOk="0" h="6865496" w="4497048">
                <a:moveTo>
                  <a:pt x="2203554" y="1"/>
                </a:moveTo>
                <a:lnTo>
                  <a:pt x="4497048" y="0"/>
                </a:lnTo>
                <a:cubicBezTo>
                  <a:pt x="4494550" y="2288498"/>
                  <a:pt x="4492051" y="4576996"/>
                  <a:pt x="4489553" y="6865494"/>
                </a:cubicBezTo>
                <a:lnTo>
                  <a:pt x="0" y="6865496"/>
                </a:lnTo>
                <a:lnTo>
                  <a:pt x="220355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23"/>
          <p:cNvPicPr preferRelativeResize="0"/>
          <p:nvPr/>
        </p:nvPicPr>
        <p:blipFill rotWithShape="1">
          <a:blip r:embed="rId2">
            <a:alphaModFix/>
          </a:blip>
          <a:srcRect b="0" l="0" r="0" t="19581"/>
          <a:stretch/>
        </p:blipFill>
        <p:spPr>
          <a:xfrm>
            <a:off x="4624838" y="1"/>
            <a:ext cx="3187763" cy="305189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3"/>
          <p:cNvSpPr/>
          <p:nvPr/>
        </p:nvSpPr>
        <p:spPr>
          <a:xfrm>
            <a:off x="8859739" y="4766977"/>
            <a:ext cx="264616" cy="207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600" u="none" cap="none" strike="noStrike">
              <a:solidFill>
                <a:srgbClr val="A5A5A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8" name="Google Shape;138;p23"/>
          <p:cNvPicPr preferRelativeResize="0"/>
          <p:nvPr/>
        </p:nvPicPr>
        <p:blipFill rotWithShape="1">
          <a:blip r:embed="rId3">
            <a:alphaModFix/>
          </a:blip>
          <a:srcRect b="0" l="0" r="76885" t="0"/>
          <a:stretch/>
        </p:blipFill>
        <p:spPr>
          <a:xfrm>
            <a:off x="8611316" y="4747501"/>
            <a:ext cx="251817" cy="248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76348" y="3300832"/>
            <a:ext cx="288231" cy="321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/>
          <p:cNvPicPr preferRelativeResize="0"/>
          <p:nvPr/>
        </p:nvPicPr>
        <p:blipFill rotWithShape="1">
          <a:blip r:embed="rId5">
            <a:alphaModFix/>
          </a:blip>
          <a:srcRect b="22298" l="0" r="0" t="0"/>
          <a:stretch/>
        </p:blipFill>
        <p:spPr>
          <a:xfrm>
            <a:off x="1004148" y="3461657"/>
            <a:ext cx="649332" cy="1681843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3"/>
          <p:cNvSpPr txBox="1"/>
          <p:nvPr>
            <p:ph type="title"/>
          </p:nvPr>
        </p:nvSpPr>
        <p:spPr>
          <a:xfrm>
            <a:off x="570976" y="1458257"/>
            <a:ext cx="3791277" cy="9660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sz="3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570976" y="2571750"/>
            <a:ext cx="3628665" cy="4040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Open Sans"/>
              <a:buNone/>
              <a:defRPr b="0" i="0" sz="14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 2">
  <p:cSld name="1_Divider Slide 2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4"/>
          <p:cNvSpPr/>
          <p:nvPr/>
        </p:nvSpPr>
        <p:spPr>
          <a:xfrm>
            <a:off x="4455610" y="-1238"/>
            <a:ext cx="4695905" cy="5144739"/>
          </a:xfrm>
          <a:custGeom>
            <a:rect b="b" l="l" r="r" t="t"/>
            <a:pathLst>
              <a:path extrusionOk="0" h="6872991" w="6273382">
                <a:moveTo>
                  <a:pt x="2203554" y="7496"/>
                </a:moveTo>
                <a:lnTo>
                  <a:pt x="6273382" y="0"/>
                </a:lnTo>
                <a:cubicBezTo>
                  <a:pt x="6270884" y="2288498"/>
                  <a:pt x="6268385" y="4584491"/>
                  <a:pt x="6265887" y="6872989"/>
                </a:cubicBezTo>
                <a:lnTo>
                  <a:pt x="0" y="6872991"/>
                </a:lnTo>
                <a:lnTo>
                  <a:pt x="2203554" y="749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24"/>
          <p:cNvPicPr preferRelativeResize="0"/>
          <p:nvPr/>
        </p:nvPicPr>
        <p:blipFill rotWithShape="1">
          <a:blip r:embed="rId2">
            <a:alphaModFix/>
          </a:blip>
          <a:srcRect b="0" l="0" r="0" t="9379"/>
          <a:stretch/>
        </p:blipFill>
        <p:spPr>
          <a:xfrm>
            <a:off x="4858150" y="0"/>
            <a:ext cx="4001600" cy="356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4"/>
          <p:cNvPicPr preferRelativeResize="0"/>
          <p:nvPr/>
        </p:nvPicPr>
        <p:blipFill rotWithShape="1">
          <a:blip r:embed="rId3">
            <a:alphaModFix/>
          </a:blip>
          <a:srcRect b="22607" l="0" r="0" t="0"/>
          <a:stretch/>
        </p:blipFill>
        <p:spPr>
          <a:xfrm>
            <a:off x="2046850" y="3413300"/>
            <a:ext cx="1315025" cy="175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4"/>
          <p:cNvSpPr/>
          <p:nvPr/>
        </p:nvSpPr>
        <p:spPr>
          <a:xfrm>
            <a:off x="8859739" y="4766977"/>
            <a:ext cx="264616" cy="207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600" u="none" cap="none" strike="noStrike">
              <a:solidFill>
                <a:srgbClr val="A5A5A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9" name="Google Shape;149;p24"/>
          <p:cNvPicPr preferRelativeResize="0"/>
          <p:nvPr/>
        </p:nvPicPr>
        <p:blipFill rotWithShape="1">
          <a:blip r:embed="rId4">
            <a:alphaModFix/>
          </a:blip>
          <a:srcRect b="0" l="0" r="76885" t="0"/>
          <a:stretch/>
        </p:blipFill>
        <p:spPr>
          <a:xfrm>
            <a:off x="8611316" y="4747501"/>
            <a:ext cx="251817" cy="248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35663" y="3775330"/>
            <a:ext cx="411179" cy="44054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4"/>
          <p:cNvSpPr txBox="1"/>
          <p:nvPr>
            <p:ph type="title"/>
          </p:nvPr>
        </p:nvSpPr>
        <p:spPr>
          <a:xfrm>
            <a:off x="570976" y="1458257"/>
            <a:ext cx="3791277" cy="9660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sz="3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" type="body"/>
          </p:nvPr>
        </p:nvSpPr>
        <p:spPr>
          <a:xfrm>
            <a:off x="570976" y="2571750"/>
            <a:ext cx="3628665" cy="4040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Open Sans"/>
              <a:buNone/>
              <a:defRPr b="0" i="0" sz="14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 3">
  <p:cSld name="1_Divider Slide 3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5"/>
          <p:cNvSpPr/>
          <p:nvPr/>
        </p:nvSpPr>
        <p:spPr>
          <a:xfrm>
            <a:off x="4474564" y="0"/>
            <a:ext cx="2422785" cy="5149122"/>
          </a:xfrm>
          <a:custGeom>
            <a:rect b="b" l="l" r="r" t="t"/>
            <a:pathLst>
              <a:path extrusionOk="0" h="6865496" w="3230380">
                <a:moveTo>
                  <a:pt x="2300991" y="1"/>
                </a:moveTo>
                <a:lnTo>
                  <a:pt x="3230380" y="0"/>
                </a:lnTo>
                <a:lnTo>
                  <a:pt x="929390" y="6865494"/>
                </a:lnTo>
                <a:lnTo>
                  <a:pt x="0" y="6865496"/>
                </a:lnTo>
                <a:lnTo>
                  <a:pt x="230099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5"/>
          <p:cNvSpPr/>
          <p:nvPr/>
        </p:nvSpPr>
        <p:spPr>
          <a:xfrm>
            <a:off x="5773087" y="5622"/>
            <a:ext cx="3372786" cy="5149122"/>
          </a:xfrm>
          <a:custGeom>
            <a:rect b="b" l="l" r="r" t="t"/>
            <a:pathLst>
              <a:path extrusionOk="0" h="6865496" w="4497048">
                <a:moveTo>
                  <a:pt x="2203554" y="1"/>
                </a:moveTo>
                <a:lnTo>
                  <a:pt x="4497048" y="0"/>
                </a:lnTo>
                <a:cubicBezTo>
                  <a:pt x="4494550" y="2288498"/>
                  <a:pt x="4492051" y="4576996"/>
                  <a:pt x="4489553" y="6865494"/>
                </a:cubicBezTo>
                <a:lnTo>
                  <a:pt x="0" y="6865496"/>
                </a:lnTo>
                <a:lnTo>
                  <a:pt x="220355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25"/>
          <p:cNvPicPr preferRelativeResize="0"/>
          <p:nvPr/>
        </p:nvPicPr>
        <p:blipFill rotWithShape="1">
          <a:blip r:embed="rId2">
            <a:alphaModFix/>
          </a:blip>
          <a:srcRect b="0" l="0" r="18188" t="10381"/>
          <a:stretch/>
        </p:blipFill>
        <p:spPr>
          <a:xfrm>
            <a:off x="5242544" y="0"/>
            <a:ext cx="3881811" cy="209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5"/>
          <p:cNvSpPr/>
          <p:nvPr/>
        </p:nvSpPr>
        <p:spPr>
          <a:xfrm>
            <a:off x="8859739" y="4766977"/>
            <a:ext cx="264616" cy="207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600" u="none" cap="none" strike="noStrike">
              <a:solidFill>
                <a:srgbClr val="A5A5A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9" name="Google Shape;15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1457" y="3307526"/>
            <a:ext cx="443763" cy="495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5"/>
          <p:cNvPicPr preferRelativeResize="0"/>
          <p:nvPr/>
        </p:nvPicPr>
        <p:blipFill rotWithShape="1">
          <a:blip r:embed="rId4">
            <a:alphaModFix/>
          </a:blip>
          <a:srcRect b="30989" l="0" r="0" t="0"/>
          <a:stretch/>
        </p:blipFill>
        <p:spPr>
          <a:xfrm>
            <a:off x="2578432" y="3838634"/>
            <a:ext cx="398744" cy="130486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5"/>
          <p:cNvSpPr txBox="1"/>
          <p:nvPr>
            <p:ph type="title"/>
          </p:nvPr>
        </p:nvSpPr>
        <p:spPr>
          <a:xfrm>
            <a:off x="570976" y="1458257"/>
            <a:ext cx="3791277" cy="9660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sz="3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570976" y="2571750"/>
            <a:ext cx="3628665" cy="4040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34275" wrap="square" tIns="34275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Open Sans"/>
              <a:buNone/>
              <a:defRPr b="0" i="0" sz="14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 1">
  <p:cSld name="1_Agenda Slide 1 2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6"/>
          <p:cNvSpPr/>
          <p:nvPr/>
        </p:nvSpPr>
        <p:spPr>
          <a:xfrm>
            <a:off x="8859739" y="4766977"/>
            <a:ext cx="264616" cy="207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600" u="none" cap="none" strike="noStrike">
              <a:solidFill>
                <a:srgbClr val="A5A5A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6" name="Google Shape;166;p26"/>
          <p:cNvPicPr preferRelativeResize="0"/>
          <p:nvPr/>
        </p:nvPicPr>
        <p:blipFill rotWithShape="1">
          <a:blip r:embed="rId2">
            <a:alphaModFix/>
          </a:blip>
          <a:srcRect b="0" l="0" r="76885" t="0"/>
          <a:stretch/>
        </p:blipFill>
        <p:spPr>
          <a:xfrm>
            <a:off x="8611316" y="4747501"/>
            <a:ext cx="251817" cy="24834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6"/>
          <p:cNvSpPr txBox="1"/>
          <p:nvPr>
            <p:ph type="title"/>
          </p:nvPr>
        </p:nvSpPr>
        <p:spPr>
          <a:xfrm>
            <a:off x="1709057" y="1983057"/>
            <a:ext cx="5725885" cy="9660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342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sz="27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Thank you slide">
    <p:bg>
      <p:bgPr>
        <a:solidFill>
          <a:srgbClr val="FFF0DB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17700" y="4177909"/>
            <a:ext cx="2204799" cy="51035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7"/>
          <p:cNvSpPr/>
          <p:nvPr/>
        </p:nvSpPr>
        <p:spPr>
          <a:xfrm>
            <a:off x="1" y="1233020"/>
            <a:ext cx="6837619" cy="3301654"/>
          </a:xfrm>
          <a:custGeom>
            <a:rect b="b" l="l" r="r" t="t"/>
            <a:pathLst>
              <a:path extrusionOk="0" h="4402205" w="9116826">
                <a:moveTo>
                  <a:pt x="0" y="0"/>
                </a:moveTo>
                <a:lnTo>
                  <a:pt x="3064672" y="0"/>
                </a:lnTo>
                <a:lnTo>
                  <a:pt x="9116826" y="0"/>
                </a:lnTo>
                <a:lnTo>
                  <a:pt x="7632388" y="4402205"/>
                </a:lnTo>
                <a:lnTo>
                  <a:pt x="0" y="440220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549545" y="2069439"/>
            <a:ext cx="3791277" cy="9660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None/>
              <a:defRPr sz="45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72" name="Google Shape;172;p27"/>
          <p:cNvPicPr preferRelativeResize="0"/>
          <p:nvPr/>
        </p:nvPicPr>
        <p:blipFill rotWithShape="1">
          <a:blip r:embed="rId3">
            <a:alphaModFix/>
          </a:blip>
          <a:srcRect b="13343" l="0" r="0" t="0"/>
          <a:stretch/>
        </p:blipFill>
        <p:spPr>
          <a:xfrm flipH="1">
            <a:off x="2514595" y="3175268"/>
            <a:ext cx="690077" cy="1974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9556" y="645400"/>
            <a:ext cx="849672" cy="84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7"/>
          <p:cNvPicPr preferRelativeResize="0"/>
          <p:nvPr/>
        </p:nvPicPr>
        <p:blipFill rotWithShape="1">
          <a:blip r:embed="rId5">
            <a:alphaModFix/>
          </a:blip>
          <a:srcRect b="0" l="0" r="22188" t="16052"/>
          <a:stretch/>
        </p:blipFill>
        <p:spPr>
          <a:xfrm>
            <a:off x="6071080" y="0"/>
            <a:ext cx="3053275" cy="270741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7"/>
          <p:cNvSpPr/>
          <p:nvPr/>
        </p:nvSpPr>
        <p:spPr>
          <a:xfrm>
            <a:off x="8859739" y="4766977"/>
            <a:ext cx="264616" cy="207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600" u="none" cap="none" strike="noStrike">
              <a:solidFill>
                <a:srgbClr val="A5A5A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8"/>
          <p:cNvPicPr preferRelativeResize="0"/>
          <p:nvPr/>
        </p:nvPicPr>
        <p:blipFill rotWithShape="1">
          <a:blip r:embed="rId2">
            <a:alphaModFix/>
          </a:blip>
          <a:srcRect b="0" l="8726" r="0" t="0"/>
          <a:stretch/>
        </p:blipFill>
        <p:spPr>
          <a:xfrm>
            <a:off x="0" y="282800"/>
            <a:ext cx="324275" cy="43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8"/>
          <p:cNvSpPr txBox="1"/>
          <p:nvPr/>
        </p:nvSpPr>
        <p:spPr>
          <a:xfrm>
            <a:off x="236762" y="4805319"/>
            <a:ext cx="42864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Confidential and Proprietary. Do not distribute without Couchbase consent. © Couchbase 202</a:t>
            </a:r>
            <a:r>
              <a:rPr lang="en" sz="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All rights reserved. </a:t>
            </a:r>
            <a:endParaRPr b="0" i="0" sz="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9" name="Google Shape;179;p28"/>
          <p:cNvSpPr/>
          <p:nvPr/>
        </p:nvSpPr>
        <p:spPr>
          <a:xfrm>
            <a:off x="8859739" y="4766977"/>
            <a:ext cx="264616" cy="207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600" u="none" cap="none" strike="noStrike">
              <a:solidFill>
                <a:srgbClr val="A5A5A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0" name="Google Shape;180;p28"/>
          <p:cNvPicPr preferRelativeResize="0"/>
          <p:nvPr/>
        </p:nvPicPr>
        <p:blipFill rotWithShape="1">
          <a:blip r:embed="rId3">
            <a:alphaModFix/>
          </a:blip>
          <a:srcRect b="0" l="0" r="76885" t="0"/>
          <a:stretch/>
        </p:blipFill>
        <p:spPr>
          <a:xfrm>
            <a:off x="8611316" y="4747501"/>
            <a:ext cx="251817" cy="24834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8"/>
          <p:cNvSpPr txBox="1"/>
          <p:nvPr>
            <p:ph type="title"/>
          </p:nvPr>
        </p:nvSpPr>
        <p:spPr>
          <a:xfrm>
            <a:off x="448784" y="125962"/>
            <a:ext cx="8372475" cy="59236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pen Sans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2" name="Google Shape;182;p28"/>
          <p:cNvSpPr txBox="1"/>
          <p:nvPr>
            <p:ph idx="1" type="body"/>
          </p:nvPr>
        </p:nvSpPr>
        <p:spPr>
          <a:xfrm>
            <a:off x="448866" y="1133475"/>
            <a:ext cx="3244453" cy="20990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3" name="Google Shape;183;p28"/>
          <p:cNvSpPr txBox="1"/>
          <p:nvPr>
            <p:ph idx="2" type="body"/>
          </p:nvPr>
        </p:nvSpPr>
        <p:spPr>
          <a:xfrm>
            <a:off x="4217371" y="1133475"/>
            <a:ext cx="3244453" cy="20990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bullets">
  <p:cSld name="Title and Content bullet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/>
          <p:nvPr>
            <p:ph idx="1" type="body"/>
          </p:nvPr>
        </p:nvSpPr>
        <p:spPr>
          <a:xfrm>
            <a:off x="450273" y="1253487"/>
            <a:ext cx="8409466" cy="31420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noAutofit/>
          </a:bodyPr>
          <a:lstStyle>
            <a:lvl1pPr indent="-304800" lvl="0" marL="45720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86" name="Google Shape;186;p29"/>
          <p:cNvSpPr txBox="1"/>
          <p:nvPr/>
        </p:nvSpPr>
        <p:spPr>
          <a:xfrm>
            <a:off x="236762" y="4805319"/>
            <a:ext cx="42864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Confidential and Proprietary. Do not distribute without Couchbase consent. © Couchbase 202</a:t>
            </a:r>
            <a:r>
              <a:rPr lang="en" sz="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All rights reserved. </a:t>
            </a:r>
            <a:endParaRPr b="0" i="0" sz="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7" name="Google Shape;187;p29"/>
          <p:cNvPicPr preferRelativeResize="0"/>
          <p:nvPr/>
        </p:nvPicPr>
        <p:blipFill rotWithShape="1">
          <a:blip r:embed="rId2">
            <a:alphaModFix/>
          </a:blip>
          <a:srcRect b="0" l="0" r="76885" t="0"/>
          <a:stretch/>
        </p:blipFill>
        <p:spPr>
          <a:xfrm>
            <a:off x="8611316" y="4747501"/>
            <a:ext cx="251817" cy="248342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9"/>
          <p:cNvSpPr/>
          <p:nvPr/>
        </p:nvSpPr>
        <p:spPr>
          <a:xfrm>
            <a:off x="8859739" y="4766977"/>
            <a:ext cx="264616" cy="207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600" u="none" cap="none" strike="noStrike">
              <a:solidFill>
                <a:srgbClr val="A5A5A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9" name="Google Shape;189;p29"/>
          <p:cNvSpPr txBox="1"/>
          <p:nvPr>
            <p:ph type="title"/>
          </p:nvPr>
        </p:nvSpPr>
        <p:spPr>
          <a:xfrm>
            <a:off x="448784" y="125962"/>
            <a:ext cx="8372475" cy="59236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pen Sans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90" name="Google Shape;190;p29"/>
          <p:cNvPicPr preferRelativeResize="0"/>
          <p:nvPr/>
        </p:nvPicPr>
        <p:blipFill rotWithShape="1">
          <a:blip r:embed="rId3">
            <a:alphaModFix/>
          </a:blip>
          <a:srcRect b="0" l="8726" r="0" t="0"/>
          <a:stretch/>
        </p:blipFill>
        <p:spPr>
          <a:xfrm>
            <a:off x="0" y="282800"/>
            <a:ext cx="324275" cy="43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180">
          <p15:clr>
            <a:srgbClr val="5ACBF0"/>
          </p15:clr>
        </p15:guide>
        <p15:guide id="2" pos="5580">
          <p15:clr>
            <a:srgbClr val="5ACBF0"/>
          </p15:clr>
        </p15:guide>
        <p15:guide id="3" orient="horz" pos="756">
          <p15:clr>
            <a:srgbClr val="5ACBF0"/>
          </p15:clr>
        </p15:guide>
        <p15:guide id="4" orient="horz" pos="2916">
          <p15:clr>
            <a:srgbClr val="5ACBF0"/>
          </p15:clr>
        </p15:guide>
        <p15:guide id="5" orient="horz" pos="3068">
          <p15:clr>
            <a:srgbClr val="5ACBF0"/>
          </p15:clr>
        </p15:guide>
        <p15:guide id="6" orient="horz" pos="450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/code screen 2">
  <p:cSld name="Title and Content w/code screen 2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3712802" y="1200150"/>
            <a:ext cx="5150330" cy="3429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274325" lIns="480050" spcFirstLastPara="1" rIns="1097275" wrap="square" tIns="137150">
            <a:noAutofit/>
          </a:bodyPr>
          <a:lstStyle>
            <a:lvl1pPr indent="-228600" lvl="0" marL="4572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93" name="Google Shape;193;p30"/>
          <p:cNvSpPr txBox="1"/>
          <p:nvPr>
            <p:ph idx="2" type="body"/>
          </p:nvPr>
        </p:nvSpPr>
        <p:spPr>
          <a:xfrm>
            <a:off x="448784" y="1200150"/>
            <a:ext cx="2890161" cy="3142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noAutofit/>
          </a:bodyPr>
          <a:lstStyle>
            <a:lvl1pPr indent="-304800" lvl="0" marL="45720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94" name="Google Shape;194;p30"/>
          <p:cNvSpPr txBox="1"/>
          <p:nvPr/>
        </p:nvSpPr>
        <p:spPr>
          <a:xfrm>
            <a:off x="236762" y="4805319"/>
            <a:ext cx="42864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Confidential and Proprietary. Do not distribute without Couchbase consent. © Couchbase 202</a:t>
            </a:r>
            <a:r>
              <a:rPr lang="en" sz="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All rights reserved. </a:t>
            </a:r>
            <a:endParaRPr b="0" i="0" sz="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95" name="Google Shape;195;p30"/>
          <p:cNvPicPr preferRelativeResize="0"/>
          <p:nvPr/>
        </p:nvPicPr>
        <p:blipFill rotWithShape="1">
          <a:blip r:embed="rId2">
            <a:alphaModFix/>
          </a:blip>
          <a:srcRect b="0" l="0" r="76885" t="0"/>
          <a:stretch/>
        </p:blipFill>
        <p:spPr>
          <a:xfrm>
            <a:off x="8611316" y="4747501"/>
            <a:ext cx="251817" cy="24834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0"/>
          <p:cNvSpPr/>
          <p:nvPr/>
        </p:nvSpPr>
        <p:spPr>
          <a:xfrm>
            <a:off x="8859739" y="4766977"/>
            <a:ext cx="264616" cy="207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600" u="none" cap="none" strike="noStrike">
              <a:solidFill>
                <a:srgbClr val="A5A5A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7" name="Google Shape;197;p30"/>
          <p:cNvSpPr txBox="1"/>
          <p:nvPr>
            <p:ph type="title"/>
          </p:nvPr>
        </p:nvSpPr>
        <p:spPr>
          <a:xfrm>
            <a:off x="448784" y="125962"/>
            <a:ext cx="8372475" cy="59236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pen Sans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98" name="Google Shape;198;p30"/>
          <p:cNvPicPr preferRelativeResize="0"/>
          <p:nvPr/>
        </p:nvPicPr>
        <p:blipFill rotWithShape="1">
          <a:blip r:embed="rId3">
            <a:alphaModFix/>
          </a:blip>
          <a:srcRect b="0" l="8726" r="0" t="0"/>
          <a:stretch/>
        </p:blipFill>
        <p:spPr>
          <a:xfrm>
            <a:off x="0" y="282800"/>
            <a:ext cx="324275" cy="43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180">
          <p15:clr>
            <a:srgbClr val="5ACBF0"/>
          </p15:clr>
        </p15:guide>
        <p15:guide id="2" pos="5580">
          <p15:clr>
            <a:srgbClr val="5ACBF0"/>
          </p15:clr>
        </p15:guide>
        <p15:guide id="3" orient="horz" pos="756">
          <p15:clr>
            <a:srgbClr val="5ACBF0"/>
          </p15:clr>
        </p15:guide>
        <p15:guide id="4" orient="horz" pos="2916">
          <p15:clr>
            <a:srgbClr val="5ACBF0"/>
          </p15:clr>
        </p15:guide>
        <p15:guide id="5" orient="horz" pos="3068">
          <p15:clr>
            <a:srgbClr val="5ACBF0"/>
          </p15:clr>
        </p15:guide>
        <p15:guide id="6" orient="horz" pos="450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/>
        </p:nvSpPr>
        <p:spPr>
          <a:xfrm>
            <a:off x="236762" y="4805319"/>
            <a:ext cx="42864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Confidential and Proprietary. Do not distribute without Couchbase consent. © Couchbase 202</a:t>
            </a:r>
            <a:r>
              <a:rPr lang="en" sz="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All rights reserved. </a:t>
            </a:r>
            <a:endParaRPr b="0" i="0" sz="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" name="Google Shape;201;p31"/>
          <p:cNvSpPr/>
          <p:nvPr/>
        </p:nvSpPr>
        <p:spPr>
          <a:xfrm>
            <a:off x="8859739" y="4766977"/>
            <a:ext cx="264616" cy="207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600" u="none" cap="none" strike="noStrike">
              <a:solidFill>
                <a:srgbClr val="A5A5A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2" name="Google Shape;202;p31"/>
          <p:cNvPicPr preferRelativeResize="0"/>
          <p:nvPr/>
        </p:nvPicPr>
        <p:blipFill rotWithShape="1">
          <a:blip r:embed="rId2">
            <a:alphaModFix/>
          </a:blip>
          <a:srcRect b="0" l="0" r="76885" t="0"/>
          <a:stretch/>
        </p:blipFill>
        <p:spPr>
          <a:xfrm>
            <a:off x="8611316" y="4747501"/>
            <a:ext cx="251817" cy="24834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1"/>
          <p:cNvSpPr txBox="1"/>
          <p:nvPr>
            <p:ph type="title"/>
          </p:nvPr>
        </p:nvSpPr>
        <p:spPr>
          <a:xfrm>
            <a:off x="448784" y="125962"/>
            <a:ext cx="8372475" cy="59236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pen Sans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04" name="Google Shape;204;p31"/>
          <p:cNvPicPr preferRelativeResize="0"/>
          <p:nvPr/>
        </p:nvPicPr>
        <p:blipFill rotWithShape="1">
          <a:blip r:embed="rId3">
            <a:alphaModFix/>
          </a:blip>
          <a:srcRect b="0" l="8726" r="0" t="0"/>
          <a:stretch/>
        </p:blipFill>
        <p:spPr>
          <a:xfrm>
            <a:off x="0" y="282800"/>
            <a:ext cx="324275" cy="43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llar Graphic">
  <p:cSld name="3 Pillar Graphic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 txBox="1"/>
          <p:nvPr>
            <p:ph idx="1" type="body"/>
          </p:nvPr>
        </p:nvSpPr>
        <p:spPr>
          <a:xfrm>
            <a:off x="6213944" y="1105797"/>
            <a:ext cx="2481344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274325" wrap="square" tIns="1508750">
            <a:noAutofit/>
          </a:bodyPr>
          <a:lstStyle>
            <a:lvl1pPr indent="-298450" lvl="0" marL="45720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07" name="Google Shape;207;p32"/>
          <p:cNvSpPr txBox="1"/>
          <p:nvPr>
            <p:ph idx="2" type="body"/>
          </p:nvPr>
        </p:nvSpPr>
        <p:spPr>
          <a:xfrm>
            <a:off x="3249884" y="1105797"/>
            <a:ext cx="2481343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274325" wrap="square" tIns="1508750">
            <a:noAutofit/>
          </a:bodyPr>
          <a:lstStyle>
            <a:lvl1pPr indent="-298450" lvl="0" marL="45720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08" name="Google Shape;208;p32"/>
          <p:cNvSpPr txBox="1"/>
          <p:nvPr>
            <p:ph idx="3" type="body"/>
          </p:nvPr>
        </p:nvSpPr>
        <p:spPr>
          <a:xfrm>
            <a:off x="285822" y="1105797"/>
            <a:ext cx="2481343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274325" wrap="square" tIns="1508750">
            <a:noAutofit/>
          </a:bodyPr>
          <a:lstStyle>
            <a:lvl1pPr indent="-298450" lvl="0" marL="45720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09" name="Google Shape;209;p32"/>
          <p:cNvSpPr txBox="1"/>
          <p:nvPr/>
        </p:nvSpPr>
        <p:spPr>
          <a:xfrm>
            <a:off x="236762" y="4805319"/>
            <a:ext cx="42864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Confidential and Proprietary. Do not distribute without Couchbase consent. © Couchbase 202</a:t>
            </a:r>
            <a:r>
              <a:rPr lang="en" sz="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All rights reserved. </a:t>
            </a:r>
            <a:endParaRPr b="0" i="0" sz="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0" name="Google Shape;210;p32"/>
          <p:cNvSpPr txBox="1"/>
          <p:nvPr>
            <p:ph idx="4" type="body"/>
          </p:nvPr>
        </p:nvSpPr>
        <p:spPr>
          <a:xfrm>
            <a:off x="285822" y="1105797"/>
            <a:ext cx="2481343" cy="884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11" name="Google Shape;211;p32"/>
          <p:cNvSpPr txBox="1"/>
          <p:nvPr>
            <p:ph idx="5" type="body"/>
          </p:nvPr>
        </p:nvSpPr>
        <p:spPr>
          <a:xfrm>
            <a:off x="6213944" y="1105797"/>
            <a:ext cx="2481344" cy="884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12" name="Google Shape;212;p32"/>
          <p:cNvSpPr txBox="1"/>
          <p:nvPr>
            <p:ph idx="6" type="body"/>
          </p:nvPr>
        </p:nvSpPr>
        <p:spPr>
          <a:xfrm>
            <a:off x="3249883" y="1105797"/>
            <a:ext cx="2481343" cy="884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13" name="Google Shape;213;p32"/>
          <p:cNvSpPr txBox="1"/>
          <p:nvPr>
            <p:ph idx="7" type="body"/>
          </p:nvPr>
        </p:nvSpPr>
        <p:spPr>
          <a:xfrm>
            <a:off x="335179" y="2100008"/>
            <a:ext cx="2375686" cy="381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14" name="Google Shape;214;p32"/>
          <p:cNvSpPr txBox="1"/>
          <p:nvPr>
            <p:ph idx="8" type="body"/>
          </p:nvPr>
        </p:nvSpPr>
        <p:spPr>
          <a:xfrm>
            <a:off x="6263302" y="2100008"/>
            <a:ext cx="2375686" cy="381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15" name="Google Shape;215;p32"/>
          <p:cNvSpPr txBox="1"/>
          <p:nvPr>
            <p:ph idx="9" type="body"/>
          </p:nvPr>
        </p:nvSpPr>
        <p:spPr>
          <a:xfrm>
            <a:off x="3299240" y="2100008"/>
            <a:ext cx="2375686" cy="381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216" name="Google Shape;216;p32"/>
          <p:cNvPicPr preferRelativeResize="0"/>
          <p:nvPr/>
        </p:nvPicPr>
        <p:blipFill rotWithShape="1">
          <a:blip r:embed="rId2">
            <a:alphaModFix/>
          </a:blip>
          <a:srcRect b="0" l="0" r="76885" t="0"/>
          <a:stretch/>
        </p:blipFill>
        <p:spPr>
          <a:xfrm>
            <a:off x="8611316" y="4747501"/>
            <a:ext cx="251817" cy="24834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2"/>
          <p:cNvSpPr/>
          <p:nvPr/>
        </p:nvSpPr>
        <p:spPr>
          <a:xfrm>
            <a:off x="8859739" y="4766977"/>
            <a:ext cx="264616" cy="207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600" u="none" cap="none" strike="noStrike">
              <a:solidFill>
                <a:srgbClr val="A5A5A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p32"/>
          <p:cNvSpPr txBox="1"/>
          <p:nvPr>
            <p:ph type="title"/>
          </p:nvPr>
        </p:nvSpPr>
        <p:spPr>
          <a:xfrm>
            <a:off x="448784" y="125962"/>
            <a:ext cx="8372475" cy="59236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pen Sans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9" name="Google Shape;219;p32"/>
          <p:cNvSpPr/>
          <p:nvPr/>
        </p:nvSpPr>
        <p:spPr>
          <a:xfrm>
            <a:off x="285821" y="1954317"/>
            <a:ext cx="2481343" cy="3643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2"/>
          <p:cNvSpPr/>
          <p:nvPr/>
        </p:nvSpPr>
        <p:spPr>
          <a:xfrm>
            <a:off x="3250652" y="1954317"/>
            <a:ext cx="2481343" cy="3643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2"/>
          <p:cNvSpPr/>
          <p:nvPr/>
        </p:nvSpPr>
        <p:spPr>
          <a:xfrm>
            <a:off x="6218827" y="1955140"/>
            <a:ext cx="2481343" cy="3643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32"/>
          <p:cNvPicPr preferRelativeResize="0"/>
          <p:nvPr/>
        </p:nvPicPr>
        <p:blipFill rotWithShape="1">
          <a:blip r:embed="rId3">
            <a:alphaModFix/>
          </a:blip>
          <a:srcRect b="0" l="8726" r="0" t="0"/>
          <a:stretch/>
        </p:blipFill>
        <p:spPr>
          <a:xfrm>
            <a:off x="0" y="282800"/>
            <a:ext cx="324275" cy="43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180">
          <p15:clr>
            <a:srgbClr val="5ACBF0"/>
          </p15:clr>
        </p15:guide>
        <p15:guide id="2" pos="5580">
          <p15:clr>
            <a:srgbClr val="5ACBF0"/>
          </p15:clr>
        </p15:guide>
        <p15:guide id="3" orient="horz" pos="756">
          <p15:clr>
            <a:srgbClr val="5ACBF0"/>
          </p15:clr>
        </p15:guide>
        <p15:guide id="4" orient="horz" pos="2916">
          <p15:clr>
            <a:srgbClr val="5ACBF0"/>
          </p15:clr>
        </p15:guide>
        <p15:guide id="5" orient="horz" pos="3068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Pillar Graphic">
  <p:cSld name="4 Pillar Graphic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>
            <p:ph idx="1" type="body"/>
          </p:nvPr>
        </p:nvSpPr>
        <p:spPr>
          <a:xfrm>
            <a:off x="4643231" y="1165815"/>
            <a:ext cx="1898605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274325" wrap="square" tIns="1234425">
            <a:noAutofit/>
          </a:bodyPr>
          <a:lstStyle>
            <a:lvl1pPr indent="-298450" lvl="0" marL="45720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25" name="Google Shape;225;p33"/>
          <p:cNvSpPr txBox="1"/>
          <p:nvPr>
            <p:ph idx="2" type="body"/>
          </p:nvPr>
        </p:nvSpPr>
        <p:spPr>
          <a:xfrm>
            <a:off x="2471316" y="1165815"/>
            <a:ext cx="1898605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274325" wrap="square" tIns="1234425">
            <a:noAutofit/>
          </a:bodyPr>
          <a:lstStyle>
            <a:lvl1pPr indent="-298450" lvl="0" marL="45720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26" name="Google Shape;226;p33"/>
          <p:cNvSpPr txBox="1"/>
          <p:nvPr>
            <p:ph idx="3" type="body"/>
          </p:nvPr>
        </p:nvSpPr>
        <p:spPr>
          <a:xfrm>
            <a:off x="299401" y="1165815"/>
            <a:ext cx="1898605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274325" wrap="square" tIns="1234425">
            <a:noAutofit/>
          </a:bodyPr>
          <a:lstStyle>
            <a:lvl1pPr indent="-298450" lvl="0" marL="45720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27" name="Google Shape;227;p33"/>
          <p:cNvSpPr txBox="1"/>
          <p:nvPr/>
        </p:nvSpPr>
        <p:spPr>
          <a:xfrm>
            <a:off x="236762" y="4805319"/>
            <a:ext cx="42864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Confidential and Proprietary. Do not distribute without Couchbase consent. © Couchbase 202</a:t>
            </a:r>
            <a:r>
              <a:rPr lang="en" sz="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All rights reserved. </a:t>
            </a:r>
            <a:endParaRPr b="0" i="0" sz="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8" name="Google Shape;228;p33"/>
          <p:cNvSpPr txBox="1"/>
          <p:nvPr>
            <p:ph idx="4" type="body"/>
          </p:nvPr>
        </p:nvSpPr>
        <p:spPr>
          <a:xfrm>
            <a:off x="299401" y="1165815"/>
            <a:ext cx="1898605" cy="1004207"/>
          </a:xfrm>
          <a:prstGeom prst="rect">
            <a:avLst/>
          </a:prstGeom>
          <a:noFill/>
          <a:ln>
            <a:noFill/>
          </a:ln>
        </p:spPr>
        <p:txBody>
          <a:bodyPr anchorCtr="0" anchor="b" bIns="102875" lIns="68575" spcFirstLastPara="1" rIns="68575" wrap="square" tIns="68575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29" name="Google Shape;229;p33"/>
          <p:cNvSpPr txBox="1"/>
          <p:nvPr>
            <p:ph idx="5" type="body"/>
          </p:nvPr>
        </p:nvSpPr>
        <p:spPr>
          <a:xfrm>
            <a:off x="4643231" y="1165815"/>
            <a:ext cx="1898605" cy="1004207"/>
          </a:xfrm>
          <a:prstGeom prst="rect">
            <a:avLst/>
          </a:prstGeom>
          <a:noFill/>
          <a:ln>
            <a:noFill/>
          </a:ln>
        </p:spPr>
        <p:txBody>
          <a:bodyPr anchorCtr="0" anchor="b" bIns="102875" lIns="68575" spcFirstLastPara="1" rIns="68575" wrap="square" tIns="68575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30" name="Google Shape;230;p33"/>
          <p:cNvSpPr txBox="1"/>
          <p:nvPr>
            <p:ph idx="6" type="body"/>
          </p:nvPr>
        </p:nvSpPr>
        <p:spPr>
          <a:xfrm>
            <a:off x="2471316" y="1165815"/>
            <a:ext cx="1898605" cy="1004207"/>
          </a:xfrm>
          <a:prstGeom prst="rect">
            <a:avLst/>
          </a:prstGeom>
          <a:noFill/>
          <a:ln>
            <a:noFill/>
          </a:ln>
        </p:spPr>
        <p:txBody>
          <a:bodyPr anchorCtr="0" anchor="b" bIns="102875" lIns="68575" spcFirstLastPara="1" rIns="68575" wrap="square" tIns="68575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31" name="Google Shape;231;p33"/>
          <p:cNvSpPr txBox="1"/>
          <p:nvPr>
            <p:ph idx="7" type="body"/>
          </p:nvPr>
        </p:nvSpPr>
        <p:spPr>
          <a:xfrm>
            <a:off x="336353" y="1284786"/>
            <a:ext cx="1817761" cy="381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32" name="Google Shape;232;p33"/>
          <p:cNvSpPr txBox="1"/>
          <p:nvPr>
            <p:ph idx="8" type="body"/>
          </p:nvPr>
        </p:nvSpPr>
        <p:spPr>
          <a:xfrm>
            <a:off x="4680182" y="1284786"/>
            <a:ext cx="1817761" cy="381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33" name="Google Shape;233;p33"/>
          <p:cNvSpPr txBox="1"/>
          <p:nvPr>
            <p:ph idx="9" type="body"/>
          </p:nvPr>
        </p:nvSpPr>
        <p:spPr>
          <a:xfrm>
            <a:off x="2508267" y="1284786"/>
            <a:ext cx="1817761" cy="381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34" name="Google Shape;234;p33"/>
          <p:cNvSpPr txBox="1"/>
          <p:nvPr>
            <p:ph idx="13" type="body"/>
          </p:nvPr>
        </p:nvSpPr>
        <p:spPr>
          <a:xfrm>
            <a:off x="6815146" y="1165815"/>
            <a:ext cx="1898605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274325" wrap="square" tIns="1234425">
            <a:noAutofit/>
          </a:bodyPr>
          <a:lstStyle>
            <a:lvl1pPr indent="-298450" lvl="0" marL="45720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35" name="Google Shape;235;p33"/>
          <p:cNvSpPr txBox="1"/>
          <p:nvPr>
            <p:ph idx="14" type="body"/>
          </p:nvPr>
        </p:nvSpPr>
        <p:spPr>
          <a:xfrm>
            <a:off x="6815146" y="1165815"/>
            <a:ext cx="1898605" cy="1004207"/>
          </a:xfrm>
          <a:prstGeom prst="rect">
            <a:avLst/>
          </a:prstGeom>
          <a:noFill/>
          <a:ln>
            <a:noFill/>
          </a:ln>
        </p:spPr>
        <p:txBody>
          <a:bodyPr anchorCtr="0" anchor="b" bIns="102875" lIns="68575" spcFirstLastPara="1" rIns="68575" wrap="square" tIns="68575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36" name="Google Shape;236;p33"/>
          <p:cNvSpPr txBox="1"/>
          <p:nvPr>
            <p:ph idx="15" type="body"/>
          </p:nvPr>
        </p:nvSpPr>
        <p:spPr>
          <a:xfrm>
            <a:off x="6852097" y="1284786"/>
            <a:ext cx="1817761" cy="381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237" name="Google Shape;237;p33"/>
          <p:cNvPicPr preferRelativeResize="0"/>
          <p:nvPr/>
        </p:nvPicPr>
        <p:blipFill rotWithShape="1">
          <a:blip r:embed="rId2">
            <a:alphaModFix/>
          </a:blip>
          <a:srcRect b="0" l="0" r="76885" t="0"/>
          <a:stretch/>
        </p:blipFill>
        <p:spPr>
          <a:xfrm>
            <a:off x="8611316" y="4747501"/>
            <a:ext cx="251817" cy="24834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3"/>
          <p:cNvSpPr/>
          <p:nvPr/>
        </p:nvSpPr>
        <p:spPr>
          <a:xfrm>
            <a:off x="8859739" y="4766977"/>
            <a:ext cx="264616" cy="207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600" u="none" cap="none" strike="noStrike">
              <a:solidFill>
                <a:srgbClr val="A5A5A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" name="Google Shape;239;p33"/>
          <p:cNvSpPr txBox="1"/>
          <p:nvPr>
            <p:ph type="title"/>
          </p:nvPr>
        </p:nvSpPr>
        <p:spPr>
          <a:xfrm>
            <a:off x="448784" y="125962"/>
            <a:ext cx="8372475" cy="59236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pen Sans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0" name="Google Shape;240;p33"/>
          <p:cNvSpPr/>
          <p:nvPr/>
        </p:nvSpPr>
        <p:spPr>
          <a:xfrm rot="5400000">
            <a:off x="707345" y="2949280"/>
            <a:ext cx="3256781" cy="342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3"/>
          <p:cNvSpPr/>
          <p:nvPr/>
        </p:nvSpPr>
        <p:spPr>
          <a:xfrm rot="5400000">
            <a:off x="2873386" y="2949280"/>
            <a:ext cx="3256781" cy="342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3"/>
          <p:cNvSpPr/>
          <p:nvPr/>
        </p:nvSpPr>
        <p:spPr>
          <a:xfrm rot="5400000">
            <a:off x="5053008" y="2949280"/>
            <a:ext cx="3256781" cy="342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33"/>
          <p:cNvPicPr preferRelativeResize="0"/>
          <p:nvPr/>
        </p:nvPicPr>
        <p:blipFill rotWithShape="1">
          <a:blip r:embed="rId3">
            <a:alphaModFix/>
          </a:blip>
          <a:srcRect b="0" l="8726" r="0" t="0"/>
          <a:stretch/>
        </p:blipFill>
        <p:spPr>
          <a:xfrm>
            <a:off x="0" y="282800"/>
            <a:ext cx="324275" cy="43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180">
          <p15:clr>
            <a:srgbClr val="5ACBF0"/>
          </p15:clr>
        </p15:guide>
        <p15:guide id="2" pos="5580">
          <p15:clr>
            <a:srgbClr val="5ACBF0"/>
          </p15:clr>
        </p15:guide>
        <p15:guide id="3" orient="horz" pos="756">
          <p15:clr>
            <a:srgbClr val="5ACBF0"/>
          </p15:clr>
        </p15:guide>
        <p15:guide id="4" orient="horz" pos="2916">
          <p15:clr>
            <a:srgbClr val="5ACBF0"/>
          </p15:clr>
        </p15:guide>
        <p15:guide id="5" orient="horz" pos="3068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Box Graphic">
  <p:cSld name="4 Box Graphic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 txBox="1"/>
          <p:nvPr>
            <p:ph idx="1" type="body"/>
          </p:nvPr>
        </p:nvSpPr>
        <p:spPr>
          <a:xfrm>
            <a:off x="448784" y="2874979"/>
            <a:ext cx="4061727" cy="16655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480050">
            <a:noAutofit/>
          </a:bodyPr>
          <a:lstStyle>
            <a:lvl1pPr indent="-298450" lvl="0" marL="45720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46" name="Google Shape;246;p34"/>
          <p:cNvSpPr txBox="1"/>
          <p:nvPr>
            <p:ph idx="2" type="body"/>
          </p:nvPr>
        </p:nvSpPr>
        <p:spPr>
          <a:xfrm>
            <a:off x="4797833" y="1111494"/>
            <a:ext cx="4061727" cy="16655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480050">
            <a:noAutofit/>
          </a:bodyPr>
          <a:lstStyle>
            <a:lvl1pPr indent="-298450" lvl="0" marL="45720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47" name="Google Shape;247;p34"/>
          <p:cNvSpPr txBox="1"/>
          <p:nvPr>
            <p:ph idx="3" type="body"/>
          </p:nvPr>
        </p:nvSpPr>
        <p:spPr>
          <a:xfrm>
            <a:off x="448784" y="1111494"/>
            <a:ext cx="4061727" cy="16655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480050">
            <a:noAutofit/>
          </a:bodyPr>
          <a:lstStyle>
            <a:lvl1pPr indent="-298450" lvl="0" marL="45720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48" name="Google Shape;248;p34"/>
          <p:cNvSpPr txBox="1"/>
          <p:nvPr>
            <p:ph idx="4" type="body"/>
          </p:nvPr>
        </p:nvSpPr>
        <p:spPr>
          <a:xfrm>
            <a:off x="448784" y="1111495"/>
            <a:ext cx="4061727" cy="32190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49" name="Google Shape;249;p34"/>
          <p:cNvSpPr txBox="1"/>
          <p:nvPr>
            <p:ph idx="5" type="body"/>
          </p:nvPr>
        </p:nvSpPr>
        <p:spPr>
          <a:xfrm>
            <a:off x="448784" y="2874980"/>
            <a:ext cx="4061727" cy="32190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50" name="Google Shape;250;p34"/>
          <p:cNvSpPr txBox="1"/>
          <p:nvPr>
            <p:ph idx="6" type="body"/>
          </p:nvPr>
        </p:nvSpPr>
        <p:spPr>
          <a:xfrm>
            <a:off x="4797833" y="1111495"/>
            <a:ext cx="4061727" cy="32190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51" name="Google Shape;251;p34"/>
          <p:cNvSpPr txBox="1"/>
          <p:nvPr>
            <p:ph idx="7" type="body"/>
          </p:nvPr>
        </p:nvSpPr>
        <p:spPr>
          <a:xfrm>
            <a:off x="4797833" y="2874979"/>
            <a:ext cx="4061727" cy="16655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480050">
            <a:noAutofit/>
          </a:bodyPr>
          <a:lstStyle>
            <a:lvl1pPr indent="-298450" lvl="0" marL="45720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52" name="Google Shape;252;p34"/>
          <p:cNvSpPr txBox="1"/>
          <p:nvPr>
            <p:ph idx="8" type="body"/>
          </p:nvPr>
        </p:nvSpPr>
        <p:spPr>
          <a:xfrm>
            <a:off x="4797833" y="2874980"/>
            <a:ext cx="4061727" cy="321905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53" name="Google Shape;253;p34"/>
          <p:cNvSpPr txBox="1"/>
          <p:nvPr/>
        </p:nvSpPr>
        <p:spPr>
          <a:xfrm>
            <a:off x="236762" y="4805319"/>
            <a:ext cx="42864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Confidential and Proprietary. Do not distribute without Couchbase consent. © Couchbase 202</a:t>
            </a:r>
            <a:r>
              <a:rPr lang="en" sz="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All rights reserved. </a:t>
            </a:r>
            <a:endParaRPr b="0" i="0" sz="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4" name="Google Shape;254;p34"/>
          <p:cNvPicPr preferRelativeResize="0"/>
          <p:nvPr/>
        </p:nvPicPr>
        <p:blipFill rotWithShape="1">
          <a:blip r:embed="rId2">
            <a:alphaModFix/>
          </a:blip>
          <a:srcRect b="0" l="0" r="76885" t="0"/>
          <a:stretch/>
        </p:blipFill>
        <p:spPr>
          <a:xfrm>
            <a:off x="8611316" y="4747501"/>
            <a:ext cx="251817" cy="24834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4"/>
          <p:cNvSpPr/>
          <p:nvPr/>
        </p:nvSpPr>
        <p:spPr>
          <a:xfrm>
            <a:off x="8859739" y="4766977"/>
            <a:ext cx="264616" cy="207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600" u="none" cap="none" strike="noStrike">
              <a:solidFill>
                <a:srgbClr val="A5A5A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34"/>
          <p:cNvSpPr txBox="1"/>
          <p:nvPr>
            <p:ph type="title"/>
          </p:nvPr>
        </p:nvSpPr>
        <p:spPr>
          <a:xfrm>
            <a:off x="448784" y="125962"/>
            <a:ext cx="8372475" cy="59236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pen Sans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7" name="Google Shape;257;p34"/>
          <p:cNvSpPr/>
          <p:nvPr/>
        </p:nvSpPr>
        <p:spPr>
          <a:xfrm>
            <a:off x="448784" y="1415180"/>
            <a:ext cx="4061727" cy="342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4"/>
          <p:cNvSpPr/>
          <p:nvPr/>
        </p:nvSpPr>
        <p:spPr>
          <a:xfrm>
            <a:off x="448784" y="3200977"/>
            <a:ext cx="4061727" cy="342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4"/>
          <p:cNvSpPr/>
          <p:nvPr/>
        </p:nvSpPr>
        <p:spPr>
          <a:xfrm>
            <a:off x="4794448" y="3200977"/>
            <a:ext cx="4061727" cy="342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4"/>
          <p:cNvSpPr/>
          <p:nvPr/>
        </p:nvSpPr>
        <p:spPr>
          <a:xfrm>
            <a:off x="4794448" y="1421971"/>
            <a:ext cx="4061727" cy="342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p34"/>
          <p:cNvPicPr preferRelativeResize="0"/>
          <p:nvPr/>
        </p:nvPicPr>
        <p:blipFill rotWithShape="1">
          <a:blip r:embed="rId3">
            <a:alphaModFix/>
          </a:blip>
          <a:srcRect b="0" l="8726" r="0" t="0"/>
          <a:stretch/>
        </p:blipFill>
        <p:spPr>
          <a:xfrm>
            <a:off x="0" y="282800"/>
            <a:ext cx="324275" cy="43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180">
          <p15:clr>
            <a:srgbClr val="5ACBF0"/>
          </p15:clr>
        </p15:guide>
        <p15:guide id="2" pos="5580">
          <p15:clr>
            <a:srgbClr val="5ACBF0"/>
          </p15:clr>
        </p15:guide>
        <p15:guide id="3" orient="horz" pos="756">
          <p15:clr>
            <a:srgbClr val="5ACBF0"/>
          </p15:clr>
        </p15:guide>
        <p15:guide id="4" orient="horz" pos="2916">
          <p15:clr>
            <a:srgbClr val="5ACBF0"/>
          </p15:clr>
        </p15:guide>
        <p15:guide id="5" orient="horz" pos="3068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Box Graphic Center Focus">
  <p:cSld name="4 Box Graphic Center Focus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"/>
          <p:cNvSpPr txBox="1"/>
          <p:nvPr/>
        </p:nvSpPr>
        <p:spPr>
          <a:xfrm>
            <a:off x="236762" y="4805319"/>
            <a:ext cx="42864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Confidential and Proprietary. Do not distribute without Couchbase consent. © Couchbase 202</a:t>
            </a:r>
            <a:r>
              <a:rPr lang="en" sz="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All rights reserved. </a:t>
            </a:r>
            <a:endParaRPr b="0" i="0" sz="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64" name="Google Shape;264;p35"/>
          <p:cNvPicPr preferRelativeResize="0"/>
          <p:nvPr/>
        </p:nvPicPr>
        <p:blipFill rotWithShape="1">
          <a:blip r:embed="rId2">
            <a:alphaModFix/>
          </a:blip>
          <a:srcRect b="0" l="0" r="76885" t="0"/>
          <a:stretch/>
        </p:blipFill>
        <p:spPr>
          <a:xfrm>
            <a:off x="8611316" y="4747501"/>
            <a:ext cx="251817" cy="248342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5"/>
          <p:cNvSpPr txBox="1"/>
          <p:nvPr>
            <p:ph idx="1" type="body"/>
          </p:nvPr>
        </p:nvSpPr>
        <p:spPr>
          <a:xfrm>
            <a:off x="448783" y="1241712"/>
            <a:ext cx="4130573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66" name="Google Shape;266;p35"/>
          <p:cNvSpPr txBox="1"/>
          <p:nvPr>
            <p:ph idx="2" type="body"/>
          </p:nvPr>
        </p:nvSpPr>
        <p:spPr>
          <a:xfrm>
            <a:off x="448783" y="3153644"/>
            <a:ext cx="4130573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67" name="Google Shape;267;p35"/>
          <p:cNvSpPr txBox="1"/>
          <p:nvPr>
            <p:ph idx="3" type="body"/>
          </p:nvPr>
        </p:nvSpPr>
        <p:spPr>
          <a:xfrm>
            <a:off x="4574927" y="3153644"/>
            <a:ext cx="4223147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28600" lvl="1" marL="914400" marR="0" rtl="0" algn="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68" name="Google Shape;268;p35"/>
          <p:cNvSpPr txBox="1"/>
          <p:nvPr>
            <p:ph idx="4" type="body"/>
          </p:nvPr>
        </p:nvSpPr>
        <p:spPr>
          <a:xfrm>
            <a:off x="4574927" y="1241712"/>
            <a:ext cx="4223147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28600" lvl="1" marL="914400" marR="0" rtl="0" algn="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69" name="Google Shape;269;p35"/>
          <p:cNvSpPr/>
          <p:nvPr/>
        </p:nvSpPr>
        <p:spPr>
          <a:xfrm>
            <a:off x="8859739" y="4766977"/>
            <a:ext cx="264616" cy="207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600" u="none" cap="none" strike="noStrike">
              <a:solidFill>
                <a:srgbClr val="A5A5A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0" name="Google Shape;270;p35"/>
          <p:cNvSpPr txBox="1"/>
          <p:nvPr>
            <p:ph type="title"/>
          </p:nvPr>
        </p:nvSpPr>
        <p:spPr>
          <a:xfrm>
            <a:off x="448784" y="125962"/>
            <a:ext cx="8372475" cy="59236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pen Sans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1" name="Google Shape;271;p35"/>
          <p:cNvSpPr/>
          <p:nvPr/>
        </p:nvSpPr>
        <p:spPr>
          <a:xfrm>
            <a:off x="3101476" y="1351347"/>
            <a:ext cx="2946903" cy="2946903"/>
          </a:xfrm>
          <a:prstGeom prst="ellipse">
            <a:avLst/>
          </a:prstGeom>
          <a:noFill/>
          <a:ln cap="flat" cmpd="sng" w="2952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5"/>
          <p:cNvSpPr txBox="1"/>
          <p:nvPr>
            <p:ph idx="5" type="body"/>
          </p:nvPr>
        </p:nvSpPr>
        <p:spPr>
          <a:xfrm>
            <a:off x="3716027" y="2474228"/>
            <a:ext cx="1711946" cy="195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0575" lIns="20575" spcFirstLastPara="1" rIns="20575" wrap="square" tIns="20575">
            <a:sp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273" name="Google Shape;273;p35"/>
          <p:cNvPicPr preferRelativeResize="0"/>
          <p:nvPr/>
        </p:nvPicPr>
        <p:blipFill rotWithShape="1">
          <a:blip r:embed="rId3">
            <a:alphaModFix/>
          </a:blip>
          <a:srcRect b="0" l="8726" r="0" t="0"/>
          <a:stretch/>
        </p:blipFill>
        <p:spPr>
          <a:xfrm>
            <a:off x="0" y="282800"/>
            <a:ext cx="324275" cy="43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180">
          <p15:clr>
            <a:srgbClr val="5ACBF0"/>
          </p15:clr>
        </p15:guide>
        <p15:guide id="2" pos="5580">
          <p15:clr>
            <a:srgbClr val="5ACBF0"/>
          </p15:clr>
        </p15:guide>
        <p15:guide id="3" orient="horz" pos="756">
          <p15:clr>
            <a:srgbClr val="5ACBF0"/>
          </p15:clr>
        </p15:guide>
        <p15:guide id="4" orient="horz" pos="2916">
          <p15:clr>
            <a:srgbClr val="5ACBF0"/>
          </p15:clr>
        </p15:guide>
        <p15:guide id="5" orient="horz" pos="3068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chitecture Diagram Layout">
  <p:cSld name="Architecture Diagram Layou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6"/>
          <p:cNvSpPr txBox="1"/>
          <p:nvPr>
            <p:ph idx="1" type="body"/>
          </p:nvPr>
        </p:nvSpPr>
        <p:spPr>
          <a:xfrm>
            <a:off x="512935" y="2077287"/>
            <a:ext cx="1791137" cy="14542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28600" lvl="1" marL="9144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3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76" name="Google Shape;276;p36"/>
          <p:cNvSpPr/>
          <p:nvPr>
            <p:ph idx="2" type="pic"/>
          </p:nvPr>
        </p:nvSpPr>
        <p:spPr>
          <a:xfrm>
            <a:off x="2968823" y="1361271"/>
            <a:ext cx="3006328" cy="3006328"/>
          </a:xfrm>
          <a:prstGeom prst="rect">
            <a:avLst/>
          </a:prstGeom>
          <a:noFill/>
          <a:ln>
            <a:noFill/>
          </a:ln>
        </p:spPr>
      </p:sp>
      <p:sp>
        <p:nvSpPr>
          <p:cNvPr id="277" name="Google Shape;277;p36"/>
          <p:cNvSpPr txBox="1"/>
          <p:nvPr>
            <p:ph idx="3" type="body"/>
          </p:nvPr>
        </p:nvSpPr>
        <p:spPr>
          <a:xfrm>
            <a:off x="6348167" y="1092190"/>
            <a:ext cx="2510084" cy="8629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3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278" name="Google Shape;278;p36"/>
          <p:cNvPicPr preferRelativeResize="0"/>
          <p:nvPr/>
        </p:nvPicPr>
        <p:blipFill rotWithShape="1">
          <a:blip r:embed="rId2">
            <a:alphaModFix/>
          </a:blip>
          <a:srcRect b="0" l="0" r="76885" t="0"/>
          <a:stretch/>
        </p:blipFill>
        <p:spPr>
          <a:xfrm>
            <a:off x="8611316" y="4747501"/>
            <a:ext cx="251817" cy="248342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6"/>
          <p:cNvSpPr txBox="1"/>
          <p:nvPr>
            <p:ph idx="4" type="body"/>
          </p:nvPr>
        </p:nvSpPr>
        <p:spPr>
          <a:xfrm>
            <a:off x="6348167" y="2341812"/>
            <a:ext cx="2510084" cy="8629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3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80" name="Google Shape;280;p36"/>
          <p:cNvSpPr txBox="1"/>
          <p:nvPr>
            <p:ph idx="5" type="body"/>
          </p:nvPr>
        </p:nvSpPr>
        <p:spPr>
          <a:xfrm>
            <a:off x="6348167" y="3504650"/>
            <a:ext cx="2510084" cy="8629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3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81" name="Google Shape;281;p36"/>
          <p:cNvSpPr txBox="1"/>
          <p:nvPr/>
        </p:nvSpPr>
        <p:spPr>
          <a:xfrm>
            <a:off x="236762" y="4805319"/>
            <a:ext cx="42864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Confidential and Proprietary. Do not distribute without Couchbase consent. © Couchbase </a:t>
            </a:r>
            <a:r>
              <a:rPr lang="en" sz="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2025</a:t>
            </a: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All rights reserved. </a:t>
            </a:r>
            <a:endParaRPr b="0" i="0" sz="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2" name="Google Shape;282;p36"/>
          <p:cNvSpPr/>
          <p:nvPr/>
        </p:nvSpPr>
        <p:spPr>
          <a:xfrm>
            <a:off x="8859739" y="4766977"/>
            <a:ext cx="264616" cy="207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600" u="none" cap="none" strike="noStrike">
              <a:solidFill>
                <a:srgbClr val="A5A5A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p36"/>
          <p:cNvSpPr txBox="1"/>
          <p:nvPr>
            <p:ph type="title"/>
          </p:nvPr>
        </p:nvSpPr>
        <p:spPr>
          <a:xfrm>
            <a:off x="448784" y="125962"/>
            <a:ext cx="8372475" cy="59236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pen Sans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84" name="Google Shape;284;p36"/>
          <p:cNvPicPr preferRelativeResize="0"/>
          <p:nvPr/>
        </p:nvPicPr>
        <p:blipFill rotWithShape="1">
          <a:blip r:embed="rId3">
            <a:alphaModFix/>
          </a:blip>
          <a:srcRect b="0" l="8726" r="0" t="0"/>
          <a:stretch/>
        </p:blipFill>
        <p:spPr>
          <a:xfrm>
            <a:off x="0" y="282800"/>
            <a:ext cx="324275" cy="43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Content Highlight Layout ">
  <p:cSld name="5 Content Highlight Layout 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7"/>
          <p:cNvSpPr txBox="1"/>
          <p:nvPr/>
        </p:nvSpPr>
        <p:spPr>
          <a:xfrm>
            <a:off x="236762" y="4805319"/>
            <a:ext cx="42864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Confidential and Proprietary. Do not distribute without Couchbase consent. © Couchbase </a:t>
            </a:r>
            <a:r>
              <a:rPr lang="en" sz="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2025</a:t>
            </a: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All rights reserved. </a:t>
            </a:r>
            <a:endParaRPr b="0" i="0" sz="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87" name="Google Shape;287;p37"/>
          <p:cNvCxnSpPr/>
          <p:nvPr/>
        </p:nvCxnSpPr>
        <p:spPr>
          <a:xfrm>
            <a:off x="1125132" y="1503593"/>
            <a:ext cx="0" cy="880684"/>
          </a:xfrm>
          <a:prstGeom prst="straightConnector1">
            <a:avLst/>
          </a:prstGeom>
          <a:noFill/>
          <a:ln cap="flat" cmpd="sng" w="76200">
            <a:solidFill>
              <a:srgbClr val="FFF0DB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8" name="Google Shape;288;p37"/>
          <p:cNvCxnSpPr/>
          <p:nvPr/>
        </p:nvCxnSpPr>
        <p:spPr>
          <a:xfrm>
            <a:off x="3697385" y="1503593"/>
            <a:ext cx="0" cy="880684"/>
          </a:xfrm>
          <a:prstGeom prst="straightConnector1">
            <a:avLst/>
          </a:prstGeom>
          <a:noFill/>
          <a:ln cap="flat" cmpd="sng" w="76200">
            <a:solidFill>
              <a:srgbClr val="FFF0DB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9" name="Google Shape;289;p37"/>
          <p:cNvCxnSpPr/>
          <p:nvPr/>
        </p:nvCxnSpPr>
        <p:spPr>
          <a:xfrm>
            <a:off x="6269637" y="1503593"/>
            <a:ext cx="0" cy="880684"/>
          </a:xfrm>
          <a:prstGeom prst="straightConnector1">
            <a:avLst/>
          </a:prstGeom>
          <a:noFill/>
          <a:ln cap="flat" cmpd="sng" w="76200">
            <a:solidFill>
              <a:srgbClr val="FFF0DB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0" name="Google Shape;290;p37"/>
          <p:cNvCxnSpPr/>
          <p:nvPr/>
        </p:nvCxnSpPr>
        <p:spPr>
          <a:xfrm>
            <a:off x="2409527" y="3115026"/>
            <a:ext cx="0" cy="880685"/>
          </a:xfrm>
          <a:prstGeom prst="straightConnector1">
            <a:avLst/>
          </a:prstGeom>
          <a:noFill/>
          <a:ln cap="flat" cmpd="sng" w="76200">
            <a:solidFill>
              <a:srgbClr val="FFF0DB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1" name="Google Shape;291;p37"/>
          <p:cNvCxnSpPr/>
          <p:nvPr/>
        </p:nvCxnSpPr>
        <p:spPr>
          <a:xfrm>
            <a:off x="4978316" y="3115026"/>
            <a:ext cx="0" cy="880685"/>
          </a:xfrm>
          <a:prstGeom prst="straightConnector1">
            <a:avLst/>
          </a:prstGeom>
          <a:noFill/>
          <a:ln cap="flat" cmpd="sng" w="76200">
            <a:solidFill>
              <a:srgbClr val="FFF0D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2" name="Google Shape;292;p37"/>
          <p:cNvSpPr txBox="1"/>
          <p:nvPr>
            <p:ph idx="1" type="body"/>
          </p:nvPr>
        </p:nvSpPr>
        <p:spPr>
          <a:xfrm>
            <a:off x="1180422" y="1411237"/>
            <a:ext cx="2510084" cy="8629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3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293" name="Google Shape;293;p37"/>
          <p:cNvPicPr preferRelativeResize="0"/>
          <p:nvPr/>
        </p:nvPicPr>
        <p:blipFill rotWithShape="1">
          <a:blip r:embed="rId2">
            <a:alphaModFix/>
          </a:blip>
          <a:srcRect b="0" l="0" r="76885" t="0"/>
          <a:stretch/>
        </p:blipFill>
        <p:spPr>
          <a:xfrm>
            <a:off x="8611316" y="4747501"/>
            <a:ext cx="251817" cy="248342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7"/>
          <p:cNvSpPr txBox="1"/>
          <p:nvPr>
            <p:ph idx="2" type="body"/>
          </p:nvPr>
        </p:nvSpPr>
        <p:spPr>
          <a:xfrm>
            <a:off x="3757368" y="1411237"/>
            <a:ext cx="2510084" cy="8629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3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95" name="Google Shape;295;p37"/>
          <p:cNvSpPr txBox="1"/>
          <p:nvPr>
            <p:ph idx="3" type="body"/>
          </p:nvPr>
        </p:nvSpPr>
        <p:spPr>
          <a:xfrm>
            <a:off x="6320460" y="1411237"/>
            <a:ext cx="2510083" cy="8629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3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96" name="Google Shape;296;p37"/>
          <p:cNvSpPr txBox="1"/>
          <p:nvPr>
            <p:ph idx="4" type="body"/>
          </p:nvPr>
        </p:nvSpPr>
        <p:spPr>
          <a:xfrm>
            <a:off x="2461968" y="3039146"/>
            <a:ext cx="2510084" cy="8629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3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97" name="Google Shape;297;p37"/>
          <p:cNvSpPr txBox="1"/>
          <p:nvPr>
            <p:ph idx="5" type="body"/>
          </p:nvPr>
        </p:nvSpPr>
        <p:spPr>
          <a:xfrm>
            <a:off x="5031987" y="3039146"/>
            <a:ext cx="2510084" cy="8629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3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98" name="Google Shape;298;p37"/>
          <p:cNvSpPr/>
          <p:nvPr/>
        </p:nvSpPr>
        <p:spPr>
          <a:xfrm>
            <a:off x="8859739" y="4766977"/>
            <a:ext cx="264616" cy="207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600" u="none" cap="none" strike="noStrike">
              <a:solidFill>
                <a:srgbClr val="A5A5A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9" name="Google Shape;299;p37"/>
          <p:cNvSpPr txBox="1"/>
          <p:nvPr>
            <p:ph type="title"/>
          </p:nvPr>
        </p:nvSpPr>
        <p:spPr>
          <a:xfrm>
            <a:off x="448784" y="125962"/>
            <a:ext cx="8372475" cy="59236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pen Sans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300" name="Google Shape;300;p37"/>
          <p:cNvPicPr preferRelativeResize="0"/>
          <p:nvPr/>
        </p:nvPicPr>
        <p:blipFill rotWithShape="1">
          <a:blip r:embed="rId3">
            <a:alphaModFix/>
          </a:blip>
          <a:srcRect b="0" l="8726" r="0" t="0"/>
          <a:stretch/>
        </p:blipFill>
        <p:spPr>
          <a:xfrm>
            <a:off x="0" y="282800"/>
            <a:ext cx="324275" cy="43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Content Highlight Layout ">
  <p:cSld name="1_5 Content Highlight Layout 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 txBox="1"/>
          <p:nvPr/>
        </p:nvSpPr>
        <p:spPr>
          <a:xfrm>
            <a:off x="236762" y="4805319"/>
            <a:ext cx="42864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Confidential and Proprietary. Do not distribute without Couchbase consent. © Couchbase </a:t>
            </a:r>
            <a:r>
              <a:rPr lang="en" sz="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2025</a:t>
            </a: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All rights reserved. </a:t>
            </a:r>
            <a:endParaRPr b="0" i="0" sz="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03" name="Google Shape;303;p38"/>
          <p:cNvPicPr preferRelativeResize="0"/>
          <p:nvPr/>
        </p:nvPicPr>
        <p:blipFill rotWithShape="1">
          <a:blip r:embed="rId2">
            <a:alphaModFix/>
          </a:blip>
          <a:srcRect b="0" l="0" r="76885" t="0"/>
          <a:stretch/>
        </p:blipFill>
        <p:spPr>
          <a:xfrm>
            <a:off x="8611316" y="4747501"/>
            <a:ext cx="251817" cy="248342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8"/>
          <p:cNvSpPr/>
          <p:nvPr/>
        </p:nvSpPr>
        <p:spPr>
          <a:xfrm>
            <a:off x="8859739" y="4766977"/>
            <a:ext cx="264616" cy="207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600" u="none" cap="none" strike="noStrike">
              <a:solidFill>
                <a:srgbClr val="A5A5A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5" name="Google Shape;305;p38"/>
          <p:cNvSpPr txBox="1"/>
          <p:nvPr>
            <p:ph type="title"/>
          </p:nvPr>
        </p:nvSpPr>
        <p:spPr>
          <a:xfrm>
            <a:off x="448784" y="125962"/>
            <a:ext cx="8372475" cy="59236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pen Sans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306" name="Google Shape;306;p38"/>
          <p:cNvPicPr preferRelativeResize="0"/>
          <p:nvPr/>
        </p:nvPicPr>
        <p:blipFill rotWithShape="1">
          <a:blip r:embed="rId3">
            <a:alphaModFix/>
          </a:blip>
          <a:srcRect b="0" l="8726" r="0" t="0"/>
          <a:stretch/>
        </p:blipFill>
        <p:spPr>
          <a:xfrm>
            <a:off x="0" y="282800"/>
            <a:ext cx="324275" cy="43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low Graphic">
  <p:cSld name="1_Flow Graphic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9"/>
          <p:cNvSpPr txBox="1"/>
          <p:nvPr>
            <p:ph idx="1" type="body"/>
          </p:nvPr>
        </p:nvSpPr>
        <p:spPr>
          <a:xfrm>
            <a:off x="632423" y="3926539"/>
            <a:ext cx="2551649" cy="457049"/>
          </a:xfrm>
          <a:prstGeom prst="rect">
            <a:avLst/>
          </a:prstGeom>
          <a:noFill/>
          <a:ln>
            <a:noFill/>
          </a:ln>
        </p:spPr>
        <p:txBody>
          <a:bodyPr anchorCtr="0" anchor="t" bIns="20575" lIns="20575" spcFirstLastPara="1" rIns="20575" wrap="square" tIns="20575">
            <a:sp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309" name="Google Shape;309;p39"/>
          <p:cNvSpPr txBox="1"/>
          <p:nvPr>
            <p:ph idx="2" type="body"/>
          </p:nvPr>
        </p:nvSpPr>
        <p:spPr>
          <a:xfrm>
            <a:off x="5966927" y="3926539"/>
            <a:ext cx="2551649" cy="457049"/>
          </a:xfrm>
          <a:prstGeom prst="rect">
            <a:avLst/>
          </a:prstGeom>
          <a:noFill/>
          <a:ln>
            <a:noFill/>
          </a:ln>
        </p:spPr>
        <p:txBody>
          <a:bodyPr anchorCtr="0" anchor="t" bIns="20575" lIns="20575" spcFirstLastPara="1" rIns="20575" wrap="square" tIns="20575">
            <a:sp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310" name="Google Shape;310;p39"/>
          <p:cNvSpPr txBox="1"/>
          <p:nvPr>
            <p:ph idx="3" type="body"/>
          </p:nvPr>
        </p:nvSpPr>
        <p:spPr>
          <a:xfrm>
            <a:off x="3296176" y="3926539"/>
            <a:ext cx="2551649" cy="457049"/>
          </a:xfrm>
          <a:prstGeom prst="rect">
            <a:avLst/>
          </a:prstGeom>
          <a:noFill/>
          <a:ln>
            <a:noFill/>
          </a:ln>
        </p:spPr>
        <p:txBody>
          <a:bodyPr anchorCtr="0" anchor="t" bIns="20575" lIns="20575" spcFirstLastPara="1" rIns="20575" wrap="square" tIns="20575">
            <a:sp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311" name="Google Shape;311;p39"/>
          <p:cNvSpPr/>
          <p:nvPr/>
        </p:nvSpPr>
        <p:spPr>
          <a:xfrm>
            <a:off x="2896376" y="2112521"/>
            <a:ext cx="691237" cy="8294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2" name="Google Shape;312;p39"/>
          <p:cNvSpPr txBox="1"/>
          <p:nvPr/>
        </p:nvSpPr>
        <p:spPr>
          <a:xfrm>
            <a:off x="236762" y="4805319"/>
            <a:ext cx="42864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Confidential and Proprietary. Do not distribute without Couchbase consent. © Couchbase </a:t>
            </a:r>
            <a:r>
              <a:rPr lang="en" sz="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2025</a:t>
            </a: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All rights reserved. </a:t>
            </a:r>
            <a:endParaRPr b="0" i="0" sz="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13" name="Google Shape;313;p39"/>
          <p:cNvPicPr preferRelativeResize="0"/>
          <p:nvPr/>
        </p:nvPicPr>
        <p:blipFill rotWithShape="1">
          <a:blip r:embed="rId2">
            <a:alphaModFix/>
          </a:blip>
          <a:srcRect b="0" l="0" r="76885" t="0"/>
          <a:stretch/>
        </p:blipFill>
        <p:spPr>
          <a:xfrm>
            <a:off x="8611316" y="4747501"/>
            <a:ext cx="251817" cy="248342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9"/>
          <p:cNvSpPr/>
          <p:nvPr/>
        </p:nvSpPr>
        <p:spPr>
          <a:xfrm>
            <a:off x="8859739" y="4766977"/>
            <a:ext cx="264616" cy="207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600" u="none" cap="none" strike="noStrike">
              <a:solidFill>
                <a:srgbClr val="A5A5A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5" name="Google Shape;315;p39"/>
          <p:cNvSpPr txBox="1"/>
          <p:nvPr>
            <p:ph type="title"/>
          </p:nvPr>
        </p:nvSpPr>
        <p:spPr>
          <a:xfrm>
            <a:off x="448784" y="125962"/>
            <a:ext cx="8372475" cy="59236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pen Sans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316" name="Google Shape;31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23" y="2293580"/>
            <a:ext cx="2551649" cy="1277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5086" y="3362636"/>
            <a:ext cx="212326" cy="457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6176" y="2293580"/>
            <a:ext cx="2551648" cy="1277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8839" y="3362636"/>
            <a:ext cx="212326" cy="457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4457" y="2309522"/>
            <a:ext cx="2551648" cy="1277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27119" y="3378579"/>
            <a:ext cx="212326" cy="457049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9"/>
          <p:cNvSpPr/>
          <p:nvPr/>
        </p:nvSpPr>
        <p:spPr>
          <a:xfrm>
            <a:off x="920118" y="1248832"/>
            <a:ext cx="1976258" cy="1976258"/>
          </a:xfrm>
          <a:prstGeom prst="ellipse">
            <a:avLst/>
          </a:prstGeom>
          <a:noFill/>
          <a:ln cap="flat" cmpd="sng" w="984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9"/>
          <p:cNvSpPr/>
          <p:nvPr/>
        </p:nvSpPr>
        <p:spPr>
          <a:xfrm>
            <a:off x="5554964" y="2112521"/>
            <a:ext cx="691237" cy="8294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4" name="Google Shape;324;p39"/>
          <p:cNvSpPr/>
          <p:nvPr/>
        </p:nvSpPr>
        <p:spPr>
          <a:xfrm>
            <a:off x="3587613" y="1248832"/>
            <a:ext cx="1976258" cy="1976258"/>
          </a:xfrm>
          <a:prstGeom prst="ellipse">
            <a:avLst/>
          </a:prstGeom>
          <a:noFill/>
          <a:ln cap="flat" cmpd="sng" w="984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9"/>
          <p:cNvSpPr/>
          <p:nvPr/>
        </p:nvSpPr>
        <p:spPr>
          <a:xfrm>
            <a:off x="6258455" y="1248832"/>
            <a:ext cx="1976258" cy="1976258"/>
          </a:xfrm>
          <a:prstGeom prst="ellipse">
            <a:avLst/>
          </a:prstGeom>
          <a:noFill/>
          <a:ln cap="flat" cmpd="sng" w="984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9"/>
          <p:cNvSpPr txBox="1"/>
          <p:nvPr>
            <p:ph idx="4" type="body"/>
          </p:nvPr>
        </p:nvSpPr>
        <p:spPr>
          <a:xfrm>
            <a:off x="938192" y="1469083"/>
            <a:ext cx="1634131" cy="8629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b="1" i="0" sz="34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327" name="Google Shape;327;p39"/>
          <p:cNvSpPr txBox="1"/>
          <p:nvPr>
            <p:ph idx="5" type="body"/>
          </p:nvPr>
        </p:nvSpPr>
        <p:spPr>
          <a:xfrm>
            <a:off x="3743737" y="1469083"/>
            <a:ext cx="1634131" cy="8629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b="1" i="0" sz="34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328" name="Google Shape;328;p39"/>
          <p:cNvSpPr txBox="1"/>
          <p:nvPr>
            <p:ph idx="6" type="body"/>
          </p:nvPr>
        </p:nvSpPr>
        <p:spPr>
          <a:xfrm>
            <a:off x="6406778" y="1469083"/>
            <a:ext cx="1634131" cy="8629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b="1" i="0" sz="34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None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329" name="Google Shape;329;p39"/>
          <p:cNvPicPr preferRelativeResize="0"/>
          <p:nvPr/>
        </p:nvPicPr>
        <p:blipFill rotWithShape="1">
          <a:blip r:embed="rId5">
            <a:alphaModFix/>
          </a:blip>
          <a:srcRect b="0" l="8726" r="0" t="0"/>
          <a:stretch/>
        </p:blipFill>
        <p:spPr>
          <a:xfrm>
            <a:off x="0" y="282800"/>
            <a:ext cx="324275" cy="43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180">
          <p15:clr>
            <a:srgbClr val="5ACBF0"/>
          </p15:clr>
        </p15:guide>
        <p15:guide id="2" pos="5580">
          <p15:clr>
            <a:srgbClr val="5ACBF0"/>
          </p15:clr>
        </p15:guide>
        <p15:guide id="3" orient="horz" pos="756">
          <p15:clr>
            <a:srgbClr val="5ACBF0"/>
          </p15:clr>
        </p15:guide>
        <p15:guide id="4" orient="horz" pos="2916">
          <p15:clr>
            <a:srgbClr val="5ACBF0"/>
          </p15:clr>
        </p15:guide>
        <p15:guide id="5" orient="horz" pos="3068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ecute the Plan">
  <p:cSld name="Execute the Plan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0"/>
          <p:cNvSpPr txBox="1"/>
          <p:nvPr>
            <p:ph idx="1" type="body"/>
          </p:nvPr>
        </p:nvSpPr>
        <p:spPr>
          <a:xfrm>
            <a:off x="1200666" y="2171451"/>
            <a:ext cx="1600430" cy="1397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332" name="Google Shape;332;p40"/>
          <p:cNvSpPr txBox="1"/>
          <p:nvPr>
            <p:ph idx="2" type="body"/>
          </p:nvPr>
        </p:nvSpPr>
        <p:spPr>
          <a:xfrm>
            <a:off x="4628825" y="2171451"/>
            <a:ext cx="1600429" cy="1397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333" name="Google Shape;333;p40"/>
          <p:cNvSpPr txBox="1"/>
          <p:nvPr>
            <p:ph idx="3" type="body"/>
          </p:nvPr>
        </p:nvSpPr>
        <p:spPr>
          <a:xfrm>
            <a:off x="2914745" y="2171451"/>
            <a:ext cx="1600429" cy="1397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334" name="Google Shape;334;p40"/>
          <p:cNvSpPr txBox="1"/>
          <p:nvPr>
            <p:ph idx="4" type="body"/>
          </p:nvPr>
        </p:nvSpPr>
        <p:spPr>
          <a:xfrm>
            <a:off x="6342904" y="2171451"/>
            <a:ext cx="1600429" cy="1397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335" name="Google Shape;335;p40"/>
          <p:cNvSpPr txBox="1"/>
          <p:nvPr>
            <p:ph idx="5" type="body"/>
          </p:nvPr>
        </p:nvSpPr>
        <p:spPr>
          <a:xfrm>
            <a:off x="1200666" y="3916263"/>
            <a:ext cx="6742668" cy="41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2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85750" lvl="1" marL="9144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–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79400" lvl="3" marL="18288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336" name="Google Shape;336;p40"/>
          <p:cNvSpPr/>
          <p:nvPr/>
        </p:nvSpPr>
        <p:spPr>
          <a:xfrm>
            <a:off x="1573718" y="1208438"/>
            <a:ext cx="854325" cy="8543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1</a:t>
            </a:r>
            <a:endParaRPr b="1" i="0" sz="2300" u="none" cap="none" strike="noStrike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337" name="Google Shape;337;p40"/>
          <p:cNvSpPr/>
          <p:nvPr/>
        </p:nvSpPr>
        <p:spPr>
          <a:xfrm>
            <a:off x="3287798" y="1208438"/>
            <a:ext cx="854325" cy="8543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2</a:t>
            </a:r>
            <a:endParaRPr b="1" i="0" sz="2300" u="none" cap="none" strike="noStrike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338" name="Google Shape;338;p40"/>
          <p:cNvSpPr/>
          <p:nvPr/>
        </p:nvSpPr>
        <p:spPr>
          <a:xfrm>
            <a:off x="5001877" y="1208438"/>
            <a:ext cx="854325" cy="8543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3</a:t>
            </a:r>
            <a:endParaRPr b="1" i="0" sz="2300" u="none" cap="none" strike="noStrike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339" name="Google Shape;339;p40"/>
          <p:cNvSpPr/>
          <p:nvPr/>
        </p:nvSpPr>
        <p:spPr>
          <a:xfrm>
            <a:off x="6715956" y="1208438"/>
            <a:ext cx="854325" cy="8543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4</a:t>
            </a:r>
            <a:endParaRPr b="1" i="0" sz="2300" u="none" cap="none" strike="noStrike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340" name="Google Shape;340;p40"/>
          <p:cNvSpPr txBox="1"/>
          <p:nvPr/>
        </p:nvSpPr>
        <p:spPr>
          <a:xfrm>
            <a:off x="236762" y="4805319"/>
            <a:ext cx="42864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Confidential and Proprietary. Do not distribute without Couchbase consent. © Couchbase </a:t>
            </a:r>
            <a:r>
              <a:rPr lang="en" sz="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2025</a:t>
            </a: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All rights reserved. </a:t>
            </a:r>
            <a:endParaRPr b="0" i="0" sz="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41" name="Google Shape;341;p40"/>
          <p:cNvPicPr preferRelativeResize="0"/>
          <p:nvPr/>
        </p:nvPicPr>
        <p:blipFill rotWithShape="1">
          <a:blip r:embed="rId2">
            <a:alphaModFix/>
          </a:blip>
          <a:srcRect b="0" l="0" r="76885" t="0"/>
          <a:stretch/>
        </p:blipFill>
        <p:spPr>
          <a:xfrm>
            <a:off x="8611316" y="4747501"/>
            <a:ext cx="251817" cy="24834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2" name="Google Shape;342;p40"/>
          <p:cNvCxnSpPr/>
          <p:nvPr/>
        </p:nvCxnSpPr>
        <p:spPr>
          <a:xfrm>
            <a:off x="1201293" y="3735288"/>
            <a:ext cx="6741414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3" name="Google Shape;343;p40"/>
          <p:cNvSpPr/>
          <p:nvPr/>
        </p:nvSpPr>
        <p:spPr>
          <a:xfrm>
            <a:off x="2698160" y="1553773"/>
            <a:ext cx="319520" cy="16365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4" name="Google Shape;344;p40"/>
          <p:cNvSpPr/>
          <p:nvPr/>
        </p:nvSpPr>
        <p:spPr>
          <a:xfrm>
            <a:off x="4412240" y="1553773"/>
            <a:ext cx="319520" cy="16365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5" name="Google Shape;345;p40"/>
          <p:cNvSpPr/>
          <p:nvPr/>
        </p:nvSpPr>
        <p:spPr>
          <a:xfrm>
            <a:off x="6126319" y="1553773"/>
            <a:ext cx="319520" cy="16365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6" name="Google Shape;346;p40"/>
          <p:cNvSpPr/>
          <p:nvPr/>
        </p:nvSpPr>
        <p:spPr>
          <a:xfrm>
            <a:off x="4628825" y="2168842"/>
            <a:ext cx="1600429" cy="6858"/>
          </a:xfrm>
          <a:prstGeom prst="rect">
            <a:avLst/>
          </a:prstGeom>
          <a:gradFill>
            <a:gsLst>
              <a:gs pos="0">
                <a:srgbClr val="E5E5E5">
                  <a:alpha val="0"/>
                </a:srgbClr>
              </a:gs>
              <a:gs pos="25000">
                <a:srgbClr val="E5E5E5"/>
              </a:gs>
              <a:gs pos="74000">
                <a:srgbClr val="E5E5E5"/>
              </a:gs>
              <a:gs pos="100000">
                <a:srgbClr val="E5E5E5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7" name="Google Shape;347;p40"/>
          <p:cNvSpPr/>
          <p:nvPr/>
        </p:nvSpPr>
        <p:spPr>
          <a:xfrm>
            <a:off x="6354919" y="2168842"/>
            <a:ext cx="1600429" cy="6858"/>
          </a:xfrm>
          <a:prstGeom prst="rect">
            <a:avLst/>
          </a:prstGeom>
          <a:gradFill>
            <a:gsLst>
              <a:gs pos="0">
                <a:srgbClr val="E5E5E5">
                  <a:alpha val="0"/>
                </a:srgbClr>
              </a:gs>
              <a:gs pos="25000">
                <a:srgbClr val="E5E5E5"/>
              </a:gs>
              <a:gs pos="74000">
                <a:srgbClr val="E5E5E5"/>
              </a:gs>
              <a:gs pos="100000">
                <a:srgbClr val="E5E5E5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8" name="Google Shape;348;p40"/>
          <p:cNvSpPr/>
          <p:nvPr/>
        </p:nvSpPr>
        <p:spPr>
          <a:xfrm>
            <a:off x="2935444" y="2168842"/>
            <a:ext cx="1600429" cy="6858"/>
          </a:xfrm>
          <a:prstGeom prst="rect">
            <a:avLst/>
          </a:prstGeom>
          <a:gradFill>
            <a:gsLst>
              <a:gs pos="0">
                <a:srgbClr val="E5E5E5">
                  <a:alpha val="0"/>
                </a:srgbClr>
              </a:gs>
              <a:gs pos="25000">
                <a:srgbClr val="E5E5E5"/>
              </a:gs>
              <a:gs pos="74000">
                <a:srgbClr val="E5E5E5"/>
              </a:gs>
              <a:gs pos="100000">
                <a:srgbClr val="E5E5E5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9" name="Google Shape;349;p40"/>
          <p:cNvSpPr/>
          <p:nvPr/>
        </p:nvSpPr>
        <p:spPr>
          <a:xfrm>
            <a:off x="1211189" y="2168842"/>
            <a:ext cx="1600430" cy="6858"/>
          </a:xfrm>
          <a:prstGeom prst="rect">
            <a:avLst/>
          </a:prstGeom>
          <a:gradFill>
            <a:gsLst>
              <a:gs pos="0">
                <a:srgbClr val="E5E5E5">
                  <a:alpha val="0"/>
                </a:srgbClr>
              </a:gs>
              <a:gs pos="25000">
                <a:srgbClr val="E5E5E5"/>
              </a:gs>
              <a:gs pos="74000">
                <a:srgbClr val="E5E5E5"/>
              </a:gs>
              <a:gs pos="100000">
                <a:srgbClr val="E5E5E5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0" name="Google Shape;350;p40"/>
          <p:cNvSpPr/>
          <p:nvPr/>
        </p:nvSpPr>
        <p:spPr>
          <a:xfrm>
            <a:off x="8859739" y="4766977"/>
            <a:ext cx="264616" cy="207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600" u="none" cap="none" strike="noStrike">
              <a:solidFill>
                <a:srgbClr val="A5A5A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1" name="Google Shape;351;p40"/>
          <p:cNvSpPr txBox="1"/>
          <p:nvPr>
            <p:ph type="title"/>
          </p:nvPr>
        </p:nvSpPr>
        <p:spPr>
          <a:xfrm>
            <a:off x="448784" y="125962"/>
            <a:ext cx="8372475" cy="59236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pen Sans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352" name="Google Shape;352;p40"/>
          <p:cNvPicPr preferRelativeResize="0"/>
          <p:nvPr/>
        </p:nvPicPr>
        <p:blipFill rotWithShape="1">
          <a:blip r:embed="rId3">
            <a:alphaModFix/>
          </a:blip>
          <a:srcRect b="0" l="8726" r="0" t="0"/>
          <a:stretch/>
        </p:blipFill>
        <p:spPr>
          <a:xfrm>
            <a:off x="0" y="282800"/>
            <a:ext cx="324275" cy="43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180">
          <p15:clr>
            <a:srgbClr val="5ACBF0"/>
          </p15:clr>
        </p15:guide>
        <p15:guide id="2" pos="5580">
          <p15:clr>
            <a:srgbClr val="5ACBF0"/>
          </p15:clr>
        </p15:guide>
        <p15:guide id="3" orient="horz" pos="756">
          <p15:clr>
            <a:srgbClr val="5ACBF0"/>
          </p15:clr>
        </p15:guide>
        <p15:guide id="4" orient="horz" pos="2916">
          <p15:clr>
            <a:srgbClr val="5ACBF0"/>
          </p15:clr>
        </p15:guide>
        <p15:guide id="5" orient="horz" pos="3068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/subtitle">
  <p:cSld name="Title only w/subtitle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1"/>
          <p:cNvSpPr txBox="1"/>
          <p:nvPr/>
        </p:nvSpPr>
        <p:spPr>
          <a:xfrm>
            <a:off x="236762" y="4805319"/>
            <a:ext cx="42864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Confidential and Proprietary. Do not distribute without Couchbase consent. © Couchbase </a:t>
            </a:r>
            <a:r>
              <a:rPr lang="en" sz="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2025</a:t>
            </a: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All rights reserved. </a:t>
            </a:r>
            <a:endParaRPr b="0" i="0" sz="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55" name="Google Shape;355;p41"/>
          <p:cNvPicPr preferRelativeResize="0"/>
          <p:nvPr/>
        </p:nvPicPr>
        <p:blipFill rotWithShape="1">
          <a:blip r:embed="rId2">
            <a:alphaModFix/>
          </a:blip>
          <a:srcRect b="0" l="0" r="76885" t="0"/>
          <a:stretch/>
        </p:blipFill>
        <p:spPr>
          <a:xfrm>
            <a:off x="8611316" y="4747501"/>
            <a:ext cx="251817" cy="248342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41"/>
          <p:cNvSpPr/>
          <p:nvPr/>
        </p:nvSpPr>
        <p:spPr>
          <a:xfrm>
            <a:off x="8859739" y="4766977"/>
            <a:ext cx="264616" cy="207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600" u="none" cap="none" strike="noStrike">
              <a:solidFill>
                <a:srgbClr val="A5A5A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7" name="Google Shape;357;p41"/>
          <p:cNvSpPr txBox="1"/>
          <p:nvPr>
            <p:ph type="title"/>
          </p:nvPr>
        </p:nvSpPr>
        <p:spPr>
          <a:xfrm>
            <a:off x="448784" y="125962"/>
            <a:ext cx="8372475" cy="59236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pen Sans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358" name="Google Shape;358;p41"/>
          <p:cNvPicPr preferRelativeResize="0"/>
          <p:nvPr/>
        </p:nvPicPr>
        <p:blipFill rotWithShape="1">
          <a:blip r:embed="rId3">
            <a:alphaModFix/>
          </a:blip>
          <a:srcRect b="0" l="8726" r="0" t="0"/>
          <a:stretch/>
        </p:blipFill>
        <p:spPr>
          <a:xfrm>
            <a:off x="0" y="282800"/>
            <a:ext cx="324275" cy="43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180">
          <p15:clr>
            <a:srgbClr val="5ACBF0"/>
          </p15:clr>
        </p15:guide>
        <p15:guide id="2" pos="5580">
          <p15:clr>
            <a:srgbClr val="5ACBF0"/>
          </p15:clr>
        </p15:guide>
        <p15:guide id="3" orient="horz" pos="756">
          <p15:clr>
            <a:srgbClr val="5ACBF0"/>
          </p15:clr>
        </p15:guide>
        <p15:guide id="4" orient="horz" pos="2916">
          <p15:clr>
            <a:srgbClr val="5ACBF0"/>
          </p15:clr>
        </p15:guide>
        <p15:guide id="5" orient="horz" pos="3068">
          <p15:clr>
            <a:srgbClr val="5ACBF0"/>
          </p15:clr>
        </p15:guide>
        <p15:guide id="6" orient="horz" pos="450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Layout">
  <p:cSld name="Blank Layout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2"/>
          <p:cNvSpPr txBox="1"/>
          <p:nvPr/>
        </p:nvSpPr>
        <p:spPr>
          <a:xfrm>
            <a:off x="236762" y="4805319"/>
            <a:ext cx="42864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Confidential and Proprietary. Do not distribute without Couchbase consent. © Couchbase </a:t>
            </a:r>
            <a:r>
              <a:rPr lang="en" sz="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2025</a:t>
            </a:r>
            <a:r>
              <a:rPr b="0" i="0" lang="en" sz="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All rights reserved. </a:t>
            </a:r>
            <a:endParaRPr b="0" i="0" sz="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1" name="Google Shape;361;p42"/>
          <p:cNvSpPr/>
          <p:nvPr/>
        </p:nvSpPr>
        <p:spPr>
          <a:xfrm>
            <a:off x="8859739" y="4766977"/>
            <a:ext cx="264616" cy="207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600" u="none" cap="none" strike="noStrike">
              <a:solidFill>
                <a:srgbClr val="A5A5A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62" name="Google Shape;362;p42"/>
          <p:cNvPicPr preferRelativeResize="0"/>
          <p:nvPr/>
        </p:nvPicPr>
        <p:blipFill rotWithShape="1">
          <a:blip r:embed="rId2">
            <a:alphaModFix/>
          </a:blip>
          <a:srcRect b="0" l="0" r="76885" t="0"/>
          <a:stretch/>
        </p:blipFill>
        <p:spPr>
          <a:xfrm>
            <a:off x="8611316" y="4747501"/>
            <a:ext cx="251817" cy="248342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42"/>
          <p:cNvSpPr txBox="1"/>
          <p:nvPr>
            <p:ph type="title"/>
          </p:nvPr>
        </p:nvSpPr>
        <p:spPr>
          <a:xfrm>
            <a:off x="448784" y="125962"/>
            <a:ext cx="8372475" cy="59236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342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pen Sans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33.xml"/><Relationship Id="rId23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35.xml"/><Relationship Id="rId25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37.xml"/><Relationship Id="rId27" Type="http://schemas.openxmlformats.org/officeDocument/2006/relationships/slideLayout" Target="../slideLayouts/slideLayout38.xml"/><Relationship Id="rId28" Type="http://schemas.openxmlformats.org/officeDocument/2006/relationships/slideLayout" Target="../slideLayouts/slideLayout39.xml"/><Relationship Id="rId29" Type="http://schemas.openxmlformats.org/officeDocument/2006/relationships/slideLayout" Target="../slideLayouts/slideLayout40.xml"/><Relationship Id="rId3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274445" y="633889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342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b="1" i="0" sz="30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5454">
          <p15:clr>
            <a:srgbClr val="F26B43"/>
          </p15:clr>
        </p15:guide>
        <p15:guide id="4" pos="30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l"/>
            <a:r>
              <a:rPr sz="3200" b="1">
                <a:solidFill>
                  <a:srgbClr val="000000"/>
                </a:solidFill>
                <a:latin typeface="Open Sans"/>
              </a:rPr>
              <a:t>Build an Offline AI Desktop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/>
            <a:r>
              <a:rPr sz="1400">
                <a:solidFill>
                  <a:srgbClr val="595959"/>
                </a:solidFill>
                <a:latin typeface="Open Sans"/>
              </a:rPr>
              <a:t>Tauri  ·  LiteRT  ·  Couchbase Lite
Developer Workshop  —  61 slides  ·  9 parts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310896" y="4114800"/>
            <a:ext cx="2560320" cy="347472"/>
          </a:xfrm>
          <a:prstGeom prst="rect">
            <a:avLst/>
          </a:prstGeom>
          <a:solidFill>
            <a:srgbClr val="FC9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41148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Open Sans"/>
              </a:rPr>
              <a:t>Tauri v2</a:t>
            </a:r>
          </a:p>
        </p:txBody>
      </p:sp>
      <p:sp>
        <p:nvSpPr>
          <p:cNvPr id="7" name="Rectangle 6"/>
          <p:cNvSpPr/>
          <p:nvPr/>
        </p:nvSpPr>
        <p:spPr>
          <a:xfrm>
            <a:off x="3145536" y="4114800"/>
            <a:ext cx="2560320" cy="347472"/>
          </a:xfrm>
          <a:prstGeom prst="rect">
            <a:avLst/>
          </a:prstGeom>
          <a:solidFill>
            <a:srgbClr val="BA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18688" y="41148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Open Sans"/>
              </a:rPr>
              <a:t>LiteRT-LM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0176" y="4114800"/>
            <a:ext cx="2560320" cy="347472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53328" y="41148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Open Sans"/>
              </a:rPr>
              <a:t>Couchbase 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000000"/>
                </a:solidFill>
                <a:latin typeface="Open Sans"/>
              </a:rPr>
              <a:t>Part 1
Introduction &amp; 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l"/>
            <a:r>
              <a:rPr sz="1400">
                <a:solidFill>
                  <a:srgbClr val="595959"/>
                </a:solidFill>
                <a:latin typeface="Open Sans"/>
              </a:rPr>
              <a:t>Slides 2–5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The Problem with Cloud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1371600"/>
            <a:ext cx="1828800" cy="502920"/>
          </a:xfrm>
          <a:prstGeom prst="rect">
            <a:avLst/>
          </a:prstGeom>
          <a:solidFill>
            <a:srgbClr val="FC9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1371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Open Sans"/>
              </a:rPr>
              <a:t>User query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371600"/>
            <a:ext cx="1828800" cy="50292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20440" y="1371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Open Sans"/>
              </a:rPr>
              <a:t>Cloud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371600"/>
            <a:ext cx="1828800" cy="502920"/>
          </a:xfrm>
          <a:prstGeom prst="rect">
            <a:avLst/>
          </a:prstGeom>
          <a:solidFill>
            <a:srgbClr val="BA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371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Open Sans"/>
              </a:rPr>
              <a:t>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32588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95959"/>
                </a:solidFill>
                <a:latin typeface="Open Sans"/>
              </a:rPr>
              <a:t>───►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32588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95959"/>
                </a:solidFill>
                <a:latin typeface="Open Sans"/>
              </a:rPr>
              <a:t>───►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C1218"/>
                </a:solidFill>
                <a:latin typeface="Open Sans"/>
              </a:rPr>
              <a:t>⚠  Your data leaves the machine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" y="2514600"/>
            <a:ext cx="837590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Open Sans"/>
              </a:rPr>
              <a:t>▸  Privacy — medical, legal, financial data cannot leave the device</a:t>
            </a:r>
          </a:p>
          <a:p>
            <a:r>
              <a:rPr sz="1400">
                <a:solidFill>
                  <a:srgbClr val="000000"/>
                </a:solidFill>
                <a:latin typeface="Open Sans"/>
              </a:rPr>
              <a:t>▸  Latency — 200–2000 ms round-trip to a remote datacenter</a:t>
            </a:r>
          </a:p>
          <a:p>
            <a:r>
              <a:rPr sz="1400">
                <a:solidFill>
                  <a:srgbClr val="000000"/>
                </a:solidFill>
                <a:latin typeface="Open Sans"/>
              </a:rPr>
              <a:t>▸  Cost — token pricing at scale (GPT-4o: ~$5 / M input tokens)</a:t>
            </a:r>
          </a:p>
          <a:p>
            <a:r>
              <a:rPr sz="1400">
                <a:solidFill>
                  <a:srgbClr val="000000"/>
                </a:solidFill>
                <a:latin typeface="Open Sans"/>
              </a:rPr>
              <a:t>▸  Availability — no network = no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The Solution: On-Device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1371600"/>
            <a:ext cx="1828800" cy="502920"/>
          </a:xfrm>
          <a:prstGeom prst="rect">
            <a:avLst/>
          </a:prstGeom>
          <a:solidFill>
            <a:srgbClr val="FC9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1371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Open Sans"/>
              </a:rPr>
              <a:t>User query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371600"/>
            <a:ext cx="1828800" cy="502920"/>
          </a:xfrm>
          <a:prstGeom prst="rect">
            <a:avLst/>
          </a:prstGeom>
          <a:solidFill>
            <a:srgbClr val="BA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20440" y="1371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Open Sans"/>
              </a:rPr>
              <a:t>Local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371600"/>
            <a:ext cx="1828800" cy="502920"/>
          </a:xfrm>
          <a:prstGeom prst="rect">
            <a:avLst/>
          </a:prstGeom>
          <a:solidFill>
            <a:srgbClr val="FC9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371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Open Sans"/>
              </a:rPr>
              <a:t>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32588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95959"/>
                </a:solidFill>
                <a:latin typeface="Open Sans"/>
              </a:rPr>
              <a:t>───►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32588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95959"/>
                </a:solidFill>
                <a:latin typeface="Open Sans"/>
              </a:rPr>
              <a:t>───►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A0E12"/>
                </a:solidFill>
                <a:latin typeface="Open Sans"/>
              </a:rPr>
              <a:t>✓  Data never leaves the device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" y="2514600"/>
            <a:ext cx="8375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C9C0C"/>
                </a:solidFill>
                <a:latin typeface="Open Sans"/>
              </a:rPr>
              <a:t>What we need: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" y="2834640"/>
            <a:ext cx="83759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Open Sans"/>
              </a:rPr>
              <a:t>▸  A runtime that executes quantized LLMs on CPU/GPU  →  LiteRT</a:t>
            </a:r>
          </a:p>
          <a:p>
            <a:r>
              <a:rPr sz="1400">
                <a:solidFill>
                  <a:srgbClr val="000000"/>
                </a:solidFill>
                <a:latin typeface="Open Sans"/>
              </a:rPr>
              <a:t>▸  A database that stores vectors and documents offline  →  Couchbase Lite</a:t>
            </a:r>
          </a:p>
          <a:p>
            <a:r>
              <a:rPr sz="1400">
                <a:solidFill>
                  <a:srgbClr val="000000"/>
                </a:solidFill>
                <a:latin typeface="Open Sans"/>
              </a:rPr>
              <a:t>▸  A shell that packages a web UI as a native desktop app  →  Tauri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What We’re Building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5029200" cy="658368"/>
          </a:xfrm>
          <a:prstGeom prst="rect">
            <a:avLst/>
          </a:prstGeom>
          <a:solidFill>
            <a:srgbClr val="FFF0DB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00000"/>
                </a:solidFill>
                <a:latin typeface="Open Sans"/>
              </a:rPr>
              <a:t>React UI  (Vite + TypeScript)</a:t>
            </a:r>
          </a:p>
          <a:p>
            <a:pPr algn="ctr"/>
            <a:r>
              <a:rPr sz="900">
                <a:solidFill>
                  <a:srgbClr val="595959"/>
                </a:solidFill>
                <a:latin typeface="Open Sans"/>
              </a:rPr>
              <a:t>Chat · Knowledge · Model manager ·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6" y="1645920"/>
            <a:ext cx="5029200" cy="658368"/>
          </a:xfrm>
          <a:prstGeom prst="rect">
            <a:avLst/>
          </a:prstGeom>
          <a:solidFill>
            <a:srgbClr val="EC121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Open Sans"/>
              </a:rPr>
              <a:t>Tauri v2 IPC bridge</a:t>
            </a:r>
          </a:p>
          <a:p>
            <a:pPr algn="ctr"/>
            <a:r>
              <a:rPr sz="900">
                <a:solidFill>
                  <a:srgbClr val="595959"/>
                </a:solidFill>
                <a:latin typeface="Open Sans"/>
              </a:rPr>
              <a:t>JSON over postMessage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" y="2377440"/>
            <a:ext cx="2423160" cy="65836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00000"/>
                </a:solidFill>
                <a:latin typeface="Open Sans"/>
              </a:rPr>
              <a:t>tauri-plugin-litert</a:t>
            </a:r>
          </a:p>
          <a:p>
            <a:pPr algn="ctr"/>
            <a:r>
              <a:rPr sz="900">
                <a:solidFill>
                  <a:srgbClr val="595959"/>
                </a:solidFill>
                <a:latin typeface="Open Sans"/>
              </a:rPr>
              <a:t>LLM inference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44368" y="2377440"/>
            <a:ext cx="2532888" cy="65836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00000"/>
                </a:solidFill>
                <a:latin typeface="Open Sans"/>
              </a:rPr>
              <a:t>tauri-plugin-cblite</a:t>
            </a:r>
          </a:p>
          <a:p>
            <a:pPr algn="ctr"/>
            <a:r>
              <a:rPr sz="900">
                <a:solidFill>
                  <a:srgbClr val="595959"/>
                </a:solidFill>
                <a:latin typeface="Open Sans"/>
              </a:rPr>
              <a:t>Document + vector store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" y="3108960"/>
            <a:ext cx="5029200" cy="658368"/>
          </a:xfrm>
          <a:prstGeom prst="rect">
            <a:avLst/>
          </a:prstGeom>
          <a:solidFill>
            <a:srgbClr val="E5E5E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00000"/>
                </a:solidFill>
                <a:latin typeface="Open Sans"/>
              </a:rPr>
              <a:t>Rust process  (reqwest · tokio)</a:t>
            </a:r>
          </a:p>
          <a:p>
            <a:pPr algn="ctr"/>
            <a:r>
              <a:rPr sz="900">
                <a:solidFill>
                  <a:srgbClr val="595959"/>
                </a:solidFill>
                <a:latin typeface="Open Sans"/>
              </a:rPr>
              <a:t>Model download · HTTP · File I/O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097280"/>
            <a:ext cx="3246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Open Sans"/>
              </a:rPr>
              <a:t>▸  One-shot chat with local Gemma model</a:t>
            </a:r>
          </a:p>
          <a:p>
            <a:r>
              <a:rPr sz="1300">
                <a:solidFill>
                  <a:srgbClr val="000000"/>
                </a:solidFill>
                <a:latin typeface="Open Sans"/>
              </a:rPr>
              <a:t>▸  Persistent history in Couchbase Lite</a:t>
            </a:r>
          </a:p>
          <a:p>
            <a:r>
              <a:rPr sz="1300">
                <a:solidFill>
                  <a:srgbClr val="000000"/>
                </a:solidFill>
                <a:latin typeface="Open Sans"/>
              </a:rPr>
              <a:t>▸  RAG over PDFs, URLs, text</a:t>
            </a:r>
          </a:p>
          <a:p>
            <a:r>
              <a:rPr sz="1300">
                <a:solidFill>
                  <a:srgbClr val="000000"/>
                </a:solidFill>
                <a:latin typeface="Open Sans"/>
              </a:rPr>
              <a:t>▸  Tool use (calculator, Wikipedia…)</a:t>
            </a:r>
          </a:p>
          <a:p>
            <a:r>
              <a:rPr sz="1300">
                <a:solidFill>
                  <a:srgbClr val="000000"/>
                </a:solidFill>
                <a:latin typeface="Open Sans"/>
              </a:rPr>
              <a:t>▸  Multi-agent routing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Repository &amp; Prerequisites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8375904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987552"/>
            <a:ext cx="8156448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Courier New"/>
              </a:rPr>
              <a:t>git clone https://github.com/ldoguin/tauri-cblite-litert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Courier New"/>
              </a:rPr>
              <a:t>cd tauri-cblite-litert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Courier New"/>
              </a:rPr>
              <a:t>pnpm install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latin typeface="Courier New"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" y="1920240"/>
            <a:ext cx="1981200" cy="42672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19812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Tool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9256" y="1920240"/>
            <a:ext cx="1981200" cy="42672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4120" y="1920240"/>
            <a:ext cx="19812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Version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0456" y="1920240"/>
            <a:ext cx="1981200" cy="42672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5320" y="1920240"/>
            <a:ext cx="19812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Purpose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" y="2346960"/>
            <a:ext cx="1981200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46960"/>
            <a:ext cx="19812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Rust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9256" y="2346960"/>
            <a:ext cx="1981200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84120" y="2346960"/>
            <a:ext cx="19812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&gt;= 1.77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10456" y="2346960"/>
            <a:ext cx="1981200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5320" y="2346960"/>
            <a:ext cx="19812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Tauri backend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" y="2773680"/>
            <a:ext cx="1981200" cy="42672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773680"/>
            <a:ext cx="19812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Node.js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9256" y="2773680"/>
            <a:ext cx="1981200" cy="42672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84120" y="2773680"/>
            <a:ext cx="19812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&gt;= 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10456" y="2773680"/>
            <a:ext cx="1981200" cy="42672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5320" y="2773680"/>
            <a:ext cx="19812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Frontend build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" y="3200400"/>
            <a:ext cx="1981200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200400"/>
            <a:ext cx="19812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pnpm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29256" y="3200400"/>
            <a:ext cx="1981200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84120" y="3200400"/>
            <a:ext cx="19812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&gt;= 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0456" y="3200400"/>
            <a:ext cx="1981200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5320" y="3200400"/>
            <a:ext cx="19812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Package manager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" y="3627120"/>
            <a:ext cx="1981200" cy="42672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627120"/>
            <a:ext cx="19812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Tauri CLI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29256" y="3627120"/>
            <a:ext cx="1981200" cy="42672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84120" y="3627120"/>
            <a:ext cx="19812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v2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10456" y="3627120"/>
            <a:ext cx="1981200" cy="42672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65320" y="3627120"/>
            <a:ext cx="19812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cargo tauri dev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" y="4053840"/>
            <a:ext cx="1981200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053840"/>
            <a:ext cx="19812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patchelf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29256" y="4053840"/>
            <a:ext cx="1981200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84120" y="4053840"/>
            <a:ext cx="19812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any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10456" y="4053840"/>
            <a:ext cx="1981200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65320" y="4053840"/>
            <a:ext cx="19812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Linux .so RUNPATH fixup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1920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9C0C"/>
                </a:solidFill>
                <a:latin typeface="Open Sans"/>
              </a:rPr>
              <a:t>Browser mode: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2240280"/>
            <a:ext cx="2286000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01968" y="2313432"/>
            <a:ext cx="2066544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pnpm dev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# http://localhost:1420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2880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9C0C"/>
                </a:solidFill>
                <a:latin typeface="Open Sans"/>
              </a:rPr>
              <a:t>Desktop app: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3200400"/>
            <a:ext cx="2286000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01968" y="3273552"/>
            <a:ext cx="206654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cargo tauri dev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000000"/>
                </a:solidFill>
                <a:latin typeface="Open Sans"/>
              </a:rPr>
              <a:t>Part 2
Tauri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l"/>
            <a:r>
              <a:rPr sz="1400">
                <a:solidFill>
                  <a:srgbClr val="595959"/>
                </a:solidFill>
                <a:latin typeface="Open Sans"/>
              </a:rPr>
              <a:t>Slides 6–10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What is Tauri?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3931920" cy="749808"/>
          </a:xfrm>
          <a:prstGeom prst="rect">
            <a:avLst/>
          </a:prstGeom>
          <a:solidFill>
            <a:srgbClr val="FFF0DB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00000"/>
                </a:solidFill>
                <a:latin typeface="Open Sans"/>
              </a:rPr>
              <a:t>WebView  (OS-native renderer)</a:t>
            </a:r>
          </a:p>
          <a:p>
            <a:pPr algn="ctr"/>
            <a:r>
              <a:rPr sz="900">
                <a:solidFill>
                  <a:srgbClr val="595959"/>
                </a:solidFill>
                <a:latin typeface="Open Sans"/>
              </a:rPr>
              <a:t>Your React / Vue / Svelte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6" y="1728216"/>
            <a:ext cx="3931920" cy="749808"/>
          </a:xfrm>
          <a:prstGeom prst="rect">
            <a:avLst/>
          </a:prstGeom>
          <a:solidFill>
            <a:srgbClr val="EC121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Open Sans"/>
              </a:rPr>
              <a:t>Tauri IPC</a:t>
            </a:r>
          </a:p>
          <a:p>
            <a:pPr algn="ctr"/>
            <a:r>
              <a:rPr sz="900">
                <a:solidFill>
                  <a:srgbClr val="595959"/>
                </a:solidFill>
                <a:latin typeface="Open Sans"/>
              </a:rPr>
              <a:t>JSON over postMessage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" y="2542032"/>
            <a:ext cx="3931920" cy="749808"/>
          </a:xfrm>
          <a:prstGeom prst="rect">
            <a:avLst/>
          </a:prstGeom>
          <a:solidFill>
            <a:srgbClr val="E5E5E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00000"/>
                </a:solidFill>
                <a:latin typeface="Open Sans"/>
              </a:rPr>
              <a:t>Rust process</a:t>
            </a:r>
          </a:p>
          <a:p>
            <a:pPr algn="ctr"/>
            <a:r>
              <a:rPr sz="900">
                <a:solidFill>
                  <a:srgbClr val="595959"/>
                </a:solidFill>
                <a:latin typeface="Open Sans"/>
              </a:rPr>
              <a:t>File system · HTTP · Native APIs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914400"/>
            <a:ext cx="1389887" cy="48768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18304" y="914400"/>
            <a:ext cx="1389887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6053327" y="914400"/>
            <a:ext cx="1389887" cy="48768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08191" y="914400"/>
            <a:ext cx="1389887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Tauri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43215" y="914400"/>
            <a:ext cx="1389887" cy="48768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914400"/>
            <a:ext cx="1389887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Electron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402080"/>
            <a:ext cx="1389887" cy="48768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4" y="1402080"/>
            <a:ext cx="1389887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Binary size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53327" y="1402080"/>
            <a:ext cx="1389887" cy="48768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1" y="1402080"/>
            <a:ext cx="1389887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~10 MB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43215" y="1402080"/>
            <a:ext cx="1389887" cy="48768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402080"/>
            <a:ext cx="1389887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~150 MB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889760"/>
            <a:ext cx="1389887" cy="48768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18304" y="1889760"/>
            <a:ext cx="1389887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Memory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327" y="1889760"/>
            <a:ext cx="1389887" cy="48768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08191" y="1889760"/>
            <a:ext cx="1389887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~50 MB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43215" y="1889760"/>
            <a:ext cx="1389887" cy="48768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1889760"/>
            <a:ext cx="1389887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~200 MB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377440"/>
            <a:ext cx="1389887" cy="48768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2377440"/>
            <a:ext cx="1389887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Renderer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53327" y="2377440"/>
            <a:ext cx="1389887" cy="48768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08191" y="2377440"/>
            <a:ext cx="1389887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OS WebView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43215" y="2377440"/>
            <a:ext cx="1389887" cy="48768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2377440"/>
            <a:ext cx="1389887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Bundled Chromium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2865120"/>
            <a:ext cx="1389887" cy="48768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2865120"/>
            <a:ext cx="1389887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Backend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53327" y="2865120"/>
            <a:ext cx="1389887" cy="48768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08191" y="2865120"/>
            <a:ext cx="1389887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Rust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43215" y="2865120"/>
            <a:ext cx="1389887" cy="48768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79" y="2865120"/>
            <a:ext cx="1389887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Node.js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3352800"/>
            <a:ext cx="1389887" cy="48768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3352800"/>
            <a:ext cx="1389887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Security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53327" y="3352800"/>
            <a:ext cx="1389887" cy="48768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08191" y="3352800"/>
            <a:ext cx="1389887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ACL / cmd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43215" y="3352800"/>
            <a:ext cx="1389887" cy="48768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79" y="3352800"/>
            <a:ext cx="1389887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Broad Node access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Tauri Project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8375904" cy="347472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987552"/>
            <a:ext cx="8156448" cy="33284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Courier New"/>
              </a:rPr>
              <a:t>tauri-cblite-litert/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Courier New"/>
              </a:rPr>
              <a:t>├── src/                    # React frontend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Courier New"/>
              </a:rPr>
              <a:t>│   ├── App.tsx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Courier New"/>
              </a:rPr>
              <a:t>│   ├── hooks/useChat.ts    # Central state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Courier New"/>
              </a:rPr>
              <a:t>│   └── lib/                # Business logic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Courier New"/>
              </a:rPr>
              <a:t>├── src-tauri/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Courier New"/>
              </a:rPr>
              <a:t>│   ├── src/lib.rs          # Rust commands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Courier New"/>
              </a:rPr>
              <a:t>│   ├── Cargo.toml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Courier New"/>
              </a:rPr>
              <a:t>│   ├── tauri.conf.json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Courier New"/>
              </a:rPr>
              <a:t>│   ├── capabilities/default.json  # ACL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Courier New"/>
              </a:rPr>
              <a:t>│   └── build.rs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Courier New"/>
              </a:rPr>
              <a:t>└── packages/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Courier New"/>
              </a:rPr>
              <a:t>    ├── tauri-plugin-cblite/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Courier New"/>
              </a:rPr>
              <a:t>    └── tauri-plugin-litert-api/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latin typeface="Courier New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Tauri IPC: Rust ↔ TypeScript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8056" y="9144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9C0C"/>
                </a:solidFill>
                <a:latin typeface="Open Sans"/>
              </a:rPr>
              <a:t>Rust command: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6" y="1463040"/>
            <a:ext cx="4206240" cy="201168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" y="1536192"/>
            <a:ext cx="3986784" cy="1865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6A6A"/>
                </a:solidFill>
                <a:latin typeface="Courier New"/>
              </a:rPr>
              <a:t>#[</a:t>
            </a:r>
            <a:r>
              <a:rPr sz="900" b="0">
                <a:solidFill>
                  <a:srgbClr val="6A6A6A"/>
                </a:solidFill>
                <a:latin typeface="Courier New"/>
              </a:rPr>
              <a:t>tauri::command</a:t>
            </a:r>
            <a:r>
              <a:rPr sz="900" b="0">
                <a:solidFill>
                  <a:srgbClr val="6A6A6A"/>
                </a:solidFill>
                <a:latin typeface="Courier New"/>
              </a:rPr>
              <a:t>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async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1">
                <a:solidFill>
                  <a:srgbClr val="BA0E12"/>
                </a:solidFill>
                <a:latin typeface="Courier New"/>
              </a:rPr>
              <a:t>fn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005CC8"/>
                </a:solidFill>
                <a:latin typeface="Courier New"/>
              </a:rPr>
              <a:t>get_model_path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app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6F42C1"/>
                </a:solidFill>
                <a:latin typeface="Courier New"/>
              </a:rPr>
              <a:t>AppHandle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file_name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007070"/>
                </a:solidFill>
                <a:latin typeface="Courier New"/>
              </a:rPr>
              <a:t>String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-&gt;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007070"/>
                </a:solidFill>
                <a:latin typeface="Courier New"/>
              </a:rPr>
              <a:t>Result</a:t>
            </a:r>
            <a:r>
              <a:rPr sz="900" b="0">
                <a:solidFill>
                  <a:srgbClr val="444444"/>
                </a:solidFill>
                <a:latin typeface="Courier New"/>
              </a:rPr>
              <a:t>&lt;</a:t>
            </a:r>
            <a:r>
              <a:rPr sz="900" b="0">
                <a:solidFill>
                  <a:srgbClr val="007070"/>
                </a:solidFill>
                <a:latin typeface="Courier New"/>
              </a:rPr>
              <a:t>Option</a:t>
            </a:r>
            <a:r>
              <a:rPr sz="900" b="0">
                <a:solidFill>
                  <a:srgbClr val="444444"/>
                </a:solidFill>
                <a:latin typeface="Courier New"/>
              </a:rPr>
              <a:t>&lt;</a:t>
            </a:r>
            <a:r>
              <a:rPr sz="900" b="0">
                <a:solidFill>
                  <a:srgbClr val="007070"/>
                </a:solidFill>
                <a:latin typeface="Courier New"/>
              </a:rPr>
              <a:t>String</a:t>
            </a:r>
            <a:r>
              <a:rPr sz="900" b="0">
                <a:solidFill>
                  <a:srgbClr val="444444"/>
                </a:solidFill>
                <a:latin typeface="Courier New"/>
              </a:rPr>
              <a:t>&gt;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007070"/>
                </a:solidFill>
                <a:latin typeface="Courier New"/>
              </a:rPr>
              <a:t>String</a:t>
            </a:r>
            <a:r>
              <a:rPr sz="900" b="0">
                <a:solidFill>
                  <a:srgbClr val="444444"/>
                </a:solidFill>
                <a:latin typeface="Courier New"/>
              </a:rPr>
              <a:t>&gt;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900" b="1">
                <a:solidFill>
                  <a:srgbClr val="BA0E12"/>
                </a:solidFill>
                <a:latin typeface="Courier New"/>
              </a:rPr>
              <a:t>let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path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app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path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    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app_local_data_dir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    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join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187A1F"/>
                </a:solidFill>
                <a:latin typeface="Courier New"/>
              </a:rPr>
              <a:t>"</a:t>
            </a:r>
            <a:r>
              <a:rPr sz="900" b="0">
                <a:solidFill>
                  <a:srgbClr val="187A1F"/>
                </a:solidFill>
                <a:latin typeface="Courier New"/>
              </a:rPr>
              <a:t>models</a:t>
            </a:r>
            <a:r>
              <a:rPr sz="900" b="0">
                <a:solidFill>
                  <a:srgbClr val="187A1F"/>
                </a:solidFill>
                <a:latin typeface="Courier New"/>
              </a:rPr>
              <a:t>"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join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444444"/>
                </a:solidFill>
                <a:latin typeface="Courier New"/>
              </a:rPr>
              <a:t>&amp;</a:t>
            </a:r>
            <a:r>
              <a:rPr sz="900" b="0">
                <a:solidFill>
                  <a:srgbClr val="212121"/>
                </a:solidFill>
                <a:latin typeface="Courier New"/>
              </a:rPr>
              <a:t>file_name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900" b="0">
                <a:solidFill>
                  <a:srgbClr val="007070"/>
                </a:solidFill>
                <a:latin typeface="Courier New"/>
              </a:rPr>
              <a:t>Ok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212121"/>
                </a:solidFill>
                <a:latin typeface="Courier New"/>
              </a:rPr>
              <a:t>path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exists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then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444444"/>
                </a:solidFill>
                <a:latin typeface="Courier New"/>
              </a:rPr>
              <a:t>|</a:t>
            </a:r>
            <a:r>
              <a:rPr sz="900" b="0">
                <a:solidFill>
                  <a:srgbClr val="444444"/>
                </a:solidFill>
                <a:latin typeface="Courier New"/>
              </a:rPr>
              <a:t>|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path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to_string_lossy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into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914400"/>
            <a:ext cx="41696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9C0C"/>
                </a:solidFill>
                <a:latin typeface="Open Sans"/>
              </a:rPr>
              <a:t>TypeScript call: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463040"/>
            <a:ext cx="4169663" cy="164592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73168" y="1536192"/>
            <a:ext cx="3950207" cy="1499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import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invoke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BA0E12"/>
                </a:solidFill>
                <a:latin typeface="Courier New"/>
              </a:rPr>
              <a:t>from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187A1F"/>
                </a:solidFill>
                <a:latin typeface="Courier New"/>
              </a:rPr>
              <a:t>"@tauri-apps/api/core"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path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invoke</a:t>
            </a:r>
            <a:r>
              <a:rPr sz="900" b="0">
                <a:solidFill>
                  <a:srgbClr val="444444"/>
                </a:solidFill>
                <a:latin typeface="Courier New"/>
              </a:rPr>
              <a:t>&lt;</a:t>
            </a:r>
            <a:r>
              <a:rPr sz="900" b="0">
                <a:solidFill>
                  <a:srgbClr val="7B008B"/>
                </a:solidFill>
                <a:latin typeface="Courier New"/>
              </a:rPr>
              <a:t>string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|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BA0E12"/>
                </a:solidFill>
                <a:latin typeface="Courier New"/>
              </a:rPr>
              <a:t>null</a:t>
            </a:r>
            <a:r>
              <a:rPr sz="900" b="0">
                <a:solidFill>
                  <a:srgbClr val="444444"/>
                </a:solidFill>
                <a:latin typeface="Courier New"/>
              </a:rPr>
              <a:t>&gt;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187A1F"/>
                </a:solidFill>
                <a:latin typeface="Courier New"/>
              </a:rPr>
              <a:t>"get_model_path"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fileName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187A1F"/>
                </a:solidFill>
                <a:latin typeface="Courier New"/>
              </a:rPr>
              <a:t>"gemma3-1b-it-int4.litertlm"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3566160"/>
            <a:ext cx="8375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9C0C"/>
                </a:solidFill>
                <a:latin typeface="Open Sans"/>
              </a:rPr>
              <a:t>Register in lib.rs: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3840480"/>
            <a:ext cx="8375904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" y="3913632"/>
            <a:ext cx="8156448" cy="630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tauri::Builder::default()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.invoke_handler(tauri::generate_handler![get_model_path])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.run(tauri::generate_context!())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Tauri ACL: Security by Default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4206240" cy="256032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987552"/>
            <a:ext cx="3986784" cy="2414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"identifier": "default",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"platforms": ["linux", "macOS", "windows"],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"windows": ["main"],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"permissions": [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"core:default",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"os:default",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"cblite:default",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"litert:default"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914400"/>
            <a:ext cx="41696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C1218"/>
                </a:solidFill>
                <a:latin typeface="Open Sans"/>
              </a:rPr>
              <a:t>cblite:default expands to: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1463040"/>
            <a:ext cx="4169663" cy="22860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73168" y="1536192"/>
            <a:ext cx="3950207" cy="2139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allow-open-database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allow-close-database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allow-get-document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allow-save-document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allow-execute-query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allow-save-blob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allow-get-blob-data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allow-register-listener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allow-remove-listener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" y="3931920"/>
            <a:ext cx="8375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C1218"/>
                </a:solidFill>
                <a:latin typeface="Open Sans"/>
              </a:rPr>
              <a:t>⚠  Without a capability entry, invoke() returns "not found"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Isomorphic Pattern: Tauri + Web Fallback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5486400" cy="347472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987552"/>
            <a:ext cx="5266944" cy="33284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export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1">
                <a:solidFill>
                  <a:srgbClr val="BA0E12"/>
                </a:solidFill>
                <a:latin typeface="Courier New"/>
              </a:rPr>
              <a:t>function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isTauri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boolean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1">
                <a:solidFill>
                  <a:srgbClr val="BA0E12"/>
                </a:solidFill>
                <a:latin typeface="Courier New"/>
              </a:rPr>
              <a:t>return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typeof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007070"/>
                </a:solidFill>
                <a:latin typeface="Courier New"/>
              </a:rPr>
              <a:t>window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!==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187A1F"/>
                </a:solidFill>
                <a:latin typeface="Courier New"/>
              </a:rPr>
              <a:t>"undefined"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900" b="0">
                <a:solidFill>
                  <a:srgbClr val="444444"/>
                </a:solidFill>
                <a:latin typeface="Courier New"/>
              </a:rPr>
              <a:t>&amp;&amp;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187A1F"/>
                </a:solidFill>
                <a:latin typeface="Courier New"/>
              </a:rPr>
              <a:t>"__TAURI_INTERNALS__"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in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007070"/>
                </a:solidFill>
                <a:latin typeface="Courier New"/>
              </a:rPr>
              <a:t>window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export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1">
                <a:solidFill>
                  <a:srgbClr val="BA0E12"/>
                </a:solidFill>
                <a:latin typeface="Courier New"/>
              </a:rPr>
              <a:t>async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1">
                <a:solidFill>
                  <a:srgbClr val="BA0E12"/>
                </a:solidFill>
                <a:latin typeface="Courier New"/>
              </a:rPr>
              <a:t>function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saveConversation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212121"/>
                </a:solidFill>
                <a:latin typeface="Courier New"/>
              </a:rPr>
              <a:t>conv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id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...</a:t>
            </a:r>
            <a:r>
              <a:rPr sz="900" b="0">
                <a:solidFill>
                  <a:srgbClr val="212121"/>
                </a:solidFill>
                <a:latin typeface="Courier New"/>
              </a:rPr>
              <a:t>body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conv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1">
                <a:solidFill>
                  <a:srgbClr val="BA0E12"/>
                </a:solidFill>
                <a:latin typeface="Courier New"/>
              </a:rPr>
              <a:t>if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444444"/>
                </a:solidFill>
                <a:latin typeface="Courier New"/>
              </a:rPr>
              <a:t>!</a:t>
            </a:r>
            <a:r>
              <a:rPr sz="900" b="0">
                <a:solidFill>
                  <a:srgbClr val="212121"/>
                </a:solidFill>
                <a:latin typeface="Courier New"/>
              </a:rPr>
              <a:t>isTauri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webStore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set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187A1F"/>
                </a:solidFill>
                <a:latin typeface="Courier New"/>
              </a:rPr>
              <a:t>"conversations"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id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body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1">
                <a:solidFill>
                  <a:srgbClr val="BA0E12"/>
                </a:solidFill>
                <a:latin typeface="Courier New"/>
              </a:rPr>
              <a:t>return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saveDocument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1">
                <a:solidFill>
                  <a:srgbClr val="BA0E12"/>
                </a:solidFill>
                <a:latin typeface="Courier New"/>
              </a:rPr>
              <a:t>import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187A1F"/>
                </a:solidFill>
                <a:latin typeface="Courier New"/>
              </a:rPr>
              <a:t>"tauri-plugin-cblite"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saveDocument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187A1F"/>
                </a:solidFill>
                <a:latin typeface="Courier New"/>
              </a:rPr>
              <a:t>"_default.conversations"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id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body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188720"/>
            <a:ext cx="307238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  <a:latin typeface="Open Sans"/>
              </a:rPr>
              <a:t>▸  Fast iteration in the browser (no Rust compile)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Same test suite covers both paths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Graceful degradation if Tauri APIs unavailable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Dynamic import() prevents browser evaluation of Tauri modules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000000"/>
                </a:solidFill>
                <a:latin typeface="Open Sans"/>
              </a:rPr>
              <a:t>Part 3
AI Fundamentals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l"/>
            <a:r>
              <a:rPr sz="1400">
                <a:solidFill>
                  <a:srgbClr val="595959"/>
                </a:solidFill>
                <a:latin typeface="Open Sans"/>
              </a:rPr>
              <a:t>Slides 11–23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Large Language Models in One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8375904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987552"/>
            <a:ext cx="815644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Courier New"/>
              </a:rPr>
              <a:t>"The capital of France is"  -&gt;  ["Paris": 0.94, "Lyon": 0.02, ...]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latin typeface="Courier New"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" y="1737360"/>
            <a:ext cx="4187952" cy="42672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4187952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Concept</a:t>
            </a:r>
          </a:p>
        </p:txBody>
      </p:sp>
      <p:sp>
        <p:nvSpPr>
          <p:cNvPr id="7" name="Rectangle 6"/>
          <p:cNvSpPr/>
          <p:nvPr/>
        </p:nvSpPr>
        <p:spPr>
          <a:xfrm>
            <a:off x="4636008" y="1737360"/>
            <a:ext cx="4187952" cy="42672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737360"/>
            <a:ext cx="4187952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What it means in practice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" y="2164080"/>
            <a:ext cx="4187952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64080"/>
            <a:ext cx="4187952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Context window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36008" y="2164080"/>
            <a:ext cx="4187952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164080"/>
            <a:ext cx="4187952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Max tokens the model can see at once (e.g. 8192)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" y="2590800"/>
            <a:ext cx="4187952" cy="42672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90800"/>
            <a:ext cx="4187952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Quantization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36008" y="2590800"/>
            <a:ext cx="4187952" cy="42672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2590800"/>
            <a:ext cx="4187952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FP32 -&gt; INT4 = 8x smaller, ~5% quality loss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" y="3017520"/>
            <a:ext cx="4187952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017520"/>
            <a:ext cx="4187952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Temperature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36008" y="3017520"/>
            <a:ext cx="4187952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90872" y="3017520"/>
            <a:ext cx="4187952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Randomness: 0 = deterministic, 1 = creative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" y="3444240"/>
            <a:ext cx="4187952" cy="42672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444240"/>
            <a:ext cx="4187952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System prompt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36008" y="3444240"/>
            <a:ext cx="4187952" cy="42672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0872" y="3444240"/>
            <a:ext cx="4187952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Instructions prepended before the conversation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" y="3870960"/>
            <a:ext cx="4187952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870960"/>
            <a:ext cx="4187952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Streaming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36008" y="3870960"/>
            <a:ext cx="4187952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90872" y="3870960"/>
            <a:ext cx="4187952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Emit tokens one by one, not waiting for full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" y="4434840"/>
            <a:ext cx="8375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Open Sans"/>
              </a:rPr>
              <a:t>Model: Gemma 3 1B INT4  (~700 MB)  ·  ~30 tok/s CPU  ·  ~130 tok/s GPU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Embeddings: Text → Vectors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8375904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987552"/>
            <a:ext cx="8156448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Courier New"/>
              </a:rPr>
              <a:t>"The dog barked"   -&gt;  [0.12, -0.34, 0.89, ...]   (128 dims)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Courier New"/>
              </a:rPr>
              <a:t>"A canine howled"  -&gt;  [0.11, -0.31, 0.91, ...]   (similar!)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Courier New"/>
              </a:rPr>
              <a:t>"The stock rose"   -&gt;  [-0.45, 0.67, -0.12, ...]  (different)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latin typeface="Courier New"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" y="2103120"/>
            <a:ext cx="5029200" cy="41148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2176272"/>
            <a:ext cx="4809744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Courier New"/>
              </a:rPr>
              <a:t>similarity = (A . B) / (|A| x |B|)   in [-1, 1]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latin typeface="Courier New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9C0C"/>
                </a:solidFill>
                <a:latin typeface="Open Sans"/>
              </a:rPr>
              <a:t>Cosine similarity: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Open Sans"/>
              </a:rPr>
              <a:t>"dog" vs "canine"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2761488"/>
            <a:ext cx="3826764" cy="256032"/>
          </a:xfrm>
          <a:prstGeom prst="rect">
            <a:avLst/>
          </a:prstGeom>
          <a:solidFill>
            <a:srgbClr val="BA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9964" y="2697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Open Sans"/>
              </a:rPr>
              <a:t>93%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3154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Open Sans"/>
              </a:rPr>
              <a:t>"dog" vs "puppy"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3218688"/>
            <a:ext cx="3332988" cy="256032"/>
          </a:xfrm>
          <a:prstGeom prst="rect">
            <a:avLst/>
          </a:prstGeom>
          <a:solidFill>
            <a:srgbClr val="BA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76188" y="3154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Open Sans"/>
              </a:rPr>
              <a:t>81%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" y="3611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Open Sans"/>
              </a:rPr>
              <a:t>"dog" vs "stock"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3675888"/>
            <a:ext cx="493776" cy="256032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36976" y="3611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Open Sans"/>
              </a:rPr>
              <a:t>12%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" y="4434840"/>
            <a:ext cx="8375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Open Sans"/>
              </a:rPr>
              <a:t>In this app: BERT-base-uncased  →  128-dim embeddings  (~25 MB model)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The BERT Tokenizer (WordPiece)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8375904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987552"/>
            <a:ext cx="815644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Courier New"/>
              </a:rPr>
              <a:t>"unaffable"  -&gt;  ["un", "##aff", "##able"]  -&gt;  [2512, 4593, 3085]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latin typeface="Courier New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9C0C"/>
                </a:solidFill>
                <a:latin typeface="Open Sans"/>
              </a:rPr>
              <a:t>Special tokens: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" y="2057400"/>
            <a:ext cx="5029200" cy="109728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2130552"/>
            <a:ext cx="4809744" cy="950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[CLS] token1 token2 ... [SEP] [PAD] [PAD]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101                    102    0     0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The [CLS] output vector is used as the sentence embedding.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" y="3246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9C0C"/>
                </a:solidFill>
                <a:latin typeface="Open Sans"/>
              </a:rPr>
              <a:t>TypeScript implementation: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" y="3520440"/>
            <a:ext cx="5029200" cy="100584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3593592"/>
            <a:ext cx="4809744" cy="8595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tokens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wordpieceTokenize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212121"/>
                </a:solidFill>
                <a:latin typeface="Courier New"/>
              </a:rPr>
              <a:t>text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vocab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inputIds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[</a:t>
            </a:r>
            <a:r>
              <a:rPr sz="900" b="0">
                <a:solidFill>
                  <a:srgbClr val="212121"/>
                </a:solidFill>
                <a:latin typeface="Courier New"/>
              </a:rPr>
              <a:t>CLS_ID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...</a:t>
            </a:r>
            <a:r>
              <a:rPr sz="900" b="0">
                <a:solidFill>
                  <a:srgbClr val="212121"/>
                </a:solidFill>
                <a:latin typeface="Courier New"/>
              </a:rPr>
              <a:t>tokens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slice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C05000"/>
                </a:solidFill>
                <a:latin typeface="Courier New"/>
              </a:rPr>
              <a:t>0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C05000"/>
                </a:solidFill>
                <a:latin typeface="Courier New"/>
              </a:rPr>
              <a:t>126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SEP_ID</a:t>
            </a:r>
            <a:r>
              <a:rPr sz="900" b="0">
                <a:solidFill>
                  <a:srgbClr val="444444"/>
                </a:solidFill>
                <a:latin typeface="Courier New"/>
              </a:rPr>
              <a:t>]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while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212121"/>
                </a:solidFill>
                <a:latin typeface="Courier New"/>
              </a:rPr>
              <a:t>inputIds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length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&lt;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C05000"/>
                </a:solidFill>
                <a:latin typeface="Courier New"/>
              </a:rPr>
              <a:t>128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inputIds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push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212121"/>
                </a:solidFill>
                <a:latin typeface="Courier New"/>
              </a:rPr>
              <a:t>PAD_ID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828800"/>
            <a:ext cx="352958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  <a:latin typeface="Open Sans"/>
              </a:rPr>
              <a:t>▸  Full WordPiece tokenizer in ~100 lines TypeScript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30,522-token bert-base-uncased vocabulary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Vocab cached in Cache API after first load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RAG: Retrieval-Augmented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8056" y="914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95959"/>
                </a:solidFill>
                <a:latin typeface="Open Sans"/>
              </a:rPr>
              <a:t>INGEST  (offline)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6" y="1207008"/>
            <a:ext cx="1417320" cy="502920"/>
          </a:xfrm>
          <a:prstGeom prst="rect">
            <a:avLst/>
          </a:prstGeom>
          <a:solidFill>
            <a:srgbClr val="FFF0DB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00000"/>
                </a:solidFill>
                <a:latin typeface="Open Sans"/>
              </a:rPr>
              <a:t>Document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65376" y="1207008"/>
            <a:ext cx="201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C1218"/>
                </a:solidFill>
                <a:latin typeface="Open Sans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066544" y="1207008"/>
            <a:ext cx="1417320" cy="50292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00000"/>
                </a:solidFill>
                <a:latin typeface="Open Sans"/>
              </a:rPr>
              <a:t>Chunk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83864" y="1207008"/>
            <a:ext cx="201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C1218"/>
                </a:solidFill>
                <a:latin typeface="Open Sans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685032" y="1207008"/>
            <a:ext cx="1417320" cy="50292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00000"/>
                </a:solidFill>
                <a:latin typeface="Open Sans"/>
              </a:rPr>
              <a:t>Embed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02352" y="1207008"/>
            <a:ext cx="201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C1218"/>
                </a:solidFill>
                <a:latin typeface="Open Sans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207008"/>
            <a:ext cx="1417320" cy="502920"/>
          </a:xfrm>
          <a:prstGeom prst="rect">
            <a:avLst/>
          </a:prstGeom>
          <a:solidFill>
            <a:srgbClr val="E5E5E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00000"/>
                </a:solidFill>
                <a:latin typeface="Open Sans"/>
              </a:rPr>
              <a:t>Store in 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95959"/>
                </a:solidFill>
                <a:latin typeface="Open Sans"/>
              </a:rPr>
              <a:t>QUERY  (online)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" y="2231135"/>
            <a:ext cx="1417320" cy="502920"/>
          </a:xfrm>
          <a:prstGeom prst="rect">
            <a:avLst/>
          </a:prstGeom>
          <a:solidFill>
            <a:srgbClr val="FFF0DB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00000"/>
                </a:solidFill>
                <a:latin typeface="Open Sans"/>
              </a:rPr>
              <a:t>User 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65376" y="2231135"/>
            <a:ext cx="201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C1218"/>
                </a:solidFill>
                <a:latin typeface="Open Sans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66544" y="2231135"/>
            <a:ext cx="1417320" cy="50292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00000"/>
                </a:solidFill>
                <a:latin typeface="Open Sans"/>
              </a:rPr>
              <a:t>Embed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2231135"/>
            <a:ext cx="201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C1218"/>
                </a:solidFill>
                <a:latin typeface="Open Sans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5032" y="2231135"/>
            <a:ext cx="1417320" cy="50292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00000"/>
                </a:solidFill>
                <a:latin typeface="Open Sans"/>
              </a:rPr>
              <a:t>Search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2352" y="2231135"/>
            <a:ext cx="201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C1218"/>
                </a:solidFill>
                <a:latin typeface="Open Sans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2231135"/>
            <a:ext cx="1417320" cy="502920"/>
          </a:xfrm>
          <a:prstGeom prst="rect">
            <a:avLst/>
          </a:prstGeom>
          <a:solidFill>
            <a:srgbClr val="E5E5E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00000"/>
                </a:solidFill>
                <a:latin typeface="Open Sans"/>
              </a:rPr>
              <a:t>Top-K chunks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9836615356" y="2734055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C1218"/>
                </a:solidFill>
                <a:latin typeface="Open Sans"/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9836523916" y="3054095"/>
            <a:ext cx="1828800" cy="502920"/>
          </a:xfrm>
          <a:prstGeom prst="rect">
            <a:avLst/>
          </a:prstGeom>
          <a:solidFill>
            <a:srgbClr val="EC121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Open Sans"/>
              </a:rPr>
              <a:t>Inject into LLM prompt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9836615356" y="3557015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C1218"/>
                </a:solidFill>
                <a:latin typeface="Open Sans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9836523916" y="3877055"/>
            <a:ext cx="1828800" cy="502920"/>
          </a:xfrm>
          <a:prstGeom prst="rect">
            <a:avLst/>
          </a:prstGeom>
          <a:solidFill>
            <a:srgbClr val="E5E5E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00000"/>
                </a:solidFill>
                <a:latin typeface="Open Sans"/>
              </a:rPr>
              <a:t>LLM generates 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1097280"/>
            <a:ext cx="34381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  <a:latin typeface="Open Sans"/>
              </a:rPr>
              <a:t>▸  No fine-tuning — just an embedding model + vector store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Grounds responses in your private documents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Chunking: overlapping windows preserve cross-boundary context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Hybrid Search: Vector + BM25 + RRF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8375904" cy="109728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987552"/>
            <a:ext cx="8156448" cy="950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BM25 score(q,d) = SUM IDF(t) * tf(t,d)*(k1+1) / (tf(t,d) + k1*(1-b+b*|d|/avgdl))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              k1=1.5  b=0.75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RRF(d) = SUM weight_i / (k + rank_i(d))    k=60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" y="2423160"/>
            <a:ext cx="8375904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2496312"/>
            <a:ext cx="8156448" cy="10424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Vector results:  [doc3, doc1, doc7, doc2, ...]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BM25 results:    [doc1, doc5, doc3, doc8, ...]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                   |  RRF fusion  (bm25Weight=0.3)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Merged results:  [doc1, doc3, doc5, doc7, ...]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" y="3749039"/>
            <a:ext cx="837590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Open Sans"/>
              </a:rPr>
              <a:t>▸  Pure vector search misses exact keyword matches</a:t>
            </a:r>
          </a:p>
          <a:p>
            <a:r>
              <a:rPr sz="1300">
                <a:solidFill>
                  <a:srgbClr val="000000"/>
                </a:solidFill>
                <a:latin typeface="Open Sans"/>
              </a:rPr>
              <a:t>▸  Pure BM25 misses semantic similarity</a:t>
            </a:r>
          </a:p>
          <a:p>
            <a:r>
              <a:rPr sz="1300">
                <a:solidFill>
                  <a:srgbClr val="000000"/>
                </a:solidFill>
                <a:latin typeface="Open Sans"/>
              </a:rPr>
              <a:t>▸  RRF k=60 dampens rank differences at the top</a:t>
            </a:r>
          </a:p>
          <a:p>
            <a:r>
              <a:rPr sz="1300">
                <a:solidFill>
                  <a:srgbClr val="000000"/>
                </a:solidFill>
                <a:latin typeface="Open Sans"/>
              </a:rPr>
              <a:t>▸  Tune bm25Weight: higher for legal/medical, lower for semantic queries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The ReAct Loop: LLMs That Use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5943600" cy="329184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987552"/>
            <a:ext cx="5724144" cy="31455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User: What is the GDP of France divided by its population?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LLM:  I need the GDP and population of France.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  &lt;tool_call&gt;{"name":"wikipedia","args":{"query":"France GDP"}}&lt;/tool_call&gt;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Tool: France GDP is $3.1 trillion (2023)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  &lt;tool_call&gt;{"name":"wikipedia","args":{"query":"France population"}}&lt;/tool_call&gt;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Tool: France population is 68 million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LLM:  GDP per capita = $3.1T / 68M = $45,588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261518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  <a:latin typeface="Open Sans"/>
              </a:rPr>
              <a:t>▸  Max 5 iterations per message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Duplicate tool call → loop guard → break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&lt;tool_call&gt; tags stripped from displayed response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Agent Routing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376" y="914400"/>
            <a:ext cx="2926080" cy="475488"/>
          </a:xfrm>
          <a:prstGeom prst="rect">
            <a:avLst/>
          </a:prstGeom>
          <a:solidFill>
            <a:srgbClr val="FFF0DB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00000"/>
                </a:solidFill>
                <a:latin typeface="Open Sans"/>
              </a:rPr>
              <a:t>User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13898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C1218"/>
                </a:solidFill>
                <a:latin typeface="Open Sans"/>
              </a:rPr>
              <a:t>↓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1645920"/>
            <a:ext cx="2926080" cy="475488"/>
          </a:xfrm>
          <a:prstGeom prst="rect">
            <a:avLst/>
          </a:prstGeom>
          <a:solidFill>
            <a:srgbClr val="EC121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Open Sans"/>
              </a:rPr>
              <a:t>Router LLM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12140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C1218"/>
                </a:solidFill>
                <a:latin typeface="Open Sans"/>
              </a:rPr>
              <a:t>↓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" y="2377440"/>
            <a:ext cx="292608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00000"/>
                </a:solidFill>
                <a:latin typeface="Open Sans"/>
              </a:rPr>
              <a:t>{ "agent": "Support"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85292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C1218"/>
                </a:solidFill>
                <a:latin typeface="Open Sans"/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" y="3108960"/>
            <a:ext cx="292608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00000"/>
                </a:solidFill>
                <a:latin typeface="Open Sans"/>
              </a:rPr>
              <a:t>Support agent  + 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358444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C1218"/>
                </a:solidFill>
                <a:latin typeface="Open Sans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" y="3840480"/>
            <a:ext cx="2926080" cy="475488"/>
          </a:xfrm>
          <a:prstGeom prst="rect">
            <a:avLst/>
          </a:prstGeom>
          <a:solidFill>
            <a:srgbClr val="E5E5E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00000"/>
                </a:solidFill>
                <a:latin typeface="Open Sans"/>
              </a:rPr>
              <a:t>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9896" y="15179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Open Sans"/>
              </a:rPr>
              <a:t>←  agent list + descriptions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188720"/>
            <a:ext cx="426110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Open Sans"/>
              </a:rPr>
              <a:t>▸  Every message goes through the router first</a:t>
            </a:r>
          </a:p>
          <a:p>
            <a:r>
              <a:rPr sz="1300">
                <a:solidFill>
                  <a:srgbClr val="000000"/>
                </a:solidFill>
                <a:latin typeface="Open Sans"/>
              </a:rPr>
              <a:t>▸  Router uses the same LLM (~50 tokens in, ~10 out)</a:t>
            </a:r>
          </a:p>
          <a:p>
            <a:r>
              <a:rPr sz="1300">
                <a:solidFill>
                  <a:srgbClr val="000000"/>
                </a:solidFill>
                <a:latin typeface="Open Sans"/>
              </a:rPr>
              <a:t>▸  Adds ~200 ms latency — acceptable for interactive chat</a:t>
            </a:r>
          </a:p>
          <a:p>
            <a:r>
              <a:rPr sz="1300">
                <a:solidFill>
                  <a:srgbClr val="000000"/>
                </a:solidFill>
                <a:latin typeface="Open Sans"/>
              </a:rPr>
              <a:t>▸  Falls back to default system prompt if routing fails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Transformer Architecture (How LLMs Work)</a:t>
            </a:r>
          </a:p>
        </p:txBody>
      </p:sp>
      <p:sp>
        <p:nvSpPr>
          <p:cNvPr id="3" name="Rectangle 2"/>
          <p:cNvSpPr/>
          <p:nvPr/>
        </p:nvSpPr>
        <p:spPr>
          <a:xfrm>
            <a:off x="539496" y="914400"/>
            <a:ext cx="2194560" cy="420624"/>
          </a:xfrm>
          <a:prstGeom prst="rect">
            <a:avLst/>
          </a:prstGeom>
          <a:solidFill>
            <a:srgbClr val="E5E5E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>
                <a:solidFill>
                  <a:srgbClr val="000000"/>
                </a:solidFill>
                <a:latin typeface="Open Sans"/>
              </a:rPr>
              <a:t>Input Embeddings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496" y="1335024"/>
            <a:ext cx="2194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C1218"/>
                </a:solidFill>
                <a:latin typeface="Open Sans"/>
              </a:rPr>
              <a:t>↓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" y="1481328"/>
            <a:ext cx="2194560" cy="420624"/>
          </a:xfrm>
          <a:prstGeom prst="rect">
            <a:avLst/>
          </a:prstGeom>
          <a:solidFill>
            <a:srgbClr val="E5E5E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>
                <a:solidFill>
                  <a:srgbClr val="000000"/>
                </a:solidFill>
                <a:latin typeface="Open Sans"/>
              </a:rPr>
              <a:t>Positional Encoding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1901952"/>
            <a:ext cx="2194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C1218"/>
                </a:solidFill>
                <a:latin typeface="Open Sans"/>
              </a:rPr>
              <a:t>↓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" y="2048256"/>
            <a:ext cx="2194560" cy="420624"/>
          </a:xfrm>
          <a:prstGeom prst="rect">
            <a:avLst/>
          </a:prstGeom>
          <a:solidFill>
            <a:srgbClr val="EC121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>
                <a:solidFill>
                  <a:srgbClr val="FFFFFF"/>
                </a:solidFill>
                <a:latin typeface="Open Sans"/>
              </a:rPr>
              <a:t>Multi-Head Self-Attention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2468880"/>
            <a:ext cx="2194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C1218"/>
                </a:solidFill>
                <a:latin typeface="Open Sans"/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" y="2615184"/>
            <a:ext cx="2194560" cy="420624"/>
          </a:xfrm>
          <a:prstGeom prst="rect">
            <a:avLst/>
          </a:prstGeom>
          <a:solidFill>
            <a:srgbClr val="FFF0DB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>
                <a:solidFill>
                  <a:srgbClr val="000000"/>
                </a:solidFill>
                <a:latin typeface="Open Sans"/>
              </a:rPr>
              <a:t>Add &amp; LayerNorm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" y="3035808"/>
            <a:ext cx="2194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C1218"/>
                </a:solidFill>
                <a:latin typeface="Open Sans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" y="3182112"/>
            <a:ext cx="2194560" cy="420624"/>
          </a:xfrm>
          <a:prstGeom prst="rect">
            <a:avLst/>
          </a:prstGeom>
          <a:solidFill>
            <a:srgbClr val="FFF0DB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>
                <a:solidFill>
                  <a:srgbClr val="000000"/>
                </a:solidFill>
                <a:latin typeface="Open Sans"/>
              </a:rPr>
              <a:t>Feed-Forward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" y="3602736"/>
            <a:ext cx="2194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C1218"/>
                </a:solidFill>
                <a:latin typeface="Open Sans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" y="3749040"/>
            <a:ext cx="2194560" cy="420624"/>
          </a:xfrm>
          <a:prstGeom prst="rect">
            <a:avLst/>
          </a:prstGeom>
          <a:solidFill>
            <a:srgbClr val="FFF0DB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>
                <a:solidFill>
                  <a:srgbClr val="000000"/>
                </a:solidFill>
                <a:latin typeface="Open Sans"/>
              </a:rPr>
              <a:t>Add &amp; LayerNorm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4169664"/>
            <a:ext cx="2194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C1218"/>
                </a:solidFill>
                <a:latin typeface="Open Sans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" y="4315968"/>
            <a:ext cx="2194560" cy="420624"/>
          </a:xfrm>
          <a:prstGeom prst="rect">
            <a:avLst/>
          </a:prstGeom>
          <a:solidFill>
            <a:srgbClr val="E5E5E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>
                <a:solidFill>
                  <a:srgbClr val="595959"/>
                </a:solidFill>
                <a:latin typeface="Open Sans"/>
              </a:rPr>
              <a:t>× N layers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" y="4736592"/>
            <a:ext cx="2194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C1218"/>
                </a:solidFill>
                <a:latin typeface="Open Sans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" y="4882896"/>
            <a:ext cx="2194560" cy="420624"/>
          </a:xfrm>
          <a:prstGeom prst="rect">
            <a:avLst/>
          </a:prstGeom>
          <a:solidFill>
            <a:srgbClr val="BA0E1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>
                <a:solidFill>
                  <a:srgbClr val="FFFFFF"/>
                </a:solidFill>
                <a:latin typeface="Open Sans"/>
              </a:rPr>
              <a:t>Output Logits + Softmax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1005840"/>
            <a:ext cx="599846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  <a:latin typeface="Open Sans"/>
              </a:rPr>
              <a:t>▸  Self-Attention: each token attends to all others — captures long-range dependencies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Multi-Head: H parallel attention heads learn different relationship types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Positional encoding: sine/cosine or learned — gives order to the sequence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FFN: two linear layers with GELU activation — stores factual knowledge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Residual connections (Add): prevent vanishing gradients in deep stacks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Gemma 3 1B: 18 layers, 1152 hidden dim, 4 attention heads, 8192 ctx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Self-Attention: The Core Mechanism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5486400" cy="256032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987552"/>
            <a:ext cx="5266944" cy="2414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# For each token, compute Query, Key, Value projections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Q = X @ W_Q    # (seq_len, d_k)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K = X @ W_K    # (seq_len, d_k)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V = X @ W_V    # (seq_len, d_v)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# Scaled dot-product attention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scores = (Q @ K.T) / sqrt(d_k)   # (seq_len, seq_len)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weights = softmax(scores)          # each row sums to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output  = weights @ V              # weighted sum of values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# Causal mask (decoder): upper triangle = -inf so future tokens are invisible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scores = scores + causal_mask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" y="3611880"/>
            <a:ext cx="83759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  <a:latin typeface="Open Sans"/>
              </a:rPr>
              <a:t>▸  d_k = head_dim (e.g. 64) — sqrt(d_k) prevents vanishing gradients in softmax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Each attention weight = how much token i should attend to token j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Encoder (BERT): bidirectional — every token sees every other token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Decoder (Gemma): causal mask — token i only sees tokens 0…i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KV-Cache: store K and V from previous tokens, only compute new token's Q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Flash Attention: fused CUDA kernel — avoids materialising full (seq, seq) matrix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Embedding Models vs Generative LLMs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2791968" cy="40005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2791968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pen Sans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3240024" y="914400"/>
            <a:ext cx="2791968" cy="40005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4888" y="914400"/>
            <a:ext cx="2791968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pen Sans"/>
              </a:rPr>
              <a:t>Embedding model (BERT)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1992" y="914400"/>
            <a:ext cx="2791968" cy="40005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6856" y="914400"/>
            <a:ext cx="2791968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pen Sans"/>
              </a:rPr>
              <a:t>Generative LLM (Gemma)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" y="1314450"/>
            <a:ext cx="2791968" cy="40005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14450"/>
            <a:ext cx="2791968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24" y="1314450"/>
            <a:ext cx="2791968" cy="40005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4888" y="1314450"/>
            <a:ext cx="2791968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Encoder-only transformer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1992" y="1314450"/>
            <a:ext cx="2791968" cy="40005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6856" y="1314450"/>
            <a:ext cx="2791968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Decoder-only transformer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" y="1714500"/>
            <a:ext cx="2791968" cy="40005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714500"/>
            <a:ext cx="2791968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Output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0024" y="1714500"/>
            <a:ext cx="2791968" cy="40005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4888" y="1714500"/>
            <a:ext cx="2791968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Dense vector (128–768 dims)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1992" y="1714500"/>
            <a:ext cx="2791968" cy="40005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6856" y="1714500"/>
            <a:ext cx="2791968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Next-token probability distribution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" y="2114550"/>
            <a:ext cx="2791968" cy="40005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114550"/>
            <a:ext cx="2791968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Training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0024" y="2114550"/>
            <a:ext cx="2791968" cy="40005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4888" y="2114550"/>
            <a:ext cx="2791968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MLM + NSP self-supervised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1992" y="2114550"/>
            <a:ext cx="2791968" cy="40005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6856" y="2114550"/>
            <a:ext cx="2791968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Causal language modelling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" y="2514600"/>
            <a:ext cx="2791968" cy="40005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514600"/>
            <a:ext cx="2791968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Context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0024" y="2514600"/>
            <a:ext cx="2791968" cy="40005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4888" y="2514600"/>
            <a:ext cx="2791968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Bidirectional (sees full input)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1992" y="2514600"/>
            <a:ext cx="2791968" cy="40005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6856" y="2514600"/>
            <a:ext cx="2791968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Left-to-right (causal mask)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" y="2914650"/>
            <a:ext cx="2791968" cy="40005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914650"/>
            <a:ext cx="2791968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Size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40024" y="2914650"/>
            <a:ext cx="2791968" cy="40005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4888" y="2914650"/>
            <a:ext cx="2791968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~25 MB (BERT-base INT8)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1992" y="2914650"/>
            <a:ext cx="2791968" cy="40005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6856" y="2914650"/>
            <a:ext cx="2791968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~700 MB (Gemma 3 1B INT4)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8056" y="3314700"/>
            <a:ext cx="2791968" cy="40005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314700"/>
            <a:ext cx="2791968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Latency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40024" y="3314700"/>
            <a:ext cx="2791968" cy="40005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94888" y="3314700"/>
            <a:ext cx="2791968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~5 ms / 128 tokens (CPU)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1992" y="3314700"/>
            <a:ext cx="2791968" cy="40005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6856" y="3314700"/>
            <a:ext cx="2791968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~30–130 tok/s (CPU/GPU)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8056" y="3714750"/>
            <a:ext cx="2791968" cy="40005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3714750"/>
            <a:ext cx="2791968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Use in app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40024" y="3714750"/>
            <a:ext cx="2791968" cy="40005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94888" y="3714750"/>
            <a:ext cx="2791968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Chunk embeddings for RAG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1992" y="3714750"/>
            <a:ext cx="2791968" cy="40005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86856" y="3714750"/>
            <a:ext cx="2791968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Chat, routing, tool use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8056" y="4251960"/>
            <a:ext cx="83759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  <a:latin typeface="Open Sans"/>
              </a:rPr>
              <a:t>▸  Never use a generative LLM to produce embeddings — its output space is not metric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Sentence-BERT (SBERT) adds a pooling head to BERT for sentence-level similarity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This app uses bert-base-uncased: 30k vocab, 12 layers, 768 hidden → 128 projected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Why BERT Instead of a Dedicated Embedding Model?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8056" y="914400"/>
            <a:ext cx="8375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0000"/>
                </a:solidFill>
                <a:latin typeface="Open Sans"/>
              </a:rPr>
              <a:t>Short answer: on-device size, LiteRT support, and good-enough quality for domain-specific RAG.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6" y="1371600"/>
            <a:ext cx="2093976" cy="35560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Open Sans"/>
              </a:rPr>
              <a:t>Criterion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2032" y="1371600"/>
            <a:ext cx="2093976" cy="35560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96896" y="13716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Open Sans"/>
              </a:rPr>
              <a:t>BERT-base-uncased (this app)</a:t>
            </a:r>
          </a:p>
        </p:txBody>
      </p:sp>
      <p:sp>
        <p:nvSpPr>
          <p:cNvPr id="8" name="Rectangle 7"/>
          <p:cNvSpPr/>
          <p:nvPr/>
        </p:nvSpPr>
        <p:spPr>
          <a:xfrm>
            <a:off x="4636008" y="1371600"/>
            <a:ext cx="2093976" cy="35560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13716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Open Sans"/>
              </a:rPr>
              <a:t>all-MiniLM-L6-v2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9984" y="1371600"/>
            <a:ext cx="2093976" cy="35560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84848" y="13716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Open Sans"/>
              </a:rPr>
              <a:t>text-embedding-3-small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" y="1727200"/>
            <a:ext cx="2093976" cy="3556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7272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Model size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727200"/>
            <a:ext cx="2093976" cy="3556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96896" y="17272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~25 MB (INT8 .tflite)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36008" y="1727200"/>
            <a:ext cx="2093976" cy="3556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872" y="17272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~23 MB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9984" y="1727200"/>
            <a:ext cx="2093976" cy="3556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17272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Cloud API — no local file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" y="2082800"/>
            <a:ext cx="2093976" cy="3556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0828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Output dims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42032" y="2082800"/>
            <a:ext cx="2093976" cy="3556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96896" y="20828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768 → 128 (projected)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36008" y="2082800"/>
            <a:ext cx="2093976" cy="3556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90872" y="20828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384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4" y="2082800"/>
            <a:ext cx="2093976" cy="3556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4848" y="20828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1536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" y="2438400"/>
            <a:ext cx="2093976" cy="3556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4384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LiteRT support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42032" y="2438400"/>
            <a:ext cx="2093976" cy="3556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96896" y="24384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✓ official .tflite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36008" y="2438400"/>
            <a:ext cx="2093976" cy="3556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90872" y="24384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✓ convertible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9984" y="2438400"/>
            <a:ext cx="2093976" cy="3556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84848" y="24384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✗ cloud only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" y="2794000"/>
            <a:ext cx="2093976" cy="3556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27940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Runs fully offline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42032" y="2794000"/>
            <a:ext cx="2093976" cy="3556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96896" y="27940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36008" y="2794000"/>
            <a:ext cx="2093976" cy="3556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90872" y="27940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29984" y="2794000"/>
            <a:ext cx="2093976" cy="3556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84848" y="27940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✗ requires internet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8056" y="3149600"/>
            <a:ext cx="2093976" cy="3556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31496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Latency (CPU)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42032" y="3149600"/>
            <a:ext cx="2093976" cy="3556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96896" y="31496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~5 ms / 128 tokens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36008" y="3149600"/>
            <a:ext cx="2093976" cy="3556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90872" y="31496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~4 ms / 128 tokens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29984" y="3149600"/>
            <a:ext cx="2093976" cy="3556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84848" y="31496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~80–200 ms (network)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8056" y="3505200"/>
            <a:ext cx="2093976" cy="3556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35052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Quality (MTEB)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42032" y="3505200"/>
            <a:ext cx="2093976" cy="3556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96896" y="35052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~38 avg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36008" y="3505200"/>
            <a:ext cx="2093976" cy="3556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90872" y="35052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~56 avg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29984" y="3505200"/>
            <a:ext cx="2093976" cy="3556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84848" y="35052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~62 avg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8056" y="3860800"/>
            <a:ext cx="2093976" cy="3556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" y="38608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Token limit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542032" y="3860800"/>
            <a:ext cx="2093976" cy="3556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596896" y="38608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128 tokens (hard)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36008" y="3860800"/>
            <a:ext cx="2093976" cy="3556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90872" y="38608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256 tokens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729984" y="3860800"/>
            <a:ext cx="2093976" cy="3556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84848" y="38608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8191 tokens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8056" y="4216400"/>
            <a:ext cx="2093976" cy="3556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42164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Licence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542032" y="4216400"/>
            <a:ext cx="2093976" cy="3556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596896" y="42164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Apache 2.0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36008" y="4216400"/>
            <a:ext cx="2093976" cy="3556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90872" y="42164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Apache 2.0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29984" y="4216400"/>
            <a:ext cx="2093976" cy="3556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84848" y="4216400"/>
            <a:ext cx="2093976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Proprietary / paid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8056" y="4709160"/>
            <a:ext cx="83759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0000"/>
                </a:solidFill>
                <a:latin typeface="Open Sans"/>
              </a:rPr>
              <a:t>▸  BERT is not the best embedding model — all-MiniLM scores ~18 points higher on MTEB benchmarks</a:t>
            </a:r>
          </a:p>
          <a:p>
            <a:r>
              <a:rPr sz="1100">
                <a:solidFill>
                  <a:srgbClr val="000000"/>
                </a:solidFill>
                <a:latin typeface="Open Sans"/>
              </a:rPr>
              <a:t>▸  It is used here because it has an official, well-tested .tflite export and runs on LiteRT without conversion work</a:t>
            </a:r>
          </a:p>
          <a:p>
            <a:r>
              <a:rPr sz="1100">
                <a:solidFill>
                  <a:srgbClr val="000000"/>
                </a:solidFill>
                <a:latin typeface="Open Sans"/>
              </a:rPr>
              <a:t>▸  The 128-token limit is a real constraint: chunks must stay short, which is why DEFAULT_CHUNK_SIZE is 300 chars</a:t>
            </a:r>
          </a:p>
          <a:p>
            <a:r>
              <a:rPr sz="1100">
                <a:solidFill>
                  <a:srgbClr val="000000"/>
                </a:solidFill>
                <a:latin typeface="Open Sans"/>
              </a:rPr>
              <a:t>▸  For production: swap in all-MiniLM-L6-v2 (convert to .tflite) for better cross-domain retrieval quality</a:t>
            </a:r>
          </a:p>
          <a:p>
            <a:r>
              <a:rPr sz="1100">
                <a:solidFill>
                  <a:srgbClr val="000000"/>
                </a:solidFill>
                <a:latin typeface="Open Sans"/>
              </a:rPr>
              <a:t>▸  Cloud embedding APIs (OpenAI, Cohere) give the best quality but break the offline-first guarantee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From Token Vectors to Sentence Embeddings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8056" y="914400"/>
            <a:ext cx="8375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Open Sans"/>
              </a:rPr>
              <a:t>Problem: BERT outputs one 768-dim vector per token. We need one vector per chunk.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6" y="1417320"/>
            <a:ext cx="2791968" cy="402336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2791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pen Sans"/>
              </a:rPr>
              <a:t>Pooling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0024" y="1417320"/>
            <a:ext cx="2791968" cy="402336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4888" y="1417320"/>
            <a:ext cx="2791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pen Sans"/>
              </a:rPr>
              <a:t>How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1992" y="1417320"/>
            <a:ext cx="2791968" cy="402336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6856" y="1417320"/>
            <a:ext cx="2791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pen Sans"/>
              </a:rPr>
              <a:t>When to 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1819656"/>
            <a:ext cx="2791968" cy="402336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19656"/>
            <a:ext cx="2791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[CLS] token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24" y="1819656"/>
            <a:ext cx="2791968" cy="402336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4888" y="1819656"/>
            <a:ext cx="2791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Take the first output vector (trained for classification)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1992" y="1819656"/>
            <a:ext cx="2791968" cy="402336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6856" y="1819656"/>
            <a:ext cx="2791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Classification, retrieval (BERT default)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" y="2221992"/>
            <a:ext cx="2791968" cy="402336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221992"/>
            <a:ext cx="2791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Mean pooling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0024" y="2221992"/>
            <a:ext cx="2791968" cy="402336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4888" y="2221992"/>
            <a:ext cx="2791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Average all non-[PAD] token vectors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1992" y="2221992"/>
            <a:ext cx="2791968" cy="402336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6856" y="2221992"/>
            <a:ext cx="2791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Sentence similarity (SBERT)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" y="2624328"/>
            <a:ext cx="2791968" cy="402336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624328"/>
            <a:ext cx="2791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Max pooling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0024" y="2624328"/>
            <a:ext cx="2791968" cy="402336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4888" y="2624328"/>
            <a:ext cx="2791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Element-wise max across token vectors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1992" y="2624328"/>
            <a:ext cx="2791968" cy="402336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6856" y="2624328"/>
            <a:ext cx="2791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Captures salient features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" y="3026664"/>
            <a:ext cx="2791968" cy="402336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026664"/>
            <a:ext cx="2791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Weighted mean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0024" y="3026664"/>
            <a:ext cx="2791968" cy="402336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4888" y="3026664"/>
            <a:ext cx="2791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Weight by attention scores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1992" y="3026664"/>
            <a:ext cx="2791968" cy="402336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6856" y="3026664"/>
            <a:ext cx="27919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Rare — complex, marginal gain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" y="3520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C9C0C"/>
                </a:solidFill>
                <a:latin typeface="Open Sans"/>
              </a:rPr>
              <a:t>Projection layer (this app):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" y="3840480"/>
            <a:ext cx="8375904" cy="173736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7784" y="3913632"/>
            <a:ext cx="8156448" cy="1591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// After [CLS] pooling: 768-dim vector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// Linear projection W ∈ R^{768×128} reduces to 128 dims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embedding_128 = cls_vector @ W_proj   // (128,)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embedding_128 = l2_normalize(embedding_128)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// L2 normalisation: ||v|| = 1  ⇒  cosine_sim(a,b) = dot(a,b)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// Stored as REAL[] in CouchbaseLite — 128 floats = 512 bytes per chunk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Vector Dimensions &amp; Distance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2093976" cy="420624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20939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Metric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2542032" y="914400"/>
            <a:ext cx="2093976" cy="420624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96896" y="914400"/>
            <a:ext cx="20939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Formula</a:t>
            </a:r>
          </a:p>
        </p:txBody>
      </p:sp>
      <p:sp>
        <p:nvSpPr>
          <p:cNvPr id="7" name="Rectangle 6"/>
          <p:cNvSpPr/>
          <p:nvPr/>
        </p:nvSpPr>
        <p:spPr>
          <a:xfrm>
            <a:off x="4636008" y="914400"/>
            <a:ext cx="2093976" cy="420624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914400"/>
            <a:ext cx="20939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Range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6729984" y="914400"/>
            <a:ext cx="2093976" cy="420624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914400"/>
            <a:ext cx="20939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Best for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" y="1335024"/>
            <a:ext cx="209397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335024"/>
            <a:ext cx="20939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Cosine similarity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42032" y="1335024"/>
            <a:ext cx="209397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96896" y="1335024"/>
            <a:ext cx="20939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A·B / (|A||B|)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36008" y="1335024"/>
            <a:ext cx="209397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1335024"/>
            <a:ext cx="20939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[−1, 1]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9984" y="1335024"/>
            <a:ext cx="209397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4848" y="1335024"/>
            <a:ext cx="20939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Normalised embeddings (this app)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" y="1755648"/>
            <a:ext cx="2093976" cy="420624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1755648"/>
            <a:ext cx="20939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Dot product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42032" y="1755648"/>
            <a:ext cx="2093976" cy="420624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96896" y="1755648"/>
            <a:ext cx="20939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A·B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36008" y="1755648"/>
            <a:ext cx="2093976" cy="420624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0872" y="1755648"/>
            <a:ext cx="20939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(−∞,∞)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9984" y="1755648"/>
            <a:ext cx="2093976" cy="420624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4848" y="1755648"/>
            <a:ext cx="20939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When magnitude encodes relevance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" y="2176272"/>
            <a:ext cx="209397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176272"/>
            <a:ext cx="20939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Euclidean (L2)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42032" y="2176272"/>
            <a:ext cx="209397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96896" y="2176272"/>
            <a:ext cx="20939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√Σ(aᵢ−bᵢ)²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36008" y="2176272"/>
            <a:ext cx="209397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90872" y="2176272"/>
            <a:ext cx="20939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[0, ∞)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9984" y="2176272"/>
            <a:ext cx="2093976" cy="420624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84848" y="2176272"/>
            <a:ext cx="20939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Image embeddings, k-NN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" y="2596896"/>
            <a:ext cx="2093976" cy="420624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2596896"/>
            <a:ext cx="20939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Manhattan (L1)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42032" y="2596896"/>
            <a:ext cx="2093976" cy="420624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96896" y="2596896"/>
            <a:ext cx="20939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Σ|aᵢ−bᵢ|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36008" y="2596896"/>
            <a:ext cx="2093976" cy="420624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90872" y="2596896"/>
            <a:ext cx="20939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[0, ∞)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29984" y="2596896"/>
            <a:ext cx="2093976" cy="420624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84848" y="2596896"/>
            <a:ext cx="20939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Sparse vectors, anomaly detection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" y="3108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C9C0C"/>
                </a:solidFill>
                <a:latin typeface="Open Sans"/>
              </a:rPr>
              <a:t>Dimensionality trade-offs: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8056" y="3429000"/>
            <a:ext cx="2093976" cy="36576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3429000"/>
            <a:ext cx="2093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pen Sans"/>
              </a:rPr>
              <a:t>Dims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42032" y="3429000"/>
            <a:ext cx="2093976" cy="36576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96896" y="3429000"/>
            <a:ext cx="2093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pen Sans"/>
              </a:rPr>
              <a:t>Model example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36008" y="3429000"/>
            <a:ext cx="2093976" cy="36576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90872" y="3429000"/>
            <a:ext cx="2093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pen Sans"/>
              </a:rPr>
              <a:t>Storage/chunk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29984" y="3429000"/>
            <a:ext cx="2093976" cy="36576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84848" y="3429000"/>
            <a:ext cx="2093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pen Sans"/>
              </a:rPr>
              <a:t>Quality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8056" y="3794760"/>
            <a:ext cx="2093976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3794760"/>
            <a:ext cx="2093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128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42032" y="3794760"/>
            <a:ext cx="2093976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96896" y="3794760"/>
            <a:ext cx="2093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BERT projected (this app)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36008" y="3794760"/>
            <a:ext cx="2093976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90872" y="3794760"/>
            <a:ext cx="2093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512 B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29984" y="3794760"/>
            <a:ext cx="2093976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84848" y="3794760"/>
            <a:ext cx="2093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Good for short text retrieval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8056" y="4160520"/>
            <a:ext cx="2093976" cy="36576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" y="4160520"/>
            <a:ext cx="2093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384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542032" y="4160520"/>
            <a:ext cx="2093976" cy="36576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596896" y="4160520"/>
            <a:ext cx="2093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all-MiniLM-L6-v2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36008" y="4160520"/>
            <a:ext cx="2093976" cy="36576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90872" y="4160520"/>
            <a:ext cx="2093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1.5 KB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729984" y="4160520"/>
            <a:ext cx="2093976" cy="36576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84848" y="4160520"/>
            <a:ext cx="2093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Better cross-domain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8056" y="4526280"/>
            <a:ext cx="2093976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4526280"/>
            <a:ext cx="2093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768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542032" y="4526280"/>
            <a:ext cx="2093976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596896" y="4526280"/>
            <a:ext cx="2093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BERT-base, RoBERTa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36008" y="4526280"/>
            <a:ext cx="2093976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90872" y="4526280"/>
            <a:ext cx="2093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3 KB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29984" y="4526280"/>
            <a:ext cx="2093976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84848" y="4526280"/>
            <a:ext cx="2093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Strong general purpose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48056" y="4892040"/>
            <a:ext cx="2093976" cy="36576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2920" y="4892040"/>
            <a:ext cx="2093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1536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542032" y="4892040"/>
            <a:ext cx="2093976" cy="36576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596896" y="4892040"/>
            <a:ext cx="2093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text-embedding-ada-002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636008" y="4892040"/>
            <a:ext cx="2093976" cy="36576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690872" y="4892040"/>
            <a:ext cx="2093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6 KB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729984" y="4892040"/>
            <a:ext cx="2093976" cy="36576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784848" y="4892040"/>
            <a:ext cx="2093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State-of-art (cloud only)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8056" y="5349240"/>
            <a:ext cx="8375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Open Sans"/>
              </a:rPr>
              <a:t>Higher dims ≠ always better — 128 dims is sufficient for domain-specific RAG with short chunks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000000"/>
                </a:solidFill>
                <a:latin typeface="Open Sans"/>
              </a:rPr>
              <a:t>Part 4
Couchbase Lite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l"/>
            <a:r>
              <a:rPr sz="1400">
                <a:solidFill>
                  <a:srgbClr val="595959"/>
                </a:solidFill>
                <a:latin typeface="Open Sans"/>
              </a:rPr>
              <a:t>Slides 24–28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Couchbase Lite: Embedded NoSQL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4187952" cy="40005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4187952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ns"/>
              </a:rPr>
              <a:t>Feature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636008" y="914400"/>
            <a:ext cx="4187952" cy="40005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90872" y="914400"/>
            <a:ext cx="4187952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ns"/>
              </a:rPr>
              <a:t>Detail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" y="1314450"/>
            <a:ext cx="4187952" cy="40005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14450"/>
            <a:ext cx="4187952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Open Sans"/>
              </a:rPr>
              <a:t>Storage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6008" y="1314450"/>
            <a:ext cx="4187952" cy="40005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314450"/>
            <a:ext cx="4187952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Open Sans"/>
              </a:rPr>
              <a:t>SQLite-backed, MVCC, ACID transactions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" y="1714500"/>
            <a:ext cx="4187952" cy="40005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14500"/>
            <a:ext cx="4187952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Open Sans"/>
              </a:rPr>
              <a:t>Data 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36008" y="1714500"/>
            <a:ext cx="4187952" cy="40005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1714500"/>
            <a:ext cx="4187952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Open Sans"/>
              </a:rPr>
              <a:t>JSON documents in named collections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" y="2114550"/>
            <a:ext cx="4187952" cy="40005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114550"/>
            <a:ext cx="4187952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Open Sans"/>
              </a:rPr>
              <a:t>Query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36008" y="2114550"/>
            <a:ext cx="4187952" cy="40005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2" y="2114550"/>
            <a:ext cx="4187952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Open Sans"/>
              </a:rPr>
              <a:t>SQL++ (superset of SQL for JSON)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" y="2514600"/>
            <a:ext cx="4187952" cy="40005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514600"/>
            <a:ext cx="4187952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Open Sans"/>
              </a:rPr>
              <a:t>Sync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6008" y="2514600"/>
            <a:ext cx="4187952" cy="40005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0872" y="2514600"/>
            <a:ext cx="4187952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Open Sans"/>
              </a:rPr>
              <a:t>Sync Gateway / Capella App Services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" y="2914650"/>
            <a:ext cx="4187952" cy="40005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914650"/>
            <a:ext cx="4187952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Open Sans"/>
              </a:rPr>
              <a:t>Blobs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36008" y="2914650"/>
            <a:ext cx="4187952" cy="40005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90872" y="2914650"/>
            <a:ext cx="4187952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Open Sans"/>
              </a:rPr>
              <a:t>Binary attachments stored outside JSON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" y="3314700"/>
            <a:ext cx="4187952" cy="40005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314700"/>
            <a:ext cx="4187952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Open Sans"/>
              </a:rPr>
              <a:t>Listeners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36008" y="3314700"/>
            <a:ext cx="4187952" cy="40005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90872" y="3314700"/>
            <a:ext cx="4187952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Open Sans"/>
              </a:rPr>
              <a:t>Real-time change notifications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" y="3714750"/>
            <a:ext cx="4187952" cy="40005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714750"/>
            <a:ext cx="4187952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Open Sans"/>
              </a:rPr>
              <a:t>Platforms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36008" y="3714750"/>
            <a:ext cx="4187952" cy="40005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90872" y="3714750"/>
            <a:ext cx="4187952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Open Sans"/>
              </a:rPr>
              <a:t>iOS, Android, macOS, Windows, Linux, .NET, JVM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" y="4434840"/>
            <a:ext cx="8375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Open Sans"/>
              </a:rPr>
              <a:t>In this app: tauri-plugin-cblite wraps the C SDK via Rust FFI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Collections &amp; Document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1463040" cy="438912"/>
          </a:xfrm>
          <a:prstGeom prst="rect">
            <a:avLst/>
          </a:prstGeom>
          <a:solidFill>
            <a:srgbClr val="EC121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Open Sans"/>
              </a:rPr>
              <a:t>app.cblite2</a:t>
            </a:r>
          </a:p>
          <a:p>
            <a:pPr algn="ctr"/>
            <a:r>
              <a:rPr sz="800">
                <a:solidFill>
                  <a:srgbClr val="595959"/>
                </a:solidFill>
                <a:latin typeface="Open Sans"/>
              </a:rPr>
              <a:t>_default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231136" y="914400"/>
            <a:ext cx="3200400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>
                <a:solidFill>
                  <a:srgbClr val="000000"/>
                </a:solidFill>
                <a:latin typeface="Open Sans"/>
              </a:rPr>
              <a:t>conversations</a:t>
            </a:r>
          </a:p>
          <a:p>
            <a:pPr algn="ctr"/>
            <a:r>
              <a:rPr sz="700">
                <a:solidFill>
                  <a:srgbClr val="595959"/>
                </a:solidFill>
                <a:latin typeface="Open Sans"/>
              </a:rPr>
              <a:t>id, title, agentId, createdAt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1096" y="1014984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Open Sans"/>
              </a:rPr>
              <a:t>─</a:t>
            </a:r>
          </a:p>
        </p:txBody>
      </p:sp>
      <p:sp>
        <p:nvSpPr>
          <p:cNvPr id="6" name="Rectangle 5"/>
          <p:cNvSpPr/>
          <p:nvPr/>
        </p:nvSpPr>
        <p:spPr>
          <a:xfrm>
            <a:off x="2231136" y="1353312"/>
            <a:ext cx="3200400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>
                <a:solidFill>
                  <a:srgbClr val="000000"/>
                </a:solidFill>
                <a:latin typeface="Open Sans"/>
              </a:rPr>
              <a:t>messages</a:t>
            </a:r>
          </a:p>
          <a:p>
            <a:pPr algn="ctr"/>
            <a:r>
              <a:rPr sz="700">
                <a:solidFill>
                  <a:srgbClr val="595959"/>
                </a:solidFill>
                <a:latin typeface="Open Sans"/>
              </a:rPr>
              <a:t>id, conversationId, role, 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11096" y="145389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Open Sans"/>
              </a:rPr>
              <a:t>─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1792224"/>
            <a:ext cx="3200400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>
                <a:solidFill>
                  <a:srgbClr val="000000"/>
                </a:solidFill>
                <a:latin typeface="Open Sans"/>
              </a:rPr>
              <a:t>chunks</a:t>
            </a:r>
          </a:p>
          <a:p>
            <a:pPr algn="ctr"/>
            <a:r>
              <a:rPr sz="700">
                <a:solidFill>
                  <a:srgbClr val="595959"/>
                </a:solidFill>
                <a:latin typeface="Open Sans"/>
              </a:rPr>
              <a:t>id, docId, text, embedding[128]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1096" y="189280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Open Sans"/>
              </a:rPr>
              <a:t>─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31136" y="2231136"/>
            <a:ext cx="3200400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>
                <a:solidFill>
                  <a:srgbClr val="000000"/>
                </a:solidFill>
                <a:latin typeface="Open Sans"/>
              </a:rPr>
              <a:t>documents</a:t>
            </a:r>
          </a:p>
          <a:p>
            <a:pPr algn="ctr"/>
            <a:r>
              <a:rPr sz="700">
                <a:solidFill>
                  <a:srgbClr val="595959"/>
                </a:solidFill>
                <a:latin typeface="Open Sans"/>
              </a:rPr>
              <a:t>id, title, mimeType, blobKey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11096" y="23317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Open Sans"/>
              </a:rPr>
              <a:t>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31136" y="2670048"/>
            <a:ext cx="3200400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>
                <a:solidFill>
                  <a:srgbClr val="000000"/>
                </a:solidFill>
                <a:latin typeface="Open Sans"/>
              </a:rPr>
              <a:t>app-config</a:t>
            </a:r>
          </a:p>
          <a:p>
            <a:pPr algn="ctr"/>
            <a:r>
              <a:rPr sz="700">
                <a:solidFill>
                  <a:srgbClr val="595959"/>
                </a:solidFill>
                <a:latin typeface="Open Sans"/>
              </a:rPr>
              <a:t>schemaVersion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11096" y="277063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Open Sans"/>
              </a:rPr>
              <a:t>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" y="2834640"/>
            <a:ext cx="8375904" cy="192024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" y="2907792"/>
            <a:ext cx="8156448" cy="1773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6A6A"/>
                </a:solidFill>
                <a:latin typeface="Courier New"/>
              </a:rPr>
              <a:t>// Save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saveDocument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187A1F"/>
                </a:solidFill>
                <a:latin typeface="Courier New"/>
              </a:rPr>
              <a:t>"_default.messages"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msgId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conversationId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role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187A1F"/>
                </a:solidFill>
                <a:latin typeface="Courier New"/>
              </a:rPr>
              <a:t>"user"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content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text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createdAt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Date.now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6A6A"/>
                </a:solidFill>
                <a:latin typeface="Courier New"/>
              </a:rPr>
              <a:t>// Query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rows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executeQuery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187A1F"/>
                </a:solidFill>
                <a:latin typeface="Courier New"/>
              </a:rPr>
              <a:t>"SELECT id, role, content FROM _default.messages"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444444"/>
                </a:solidFill>
                <a:latin typeface="Courier New"/>
              </a:rPr>
              <a:t>+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187A1F"/>
                </a:solidFill>
                <a:latin typeface="Courier New"/>
              </a:rPr>
              <a:t>" WHERE conversationId = $cid ORDER BY createdAt"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cid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conversationId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SQL++ Queries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8375904" cy="347472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987552"/>
            <a:ext cx="8156448" cy="33284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6A6A"/>
                </a:solidFill>
                <a:latin typeface="Courier New"/>
              </a:rPr>
              <a:t>-- All conversations, newest first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SELECT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id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title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agentId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createdAt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FROM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_default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conversations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ORDER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1">
                <a:solidFill>
                  <a:srgbClr val="BA0E12"/>
                </a:solidFill>
                <a:latin typeface="Courier New"/>
              </a:rPr>
              <a:t>BY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createdAt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1">
                <a:solidFill>
                  <a:srgbClr val="BA0E12"/>
                </a:solidFill>
                <a:latin typeface="Courier New"/>
              </a:rPr>
              <a:t>DESC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6A6A"/>
                </a:solidFill>
                <a:latin typeface="Courier New"/>
              </a:rPr>
              <a:t>-- Messages for a conversation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SELECT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id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1">
                <a:solidFill>
                  <a:srgbClr val="BA0E12"/>
                </a:solidFill>
                <a:latin typeface="Courier New"/>
              </a:rPr>
              <a:t>role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content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toolCalls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toolResults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FROM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_default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messages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WHERE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conversationId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$</a:t>
            </a:r>
            <a:r>
              <a:rPr sz="900" b="0">
                <a:solidFill>
                  <a:srgbClr val="212121"/>
                </a:solidFill>
                <a:latin typeface="Courier New"/>
              </a:rPr>
              <a:t>cid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ORDER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1">
                <a:solidFill>
                  <a:srgbClr val="BA0E12"/>
                </a:solidFill>
                <a:latin typeface="Courier New"/>
              </a:rPr>
              <a:t>BY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createdAt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6A6A"/>
                </a:solidFill>
                <a:latin typeface="Courier New"/>
              </a:rPr>
              <a:t>-- Chunks with embeddings for a document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SELECT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id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007070"/>
                </a:solidFill>
                <a:latin typeface="Courier New"/>
              </a:rPr>
              <a:t>text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embedding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FROM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_default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chunks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WHERE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docId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$</a:t>
            </a:r>
            <a:r>
              <a:rPr sz="900" b="0">
                <a:solidFill>
                  <a:srgbClr val="212121"/>
                </a:solidFill>
                <a:latin typeface="Courier New"/>
              </a:rPr>
              <a:t>docId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" y="4114800"/>
            <a:ext cx="83759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Open Sans"/>
              </a:rPr>
              <a:t>▸  Parameters use $name syntax (prevents injection)</a:t>
            </a:r>
          </a:p>
          <a:p>
            <a:r>
              <a:rPr sz="1300">
                <a:solidFill>
                  <a:srgbClr val="000000"/>
                </a:solidFill>
                <a:latin typeface="Open Sans"/>
              </a:rPr>
              <a:t>▸  ARRAY_CONTAINS(), ARRAY_LENGTH() for JSON arrays</a:t>
            </a:r>
          </a:p>
          <a:p>
            <a:r>
              <a:rPr sz="1300">
                <a:solidFill>
                  <a:srgbClr val="000000"/>
                </a:solidFill>
                <a:latin typeface="Open Sans"/>
              </a:rPr>
              <a:t>▸  No JOINs across collections in CBL — denormalise or query separately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Blobs: Storing Binary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5029200" cy="32004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987552"/>
            <a:ext cx="4809744" cy="3054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6A6A"/>
                </a:solidFill>
                <a:latin typeface="Courier New"/>
              </a:rPr>
              <a:t>// Store a PDF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blobKey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saveBlob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187A1F"/>
                </a:solidFill>
                <a:latin typeface="Courier New"/>
              </a:rPr>
              <a:t>"application/pdf"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007070"/>
                </a:solidFill>
                <a:latin typeface="Courier New"/>
              </a:rPr>
              <a:t>Array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BA0E12"/>
                </a:solidFill>
                <a:latin typeface="Courier New"/>
              </a:rPr>
              <a:t>from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444444"/>
                </a:solidFill>
                <a:latin typeface="Courier New"/>
              </a:rPr>
              <a:t>new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007070"/>
                </a:solidFill>
                <a:latin typeface="Courier New"/>
              </a:rPr>
              <a:t>Uint8Array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212121"/>
                </a:solidFill>
                <a:latin typeface="Courier New"/>
              </a:rPr>
              <a:t>pdfBuffer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saveDocument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187A1F"/>
                </a:solidFill>
                <a:latin typeface="Courier New"/>
              </a:rPr>
              <a:t>"_default.documents"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docId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title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mimeType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187A1F"/>
                </a:solidFill>
                <a:latin typeface="Courier New"/>
              </a:rPr>
              <a:t>"application/pdf"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blobKey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6A6A"/>
                </a:solidFill>
                <a:latin typeface="Courier New"/>
              </a:rPr>
              <a:t>// Retrieve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bytes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getBlobData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212121"/>
                </a:solidFill>
                <a:latin typeface="Courier New"/>
              </a:rPr>
              <a:t>blobKey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blob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new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Blob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444444"/>
                </a:solidFill>
                <a:latin typeface="Courier New"/>
              </a:rPr>
              <a:t>[</a:t>
            </a:r>
            <a:r>
              <a:rPr sz="900" b="0">
                <a:solidFill>
                  <a:srgbClr val="444444"/>
                </a:solidFill>
                <a:latin typeface="Courier New"/>
              </a:rPr>
              <a:t>new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007070"/>
                </a:solidFill>
                <a:latin typeface="Courier New"/>
              </a:rPr>
              <a:t>Uint8Array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212121"/>
                </a:solidFill>
                <a:latin typeface="Courier New"/>
              </a:rPr>
              <a:t>bytes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]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1188720"/>
            <a:ext cx="352958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  <a:latin typeface="Open Sans"/>
              </a:rPr>
              <a:t>▸  Blob stored outside the document JSON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Deduplicated by content hash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blobKey is a stable reference across saves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Sync Gateway replicates blobs separately (lazy)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Schema Migrations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8375904" cy="3749039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987552"/>
            <a:ext cx="8156448" cy="36027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A0E12"/>
                </a:solidFill>
                <a:latin typeface="Courier New"/>
              </a:rPr>
              <a:t>async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function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runMigrations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doc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getDocument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187A1F"/>
                </a:solidFill>
                <a:latin typeface="Courier New"/>
              </a:rPr>
              <a:t>"_default"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187A1F"/>
                </a:solidFill>
                <a:latin typeface="Courier New"/>
              </a:rPr>
              <a:t>"app-config"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1">
                <a:solidFill>
                  <a:srgbClr val="BA0E12"/>
                </a:solidFill>
                <a:latin typeface="Courier New"/>
              </a:rPr>
              <a:t>catch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e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=&gt;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e</a:t>
            </a:r>
            <a:r>
              <a:rPr sz="850" b="0">
                <a:solidFill>
                  <a:srgbClr val="444444"/>
                </a:solidFill>
                <a:latin typeface="Courier New"/>
              </a:rPr>
              <a:t>?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message</a:t>
            </a:r>
            <a:r>
              <a:rPr sz="850" b="0">
                <a:solidFill>
                  <a:srgbClr val="444444"/>
                </a:solidFill>
                <a:latin typeface="Courier New"/>
              </a:rPr>
              <a:t>?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includes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187A1F"/>
                </a:solidFill>
                <a:latin typeface="Courier New"/>
              </a:rPr>
              <a:t>"not found"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?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null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7B008B"/>
                </a:solidFill>
                <a:latin typeface="Courier New"/>
              </a:rPr>
              <a:t>Promise.reject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e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version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doc</a:t>
            </a:r>
            <a:r>
              <a:rPr sz="850" b="0">
                <a:solidFill>
                  <a:srgbClr val="444444"/>
                </a:solidFill>
                <a:latin typeface="Courier New"/>
              </a:rPr>
              <a:t>?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schemaVersion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??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C05000"/>
                </a:solidFill>
                <a:latin typeface="Courier New"/>
              </a:rPr>
              <a:t>0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if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version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&lt;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C05000"/>
                </a:solidFill>
                <a:latin typeface="Courier New"/>
              </a:rPr>
              <a:t>1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6A6A6A"/>
                </a:solidFill>
                <a:latin typeface="Courier New"/>
              </a:rPr>
              <a:t>// Create default agent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saveDocument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187A1F"/>
                </a:solidFill>
                <a:latin typeface="Courier New"/>
              </a:rPr>
              <a:t>"_default.agents"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187A1F"/>
                </a:solidFill>
                <a:latin typeface="Courier New"/>
              </a:rPr>
              <a:t>"default"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name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187A1F"/>
                </a:solidFill>
                <a:latin typeface="Courier New"/>
              </a:rPr>
              <a:t>"Assistant"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if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version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&lt;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C05000"/>
                </a:solidFill>
                <a:latin typeface="Courier New"/>
              </a:rPr>
              <a:t>2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6A6A6A"/>
                </a:solidFill>
                <a:latin typeface="Courier New"/>
              </a:rPr>
              <a:t>// Add createdAt to existing conversations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rows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executeQuery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187A1F"/>
                </a:solidFill>
                <a:latin typeface="Courier New"/>
              </a:rPr>
              <a:t>"SELECT id FROM _default.conversations"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for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id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of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rows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saveDocument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187A1F"/>
                </a:solidFill>
                <a:latin typeface="Courier New"/>
              </a:rPr>
              <a:t>"_default.conversations"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id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createdAt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7B008B"/>
                </a:solidFill>
                <a:latin typeface="Courier New"/>
              </a:rPr>
              <a:t>0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saveDocument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187A1F"/>
                </a:solidFill>
                <a:latin typeface="Courier New"/>
              </a:rPr>
              <a:t>"_default"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187A1F"/>
                </a:solidFill>
                <a:latin typeface="Courier New"/>
              </a:rPr>
              <a:t>"app-config"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schemaVersion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7B008B"/>
                </a:solidFill>
                <a:latin typeface="Courier New"/>
              </a:rPr>
              <a:t>CURRENT_VERSION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>
                <a:latin typeface="Courier New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" y="4343400"/>
            <a:ext cx="8375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C1218"/>
                </a:solidFill>
                <a:latin typeface="Open Sans"/>
              </a:rPr>
              <a:t>Key: catch "not found" — CBL throws instead of returning null for missing docs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000000"/>
                </a:solidFill>
                <a:latin typeface="Open Sans"/>
              </a:rPr>
              <a:t>Part 5
LiteRT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l"/>
            <a:r>
              <a:rPr sz="1400">
                <a:solidFill>
                  <a:srgbClr val="595959"/>
                </a:solidFill>
                <a:latin typeface="Open Sans"/>
              </a:rPr>
              <a:t>Slides 29–45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What is LiteRT?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2093976" cy="45720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2542032" y="914400"/>
            <a:ext cx="2093976" cy="45720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96896" y="9144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LiteRT (TFLite)</a:t>
            </a:r>
          </a:p>
        </p:txBody>
      </p:sp>
      <p:sp>
        <p:nvSpPr>
          <p:cNvPr id="7" name="Rectangle 6"/>
          <p:cNvSpPr/>
          <p:nvPr/>
        </p:nvSpPr>
        <p:spPr>
          <a:xfrm>
            <a:off x="4636008" y="914400"/>
            <a:ext cx="2093976" cy="45720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9144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llama.cpp</a:t>
            </a:r>
          </a:p>
        </p:txBody>
      </p:sp>
      <p:sp>
        <p:nvSpPr>
          <p:cNvPr id="9" name="Rectangle 8"/>
          <p:cNvSpPr/>
          <p:nvPr/>
        </p:nvSpPr>
        <p:spPr>
          <a:xfrm>
            <a:off x="6729984" y="914400"/>
            <a:ext cx="2093976" cy="45720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9144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ONNX Runtime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" y="1371600"/>
            <a:ext cx="2093976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3716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Format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42032" y="1371600"/>
            <a:ext cx="2093976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96896" y="13716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.litertlm / .tflite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36008" y="1371600"/>
            <a:ext cx="2093976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13716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GGUF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9984" y="1371600"/>
            <a:ext cx="2093976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4848" y="13716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.onnx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" y="1828800"/>
            <a:ext cx="2093976" cy="4572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18288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Delegates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42032" y="1828800"/>
            <a:ext cx="2093976" cy="4572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96896" y="18288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GPU, NNAPI, CoreML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36008" y="1828800"/>
            <a:ext cx="2093976" cy="4572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0872" y="18288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CUDA, Metal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9984" y="1828800"/>
            <a:ext cx="2093976" cy="4572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4848" y="18288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CUDA, DirectML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" y="2286000"/>
            <a:ext cx="2093976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2860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Quantize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42032" y="2286000"/>
            <a:ext cx="2093976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96896" y="22860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INT4, INT8, FP16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36008" y="2286000"/>
            <a:ext cx="2093976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90872" y="22860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Q4_K_M etc.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9984" y="2286000"/>
            <a:ext cx="2093976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84848" y="22860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INT8, FP16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" y="2743200"/>
            <a:ext cx="2093976" cy="4572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27432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Mobile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42032" y="2743200"/>
            <a:ext cx="2093976" cy="4572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96896" y="27432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✓ first-class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36008" y="2743200"/>
            <a:ext cx="2093976" cy="4572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90872" y="27432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29984" y="2743200"/>
            <a:ext cx="2093976" cy="4572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84848" y="27432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056" y="3200400"/>
            <a:ext cx="2093976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32004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Desktop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42032" y="3200400"/>
            <a:ext cx="2093976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96896" y="32004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36008" y="3200400"/>
            <a:ext cx="2093976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90872" y="32004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9984" y="3200400"/>
            <a:ext cx="2093976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84848" y="32004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8056" y="3931920"/>
            <a:ext cx="8375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C9C0C"/>
                </a:solidFill>
                <a:latin typeface="Open Sans"/>
              </a:rPr>
              <a:t>LiteRT-LM = LiteRT + GenAI API (KV-cache, sampling, streaming)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6" y="4343400"/>
            <a:ext cx="8375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Open Sans"/>
              </a:rPr>
              <a:t>Gemma 3 1B INT4 — official .litertlm from ai.google.dev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Model Download: Rust Streaming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8375904" cy="384048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987552"/>
            <a:ext cx="8156448" cy="3694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A6A6A"/>
                </a:solidFill>
                <a:latin typeface="Courier New"/>
              </a:rPr>
              <a:t>#[</a:t>
            </a:r>
            <a:r>
              <a:rPr sz="850" b="0">
                <a:solidFill>
                  <a:srgbClr val="6A6A6A"/>
                </a:solidFill>
                <a:latin typeface="Courier New"/>
              </a:rPr>
              <a:t>tauri::command</a:t>
            </a:r>
            <a:r>
              <a:rPr sz="850" b="0">
                <a:solidFill>
                  <a:srgbClr val="6A6A6A"/>
                </a:solidFill>
                <a:latin typeface="Courier New"/>
              </a:rPr>
              <a:t>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A0E12"/>
                </a:solidFill>
                <a:latin typeface="Courier New"/>
              </a:rPr>
              <a:t>async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fn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005CC8"/>
                </a:solidFill>
                <a:latin typeface="Courier New"/>
              </a:rPr>
              <a:t>download_model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212121"/>
                </a:solidFill>
                <a:latin typeface="Courier New"/>
              </a:rPr>
              <a:t>app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6F42C1"/>
                </a:solidFill>
                <a:latin typeface="Courier New"/>
              </a:rPr>
              <a:t>AppHandle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url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007070"/>
                </a:solidFill>
                <a:latin typeface="Courier New"/>
              </a:rPr>
              <a:t>String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file_name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007070"/>
                </a:solidFill>
                <a:latin typeface="Courier New"/>
              </a:rPr>
              <a:t>String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212121"/>
                </a:solidFill>
                <a:latin typeface="Courier New"/>
              </a:rPr>
              <a:t>on_event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6F42C1"/>
                </a:solidFill>
                <a:latin typeface="Courier New"/>
              </a:rPr>
              <a:t>Channel</a:t>
            </a:r>
            <a:r>
              <a:rPr sz="850" b="0">
                <a:solidFill>
                  <a:srgbClr val="444444"/>
                </a:solidFill>
                <a:latin typeface="Courier New"/>
              </a:rPr>
              <a:t>&lt;</a:t>
            </a:r>
            <a:r>
              <a:rPr sz="850" b="0">
                <a:solidFill>
                  <a:srgbClr val="212121"/>
                </a:solidFill>
                <a:latin typeface="Courier New"/>
              </a:rPr>
              <a:t>DownloadEvent</a:t>
            </a:r>
            <a:r>
              <a:rPr sz="850" b="0">
                <a:solidFill>
                  <a:srgbClr val="444444"/>
                </a:solidFill>
                <a:latin typeface="Courier New"/>
              </a:rPr>
              <a:t>&gt;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-&gt;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007070"/>
                </a:solidFill>
                <a:latin typeface="Courier New"/>
              </a:rPr>
              <a:t>Result</a:t>
            </a:r>
            <a:r>
              <a:rPr sz="850" b="0">
                <a:solidFill>
                  <a:srgbClr val="444444"/>
                </a:solidFill>
                <a:latin typeface="Courier New"/>
              </a:rPr>
              <a:t>&lt;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007070"/>
                </a:solidFill>
                <a:latin typeface="Courier New"/>
              </a:rPr>
              <a:t>String</a:t>
            </a:r>
            <a:r>
              <a:rPr sz="850" b="0">
                <a:solidFill>
                  <a:srgbClr val="444444"/>
                </a:solidFill>
                <a:latin typeface="Courier New"/>
              </a:rPr>
              <a:t>&gt;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let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dest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app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path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app_local_data_dir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    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join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187A1F"/>
                </a:solidFill>
                <a:latin typeface="Courier New"/>
              </a:rPr>
              <a:t>"</a:t>
            </a:r>
            <a:r>
              <a:rPr sz="850" b="0">
                <a:solidFill>
                  <a:srgbClr val="187A1F"/>
                </a:solidFill>
                <a:latin typeface="Courier New"/>
              </a:rPr>
              <a:t>models</a:t>
            </a:r>
            <a:r>
              <a:rPr sz="850" b="0">
                <a:solidFill>
                  <a:srgbClr val="187A1F"/>
                </a:solidFill>
                <a:latin typeface="Courier New"/>
              </a:rPr>
              <a:t>"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join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&amp;</a:t>
            </a:r>
            <a:r>
              <a:rPr sz="850" b="0">
                <a:solidFill>
                  <a:srgbClr val="212121"/>
                </a:solidFill>
                <a:latin typeface="Courier New"/>
              </a:rPr>
              <a:t>file_name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let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mut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resp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reqwest</a:t>
            </a:r>
            <a:r>
              <a:rPr sz="850" b="0">
                <a:solidFill>
                  <a:srgbClr val="444444"/>
                </a:solidFill>
                <a:latin typeface="Courier New"/>
              </a:rPr>
              <a:t>::</a:t>
            </a:r>
            <a:r>
              <a:rPr sz="850" b="0">
                <a:solidFill>
                  <a:srgbClr val="212121"/>
                </a:solidFill>
                <a:latin typeface="Courier New"/>
              </a:rPr>
              <a:t>get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&amp;</a:t>
            </a:r>
            <a:r>
              <a:rPr sz="850" b="0">
                <a:solidFill>
                  <a:srgbClr val="212121"/>
                </a:solidFill>
                <a:latin typeface="Courier New"/>
              </a:rPr>
              <a:t>url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850" b="0">
                <a:solidFill>
                  <a:srgbClr val="444444"/>
                </a:solidFill>
                <a:latin typeface="Courier New"/>
              </a:rPr>
              <a:t>?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let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total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resp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content_length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unwrap_or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C05000"/>
                </a:solidFill>
                <a:latin typeface="Courier New"/>
              </a:rPr>
              <a:t>0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let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mut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file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tokio</a:t>
            </a:r>
            <a:r>
              <a:rPr sz="850" b="0">
                <a:solidFill>
                  <a:srgbClr val="444444"/>
                </a:solidFill>
                <a:latin typeface="Courier New"/>
              </a:rPr>
              <a:t>::</a:t>
            </a:r>
            <a:r>
              <a:rPr sz="850" b="0">
                <a:solidFill>
                  <a:srgbClr val="212121"/>
                </a:solidFill>
                <a:latin typeface="Courier New"/>
              </a:rPr>
              <a:t>fs</a:t>
            </a:r>
            <a:r>
              <a:rPr sz="850" b="0">
                <a:solidFill>
                  <a:srgbClr val="444444"/>
                </a:solidFill>
                <a:latin typeface="Courier New"/>
              </a:rPr>
              <a:t>::</a:t>
            </a:r>
            <a:r>
              <a:rPr sz="850" b="0">
                <a:solidFill>
                  <a:srgbClr val="212121"/>
                </a:solidFill>
                <a:latin typeface="Courier New"/>
              </a:rPr>
              <a:t>File</a:t>
            </a:r>
            <a:r>
              <a:rPr sz="850" b="0">
                <a:solidFill>
                  <a:srgbClr val="444444"/>
                </a:solidFill>
                <a:latin typeface="Courier New"/>
              </a:rPr>
              <a:t>::</a:t>
            </a:r>
            <a:r>
              <a:rPr sz="850" b="0">
                <a:solidFill>
                  <a:srgbClr val="212121"/>
                </a:solidFill>
                <a:latin typeface="Courier New"/>
              </a:rPr>
              <a:t>create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&amp;</a:t>
            </a:r>
            <a:r>
              <a:rPr sz="850" b="0">
                <a:solidFill>
                  <a:srgbClr val="212121"/>
                </a:solidFill>
                <a:latin typeface="Courier New"/>
              </a:rPr>
              <a:t>dest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850" b="0">
                <a:solidFill>
                  <a:srgbClr val="444444"/>
                </a:solidFill>
                <a:latin typeface="Courier New"/>
              </a:rPr>
              <a:t>?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let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mut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downloaded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C05000"/>
                </a:solidFill>
                <a:latin typeface="Courier New"/>
              </a:rPr>
              <a:t>0</a:t>
            </a:r>
            <a:r>
              <a:rPr sz="850" b="1">
                <a:solidFill>
                  <a:srgbClr val="BA0E12"/>
                </a:solidFill>
                <a:latin typeface="Courier New"/>
              </a:rPr>
              <a:t>u64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while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let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007070"/>
                </a:solidFill>
                <a:latin typeface="Courier New"/>
              </a:rPr>
              <a:t>Some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chunk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resp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chunk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850" b="0">
                <a:solidFill>
                  <a:srgbClr val="444444"/>
                </a:solidFill>
                <a:latin typeface="Courier New"/>
              </a:rPr>
              <a:t>?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    </a:t>
            </a:r>
            <a:r>
              <a:rPr sz="850" b="0">
                <a:solidFill>
                  <a:srgbClr val="212121"/>
                </a:solidFill>
                <a:latin typeface="Courier New"/>
              </a:rPr>
              <a:t>file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write_all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&amp;</a:t>
            </a:r>
            <a:r>
              <a:rPr sz="850" b="0">
                <a:solidFill>
                  <a:srgbClr val="212121"/>
                </a:solidFill>
                <a:latin typeface="Courier New"/>
              </a:rPr>
              <a:t>chunk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850" b="0">
                <a:solidFill>
                  <a:srgbClr val="444444"/>
                </a:solidFill>
                <a:latin typeface="Courier New"/>
              </a:rPr>
              <a:t>?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    </a:t>
            </a:r>
            <a:r>
              <a:rPr sz="850" b="0">
                <a:solidFill>
                  <a:srgbClr val="212121"/>
                </a:solidFill>
                <a:latin typeface="Courier New"/>
              </a:rPr>
              <a:t>downloaded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+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chunk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len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as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7B008B"/>
                </a:solidFill>
                <a:latin typeface="Courier New"/>
              </a:rPr>
              <a:t>u64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    </a:t>
            </a:r>
            <a:r>
              <a:rPr sz="850" b="0">
                <a:solidFill>
                  <a:srgbClr val="212121"/>
                </a:solidFill>
                <a:latin typeface="Courier New"/>
              </a:rPr>
              <a:t>on_event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send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DownloadEvent</a:t>
            </a:r>
            <a:r>
              <a:rPr sz="850" b="0">
                <a:solidFill>
                  <a:srgbClr val="444444"/>
                </a:solidFill>
                <a:latin typeface="Courier New"/>
              </a:rPr>
              <a:t>::</a:t>
            </a:r>
            <a:r>
              <a:rPr sz="850" b="0">
                <a:solidFill>
                  <a:srgbClr val="212121"/>
                </a:solidFill>
                <a:latin typeface="Courier New"/>
              </a:rPr>
              <a:t>Progress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        </a:t>
            </a:r>
            <a:r>
              <a:rPr sz="850" b="0">
                <a:solidFill>
                  <a:srgbClr val="212121"/>
                </a:solidFill>
                <a:latin typeface="Courier New"/>
              </a:rPr>
              <a:t>downloaded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total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    </a:t>
            </a: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?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212121"/>
                </a:solidFill>
                <a:latin typeface="Courier New"/>
              </a:rPr>
              <a:t>on_event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send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DownloadEvent</a:t>
            </a:r>
            <a:r>
              <a:rPr sz="850" b="0">
                <a:solidFill>
                  <a:srgbClr val="444444"/>
                </a:solidFill>
                <a:latin typeface="Courier New"/>
              </a:rPr>
              <a:t>::</a:t>
            </a:r>
            <a:r>
              <a:rPr sz="850" b="0">
                <a:solidFill>
                  <a:srgbClr val="212121"/>
                </a:solidFill>
                <a:latin typeface="Courier New"/>
              </a:rPr>
              <a:t>Finished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?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007070"/>
                </a:solidFill>
                <a:latin typeface="Courier New"/>
              </a:rPr>
              <a:t>Ok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>
                <a:latin typeface="Courier New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" y="4343400"/>
            <a:ext cx="8375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9C0C"/>
                </a:solidFill>
                <a:latin typeface="Open Sans"/>
              </a:rPr>
              <a:t>Channel&lt;T&gt; = Tauri v2 streaming IPC — no polling needed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Model Download: TypeScript 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5029200" cy="347472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987552"/>
            <a:ext cx="4809744" cy="33284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import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Channel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invoke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BA0E12"/>
                </a:solidFill>
                <a:latin typeface="Courier New"/>
              </a:rPr>
              <a:t>from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187A1F"/>
                </a:solidFill>
                <a:latin typeface="Courier New"/>
              </a:rPr>
              <a:t>"@tauri-apps/api/core"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channel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new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Channel</a:t>
            </a:r>
            <a:r>
              <a:rPr sz="900" b="0">
                <a:solidFill>
                  <a:srgbClr val="444444"/>
                </a:solidFill>
                <a:latin typeface="Courier New"/>
              </a:rPr>
              <a:t>&lt;</a:t>
            </a:r>
            <a:r>
              <a:rPr sz="900" b="0">
                <a:solidFill>
                  <a:srgbClr val="212121"/>
                </a:solidFill>
                <a:latin typeface="Courier New"/>
              </a:rPr>
              <a:t>DownloadEvent</a:t>
            </a:r>
            <a:r>
              <a:rPr sz="900" b="0">
                <a:solidFill>
                  <a:srgbClr val="444444"/>
                </a:solidFill>
                <a:latin typeface="Courier New"/>
              </a:rPr>
              <a:t>&gt;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channel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onmessage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212121"/>
                </a:solidFill>
                <a:latin typeface="Courier New"/>
              </a:rPr>
              <a:t>event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=&gt;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1">
                <a:solidFill>
                  <a:srgbClr val="BA0E12"/>
                </a:solidFill>
                <a:latin typeface="Courier New"/>
              </a:rPr>
              <a:t>if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212121"/>
                </a:solidFill>
                <a:latin typeface="Courier New"/>
              </a:rPr>
              <a:t>event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BA0E12"/>
                </a:solidFill>
                <a:latin typeface="Courier New"/>
              </a:rPr>
              <a:t>type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===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187A1F"/>
                </a:solidFill>
                <a:latin typeface="Courier New"/>
              </a:rPr>
              <a:t>"progress"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90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pct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event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downloaded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/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event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total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setProgress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212121"/>
                </a:solidFill>
                <a:latin typeface="Courier New"/>
              </a:rPr>
              <a:t>pct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1">
                <a:solidFill>
                  <a:srgbClr val="BA0E12"/>
                </a:solidFill>
                <a:latin typeface="Courier New"/>
              </a:rPr>
              <a:t>else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1">
                <a:solidFill>
                  <a:srgbClr val="BA0E12"/>
                </a:solidFill>
                <a:latin typeface="Courier New"/>
              </a:rPr>
              <a:t>if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212121"/>
                </a:solidFill>
                <a:latin typeface="Courier New"/>
              </a:rPr>
              <a:t>event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BA0E12"/>
                </a:solidFill>
                <a:latin typeface="Courier New"/>
              </a:rPr>
              <a:t>type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===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187A1F"/>
                </a:solidFill>
                <a:latin typeface="Courier New"/>
              </a:rPr>
              <a:t>"finished"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setDownloading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BA0E12"/>
                </a:solidFill>
                <a:latin typeface="Courier New"/>
              </a:rPr>
              <a:t>false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invoke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187A1F"/>
                </a:solidFill>
                <a:latin typeface="Courier New"/>
              </a:rPr>
              <a:t>"download_model"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url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MODEL_URL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fileName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187A1F"/>
                </a:solidFill>
                <a:latin typeface="Courier New"/>
              </a:rPr>
              <a:t>"gemma3-1b-it-int4.litertlm"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onEvent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channel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1188720"/>
            <a:ext cx="352958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  <a:latin typeface="Open Sans"/>
              </a:rPr>
              <a:t>▸  Channel is a typed event stream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onEvent maps to on_event in Rust (camelCase ↔ snake_case)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Cancel: invoke("cancel_download") sets an AtomicBool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Progress persists across app restarts via modelCache.ts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Running Inference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5029200" cy="347472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987552"/>
            <a:ext cx="4809744" cy="33284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6A6A"/>
                </a:solidFill>
                <a:latin typeface="Courier New"/>
              </a:rPr>
              <a:t>// TypeScript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session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invoke</a:t>
            </a:r>
            <a:r>
              <a:rPr sz="900" b="0">
                <a:solidFill>
                  <a:srgbClr val="444444"/>
                </a:solidFill>
                <a:latin typeface="Courier New"/>
              </a:rPr>
              <a:t>&lt;</a:t>
            </a:r>
            <a:r>
              <a:rPr sz="900" b="0">
                <a:solidFill>
                  <a:srgbClr val="7B008B"/>
                </a:solidFill>
                <a:latin typeface="Courier New"/>
              </a:rPr>
              <a:t>string</a:t>
            </a:r>
            <a:r>
              <a:rPr sz="900" b="0">
                <a:solidFill>
                  <a:srgbClr val="444444"/>
                </a:solidFill>
                <a:latin typeface="Courier New"/>
              </a:rPr>
              <a:t>&gt;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187A1F"/>
                </a:solidFill>
                <a:latin typeface="Courier New"/>
              </a:rPr>
              <a:t>"create_session"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modelPath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systemPrompt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agent.systemPrompt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stream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new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Channel</a:t>
            </a:r>
            <a:r>
              <a:rPr sz="900" b="0">
                <a:solidFill>
                  <a:srgbClr val="444444"/>
                </a:solidFill>
                <a:latin typeface="Courier New"/>
              </a:rPr>
              <a:t>&lt;</a:t>
            </a:r>
            <a:r>
              <a:rPr sz="900" b="0">
                <a:solidFill>
                  <a:srgbClr val="212121"/>
                </a:solidFill>
                <a:latin typeface="Courier New"/>
              </a:rPr>
              <a:t>InferenceEvent</a:t>
            </a:r>
            <a:r>
              <a:rPr sz="900" b="0">
                <a:solidFill>
                  <a:srgbClr val="444444"/>
                </a:solidFill>
                <a:latin typeface="Courier New"/>
              </a:rPr>
              <a:t>&gt;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stream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onmessage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212121"/>
                </a:solidFill>
                <a:latin typeface="Courier New"/>
              </a:rPr>
              <a:t>ev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=&gt;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1">
                <a:solidFill>
                  <a:srgbClr val="BA0E12"/>
                </a:solidFill>
                <a:latin typeface="Courier New"/>
              </a:rPr>
              <a:t>if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212121"/>
                </a:solidFill>
                <a:latin typeface="Courier New"/>
              </a:rPr>
              <a:t>ev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BA0E12"/>
                </a:solidFill>
                <a:latin typeface="Courier New"/>
              </a:rPr>
              <a:t>type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===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187A1F"/>
                </a:solidFill>
                <a:latin typeface="Courier New"/>
              </a:rPr>
              <a:t>"token"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appendToken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212121"/>
                </a:solidFill>
                <a:latin typeface="Courier New"/>
              </a:rPr>
              <a:t>ev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text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1">
                <a:solidFill>
                  <a:srgbClr val="BA0E12"/>
                </a:solidFill>
                <a:latin typeface="Courier New"/>
              </a:rPr>
              <a:t>else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1">
                <a:solidFill>
                  <a:srgbClr val="BA0E12"/>
                </a:solidFill>
                <a:latin typeface="Courier New"/>
              </a:rPr>
              <a:t>if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212121"/>
                </a:solidFill>
                <a:latin typeface="Courier New"/>
              </a:rPr>
              <a:t>ev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BA0E12"/>
                </a:solidFill>
                <a:latin typeface="Courier New"/>
              </a:rPr>
              <a:t>type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===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187A1F"/>
                </a:solidFill>
                <a:latin typeface="Courier New"/>
              </a:rPr>
              <a:t>"done"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finalise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invoke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187A1F"/>
                </a:solidFill>
                <a:latin typeface="Courier New"/>
              </a:rPr>
              <a:t>"run_inference"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sessionId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session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messages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history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  </a:t>
            </a:r>
            <a:r>
              <a:rPr sz="900" b="0">
                <a:solidFill>
                  <a:srgbClr val="6A6A6A"/>
                </a:solidFill>
                <a:latin typeface="Courier New"/>
              </a:rPr>
              <a:t>// [{role, content}]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onEvent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stream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1188720"/>
            <a:ext cx="35295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  <a:latin typeface="Open Sans"/>
              </a:rPr>
              <a:t>▸  Session holds KV-cache — reuse across turns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History formatted as ChatML before passing to model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Abort: invoke("abort_inference", { sessionId })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Embedding Inference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5029200" cy="27432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987552"/>
            <a:ext cx="4809744" cy="2596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6A6A"/>
                </a:solidFill>
                <a:latin typeface="Courier New"/>
              </a:rPr>
              <a:t>// Rust: run BERT embedding model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6A6A"/>
                </a:solidFill>
                <a:latin typeface="Courier New"/>
              </a:rPr>
              <a:t>#[</a:t>
            </a:r>
            <a:r>
              <a:rPr sz="900" b="0">
                <a:solidFill>
                  <a:srgbClr val="6A6A6A"/>
                </a:solidFill>
                <a:latin typeface="Courier New"/>
              </a:rPr>
              <a:t>tauri::command</a:t>
            </a:r>
            <a:r>
              <a:rPr sz="900" b="0">
                <a:solidFill>
                  <a:srgbClr val="6A6A6A"/>
                </a:solidFill>
                <a:latin typeface="Courier New"/>
              </a:rPr>
              <a:t>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async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1">
                <a:solidFill>
                  <a:srgbClr val="BA0E12"/>
                </a:solidFill>
                <a:latin typeface="Courier New"/>
              </a:rPr>
              <a:t>fn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005CC8"/>
                </a:solidFill>
                <a:latin typeface="Courier New"/>
              </a:rPr>
              <a:t>run_embedding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state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6F42C1"/>
                </a:solidFill>
                <a:latin typeface="Courier New"/>
              </a:rPr>
              <a:t>State</a:t>
            </a:r>
            <a:r>
              <a:rPr sz="900" b="0">
                <a:solidFill>
                  <a:srgbClr val="444444"/>
                </a:solidFill>
                <a:latin typeface="Courier New"/>
              </a:rPr>
              <a:t>&lt;</a:t>
            </a:r>
            <a:r>
              <a:rPr sz="900" b="0">
                <a:solidFill>
                  <a:srgbClr val="444444"/>
                </a:solidFill>
                <a:latin typeface="Courier New"/>
              </a:rPr>
              <a:t>'</a:t>
            </a:r>
            <a:r>
              <a:rPr sz="900" b="0">
                <a:solidFill>
                  <a:srgbClr val="007070"/>
                </a:solidFill>
                <a:latin typeface="Courier New"/>
              </a:rPr>
              <a:t>_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LiteRTState</a:t>
            </a:r>
            <a:r>
              <a:rPr sz="900" b="0">
                <a:solidFill>
                  <a:srgbClr val="444444"/>
                </a:solidFill>
                <a:latin typeface="Courier New"/>
              </a:rPr>
              <a:t>&gt;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text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007070"/>
                </a:solidFill>
                <a:latin typeface="Courier New"/>
              </a:rPr>
              <a:t>String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-&gt;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007070"/>
                </a:solidFill>
                <a:latin typeface="Courier New"/>
              </a:rPr>
              <a:t>Result</a:t>
            </a:r>
            <a:r>
              <a:rPr sz="900" b="0">
                <a:solidFill>
                  <a:srgbClr val="444444"/>
                </a:solidFill>
                <a:latin typeface="Courier New"/>
              </a:rPr>
              <a:t>&lt;</a:t>
            </a:r>
            <a:r>
              <a:rPr sz="900" b="0">
                <a:solidFill>
                  <a:srgbClr val="007070"/>
                </a:solidFill>
                <a:latin typeface="Courier New"/>
              </a:rPr>
              <a:t>Vec</a:t>
            </a:r>
            <a:r>
              <a:rPr sz="900" b="0">
                <a:solidFill>
                  <a:srgbClr val="444444"/>
                </a:solidFill>
                <a:latin typeface="Courier New"/>
              </a:rPr>
              <a:t>&lt;</a:t>
            </a:r>
            <a:r>
              <a:rPr sz="900" b="0">
                <a:solidFill>
                  <a:srgbClr val="7B008B"/>
                </a:solidFill>
                <a:latin typeface="Courier New"/>
              </a:rPr>
              <a:t>f32</a:t>
            </a:r>
            <a:r>
              <a:rPr sz="900" b="0">
                <a:solidFill>
                  <a:srgbClr val="444444"/>
                </a:solidFill>
                <a:latin typeface="Courier New"/>
              </a:rPr>
              <a:t>&gt;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007070"/>
                </a:solidFill>
                <a:latin typeface="Courier New"/>
              </a:rPr>
              <a:t>String</a:t>
            </a:r>
            <a:r>
              <a:rPr sz="900" b="0">
                <a:solidFill>
                  <a:srgbClr val="444444"/>
                </a:solidFill>
                <a:latin typeface="Courier New"/>
              </a:rPr>
              <a:t>&gt;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900" b="1">
                <a:solidFill>
                  <a:srgbClr val="BA0E12"/>
                </a:solidFill>
                <a:latin typeface="Courier New"/>
              </a:rPr>
              <a:t>let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interpreter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state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embedding_interpreter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lock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900" b="1">
                <a:solidFill>
                  <a:srgbClr val="BA0E12"/>
                </a:solidFill>
                <a:latin typeface="Courier New"/>
              </a:rPr>
              <a:t>let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input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tokenize_bert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444444"/>
                </a:solidFill>
                <a:latin typeface="Courier New"/>
              </a:rPr>
              <a:t>&amp;</a:t>
            </a:r>
            <a:r>
              <a:rPr sz="900" b="0">
                <a:solidFill>
                  <a:srgbClr val="212121"/>
                </a:solidFill>
                <a:latin typeface="Courier New"/>
              </a:rPr>
              <a:t>text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?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interpreter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set_input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C05000"/>
                </a:solidFill>
                <a:latin typeface="Courier New"/>
              </a:rPr>
              <a:t>0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&amp;</a:t>
            </a:r>
            <a:r>
              <a:rPr sz="900" b="0">
                <a:solidFill>
                  <a:srgbClr val="212121"/>
                </a:solidFill>
                <a:latin typeface="Courier New"/>
              </a:rPr>
              <a:t>input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?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interpreter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invoke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?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900" b="1">
                <a:solidFill>
                  <a:srgbClr val="BA0E12"/>
                </a:solidFill>
                <a:latin typeface="Courier New"/>
              </a:rPr>
              <a:t>let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output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interpreter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get_output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C05000"/>
                </a:solidFill>
                <a:latin typeface="Courier New"/>
              </a:rPr>
              <a:t>0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?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900" b="0">
                <a:solidFill>
                  <a:srgbClr val="007070"/>
                </a:solidFill>
                <a:latin typeface="Courier New"/>
              </a:rPr>
              <a:t>Ok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212121"/>
                </a:solidFill>
                <a:latin typeface="Courier New"/>
              </a:rPr>
              <a:t>l2_normalize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212121"/>
                </a:solidFill>
                <a:latin typeface="Courier New"/>
              </a:rPr>
              <a:t>output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1188720"/>
            <a:ext cx="352958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  <a:latin typeface="Open Sans"/>
              </a:rPr>
              <a:t>▸  BERT-base-uncased: 12 layers, 768 hidden, 128 output after pooling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L2-normalise so cosine similarity = dot product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~5 ms per chunk on CPU — fast enough for real-time ingest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Web fallback: ONNX Runtime Web in a Worker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LiteRT Model Formats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2791968" cy="475488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27919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Format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24" y="914400"/>
            <a:ext cx="2791968" cy="475488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4888" y="914400"/>
            <a:ext cx="27919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1992" y="914400"/>
            <a:ext cx="2791968" cy="475488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6856" y="914400"/>
            <a:ext cx="27919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Use 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" y="1389888"/>
            <a:ext cx="2791968" cy="47548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89888"/>
            <a:ext cx="27919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.tflite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24" y="1389888"/>
            <a:ext cx="2791968" cy="47548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4888" y="1389888"/>
            <a:ext cx="27919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FlatBuffer graph + weights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1992" y="1389888"/>
            <a:ext cx="2791968" cy="47548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6856" y="1389888"/>
            <a:ext cx="27919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Classic TFLite ops (vision, audio)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" y="1865376"/>
            <a:ext cx="2791968" cy="47548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865376"/>
            <a:ext cx="27919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.litertlm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0024" y="1865376"/>
            <a:ext cx="2791968" cy="47548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4888" y="1865376"/>
            <a:ext cx="27919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FlatBuffer + GenAI metadata sidecar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1992" y="1865376"/>
            <a:ext cx="2791968" cy="47548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6856" y="1865376"/>
            <a:ext cx="27919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LLMs with KV-cache &amp; sampling config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" y="2340864"/>
            <a:ext cx="2791968" cy="47548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340864"/>
            <a:ext cx="27919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.task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0024" y="2340864"/>
            <a:ext cx="2791968" cy="47548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4888" y="2340864"/>
            <a:ext cx="27919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Bundled model + pre/post-processing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1992" y="2340864"/>
            <a:ext cx="2791968" cy="47548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6856" y="2340864"/>
            <a:ext cx="27919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MediaPipe Tasks (object detect, pose)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" y="2816352"/>
            <a:ext cx="2791968" cy="47548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816352"/>
            <a:ext cx="27919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SavedModel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0024" y="2816352"/>
            <a:ext cx="2791968" cy="47548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4888" y="2816352"/>
            <a:ext cx="27919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TF graph + variables directory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1992" y="2816352"/>
            <a:ext cx="2791968" cy="47548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6856" y="2816352"/>
            <a:ext cx="27919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Training checkpoint — convert before deploy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" y="3474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9C0C"/>
                </a:solidFill>
                <a:latin typeface="Open Sans"/>
              </a:rPr>
              <a:t>Conversion pipeline: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" y="3749039"/>
            <a:ext cx="8375904" cy="192024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" y="3822191"/>
            <a:ext cx="8156448" cy="1773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# Keras / PyTorch  →  SavedModel  →  .tflite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converter = tf.lite.TFLiteConverter.from_saved_model(saved_model_dir)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converter.optimizations = [tf.lite.Optimize.DEFAULT]   # INT8 PTQ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converter.target_spec.supported_types = [tf.float16]   # or INT4 via AI Edge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tflite_model = converter.convert()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# LLM-specific: use AI Edge Torch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# pip install ai-edge-torch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ai_edge_torch.convert(model, sample_inputs).export('gemma.litertlm')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>
                <a:latin typeface="Courier New"/>
              </a:rPr>
              <a:t>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Quantization: Making Models Fit on Device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1675180" cy="42672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67518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Scheme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123236" y="914400"/>
            <a:ext cx="1675180" cy="42672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78100" y="914400"/>
            <a:ext cx="167518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Bits/weight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3798417" y="914400"/>
            <a:ext cx="1675180" cy="42672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53281" y="914400"/>
            <a:ext cx="167518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Size vs FP32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73598" y="914400"/>
            <a:ext cx="1675180" cy="42672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28462" y="914400"/>
            <a:ext cx="167518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Quality loss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8779" y="914400"/>
            <a:ext cx="1675180" cy="42672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3643" y="914400"/>
            <a:ext cx="167518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Speed gain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" y="1341120"/>
            <a:ext cx="1675180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341120"/>
            <a:ext cx="167518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FP32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3236" y="1341120"/>
            <a:ext cx="1675180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78100" y="1341120"/>
            <a:ext cx="167518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32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98417" y="1341120"/>
            <a:ext cx="1675180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53281" y="1341120"/>
            <a:ext cx="167518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1×  baseline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73598" y="1341120"/>
            <a:ext cx="1675180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28462" y="1341120"/>
            <a:ext cx="167518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none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48779" y="1341120"/>
            <a:ext cx="1675180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3643" y="1341120"/>
            <a:ext cx="167518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1×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" y="1767840"/>
            <a:ext cx="1675180" cy="42672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1767840"/>
            <a:ext cx="167518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FP16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23236" y="1767840"/>
            <a:ext cx="1675180" cy="42672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78100" y="1767840"/>
            <a:ext cx="167518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16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98417" y="1767840"/>
            <a:ext cx="1675180" cy="42672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3281" y="1767840"/>
            <a:ext cx="167518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0.5×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73598" y="1767840"/>
            <a:ext cx="1675180" cy="42672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28462" y="1767840"/>
            <a:ext cx="167518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&lt; 0.1%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48779" y="1767840"/>
            <a:ext cx="1675180" cy="42672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03643" y="1767840"/>
            <a:ext cx="167518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1.5× (GPU)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" y="2194560"/>
            <a:ext cx="1675180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194560"/>
            <a:ext cx="167518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INT8 (PTQ)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23236" y="2194560"/>
            <a:ext cx="1675180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78100" y="2194560"/>
            <a:ext cx="167518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98417" y="2194560"/>
            <a:ext cx="1675180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53281" y="2194560"/>
            <a:ext cx="167518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0.25×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73598" y="2194560"/>
            <a:ext cx="1675180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28462" y="2194560"/>
            <a:ext cx="167518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~1–2%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48779" y="2194560"/>
            <a:ext cx="1675180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03643" y="2194560"/>
            <a:ext cx="167518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2–4× (CPU)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056" y="2621280"/>
            <a:ext cx="1675180" cy="42672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2621280"/>
            <a:ext cx="167518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INT4 (QAT)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23236" y="2621280"/>
            <a:ext cx="1675180" cy="42672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78100" y="2621280"/>
            <a:ext cx="167518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98417" y="2621280"/>
            <a:ext cx="1675180" cy="42672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53281" y="2621280"/>
            <a:ext cx="167518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0.125×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73598" y="2621280"/>
            <a:ext cx="1675180" cy="42672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28462" y="2621280"/>
            <a:ext cx="167518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~3–5%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48779" y="2621280"/>
            <a:ext cx="1675180" cy="42672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03643" y="2621280"/>
            <a:ext cx="167518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4–6× (CPU)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8056" y="3048000"/>
            <a:ext cx="1675180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3048000"/>
            <a:ext cx="167518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INT4 mixed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23236" y="3048000"/>
            <a:ext cx="1675180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78100" y="3048000"/>
            <a:ext cx="167518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4/8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98417" y="3048000"/>
            <a:ext cx="1675180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53281" y="3048000"/>
            <a:ext cx="167518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0.15×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73598" y="3048000"/>
            <a:ext cx="1675180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28462" y="3048000"/>
            <a:ext cx="167518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~1–2%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48779" y="3048000"/>
            <a:ext cx="1675180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03643" y="3048000"/>
            <a:ext cx="167518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3–5×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8056" y="3611880"/>
            <a:ext cx="837590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  <a:latin typeface="Open Sans"/>
              </a:rPr>
              <a:t>▸  PTQ = Post-Training Quantization — no retraining, calibration dataset only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QAT = Quantization-Aware Training — fine-tune with fake quantization nodes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Mixed precision: keep attention layers FP16, FFN layers INT4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Gemma 3 1B INT4: 700 MB vs 4 GB FP32 — fits in phone RAM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Rule of thumb: INT8 for accuracy-critical tasks, INT4 for chat/generation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Hardware Delegates: Choosing the Right Backend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2093976" cy="42672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2093976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Delegate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542032" y="914400"/>
            <a:ext cx="2093976" cy="42672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96896" y="914400"/>
            <a:ext cx="2093976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4636008" y="914400"/>
            <a:ext cx="2093976" cy="42672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914400"/>
            <a:ext cx="2093976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Best for</a:t>
            </a:r>
          </a:p>
        </p:txBody>
      </p:sp>
      <p:sp>
        <p:nvSpPr>
          <p:cNvPr id="9" name="Rectangle 8"/>
          <p:cNvSpPr/>
          <p:nvPr/>
        </p:nvSpPr>
        <p:spPr>
          <a:xfrm>
            <a:off x="6729984" y="914400"/>
            <a:ext cx="2093976" cy="42672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914400"/>
            <a:ext cx="2093976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Fallback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" y="1341120"/>
            <a:ext cx="2093976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341120"/>
            <a:ext cx="2093976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GPU Delegate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42032" y="1341120"/>
            <a:ext cx="2093976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96896" y="1341120"/>
            <a:ext cx="2093976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Android / iOS / Desktop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36008" y="1341120"/>
            <a:ext cx="2093976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1341120"/>
            <a:ext cx="2093976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LLM inference, matrix ops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9984" y="1341120"/>
            <a:ext cx="2093976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4848" y="1341120"/>
            <a:ext cx="2093976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CPU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" y="1767840"/>
            <a:ext cx="2093976" cy="42672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1767840"/>
            <a:ext cx="2093976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NNAPI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42032" y="1767840"/>
            <a:ext cx="2093976" cy="42672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96896" y="1767840"/>
            <a:ext cx="2093976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Android 8.1+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36008" y="1767840"/>
            <a:ext cx="2093976" cy="42672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0872" y="1767840"/>
            <a:ext cx="2093976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DSP / NPU on Qualcomm, MediaTek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9984" y="1767840"/>
            <a:ext cx="2093976" cy="42672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4848" y="1767840"/>
            <a:ext cx="2093976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GPU → CPU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" y="2194560"/>
            <a:ext cx="2093976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194560"/>
            <a:ext cx="2093976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CoreML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42032" y="2194560"/>
            <a:ext cx="2093976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96896" y="2194560"/>
            <a:ext cx="2093976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iOS / macOS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36008" y="2194560"/>
            <a:ext cx="2093976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90872" y="2194560"/>
            <a:ext cx="2093976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Apple Neural Engine (ANE)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9984" y="2194560"/>
            <a:ext cx="2093976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84848" y="2194560"/>
            <a:ext cx="2093976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CPU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" y="2621280"/>
            <a:ext cx="2093976" cy="42672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2621280"/>
            <a:ext cx="2093976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XNNPack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42032" y="2621280"/>
            <a:ext cx="2093976" cy="42672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96896" y="2621280"/>
            <a:ext cx="2093976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All (default CPU)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36008" y="2621280"/>
            <a:ext cx="2093976" cy="42672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90872" y="2621280"/>
            <a:ext cx="2093976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Optimised SIMD on ARM / x86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29984" y="2621280"/>
            <a:ext cx="2093976" cy="42672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84848" y="2621280"/>
            <a:ext cx="2093976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056" y="3048000"/>
            <a:ext cx="2093976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3048000"/>
            <a:ext cx="2093976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Hexagon DSP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42032" y="3048000"/>
            <a:ext cx="2093976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96896" y="3048000"/>
            <a:ext cx="2093976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Qualcomm Snapdragon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36008" y="3048000"/>
            <a:ext cx="2093976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90872" y="3048000"/>
            <a:ext cx="2093976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Ultra-low power inference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9984" y="3048000"/>
            <a:ext cx="2093976" cy="4267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84848" y="3048000"/>
            <a:ext cx="2093976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NNAPI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8056" y="3611880"/>
            <a:ext cx="8375904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7784" y="3685032"/>
            <a:ext cx="8156448" cy="1225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6A6A"/>
                </a:solidFill>
                <a:latin typeface="Courier New"/>
              </a:rPr>
              <a:t>// LiteRT-LM selects delegate automatically via InferenceOptions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options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InferenceOptions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preferredBackend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187A1F"/>
                </a:solidFill>
                <a:latin typeface="Courier New"/>
              </a:rPr>
              <a:t>'gpu'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  </a:t>
            </a:r>
            <a:r>
              <a:rPr sz="900" b="0">
                <a:solidFill>
                  <a:srgbClr val="6A6A6A"/>
                </a:solidFill>
                <a:latin typeface="Courier New"/>
              </a:rPr>
              <a:t>// 'gpu' | 'cpu' | 'nnapi'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numThreads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4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            </a:t>
            </a:r>
            <a:r>
              <a:rPr sz="900" b="0">
                <a:solidFill>
                  <a:srgbClr val="6A6A6A"/>
                </a:solidFill>
                <a:latin typeface="Courier New"/>
              </a:rPr>
              <a:t>// CPU thread count when GPU unavailable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6A6A"/>
                </a:solidFill>
                <a:latin typeface="Courier New"/>
              </a:rPr>
              <a:t>// Rust side: litert_lm::Session::new(model_path, options)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8056" y="5074920"/>
            <a:ext cx="8375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9C0C"/>
                </a:solidFill>
                <a:latin typeface="Open Sans"/>
              </a:rPr>
              <a:t>GPU delegate gives 3–4× speedup on Adreno / Mali GPUs vs XNNPack CPU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GenAI API: KV-Cache &amp; Sampling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8056" y="914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9C0C"/>
                </a:solidFill>
                <a:latin typeface="Open Sans"/>
              </a:rPr>
              <a:t>What is a KV-Cache?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1325880"/>
            <a:ext cx="837590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  <a:latin typeface="Open Sans"/>
              </a:rPr>
              <a:t>▸  Transformers compute Key and Value matrices for every token in context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Without cache: re-compute all K/V on every new token — O(n²) cost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With KV-cache: store K/V from previous tokens, only compute new token — O(n)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LiteRT-LM Session holds the cache across turns — reuse the same session object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" y="2880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9C0C"/>
                </a:solidFill>
                <a:latin typeface="Open Sans"/>
              </a:rPr>
              <a:t>Sampling parameters: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" y="3200400"/>
            <a:ext cx="2791968" cy="30480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0"/>
            <a:ext cx="2791968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pen Sans"/>
              </a:rPr>
              <a:t>Parameter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24" y="3200400"/>
            <a:ext cx="2791968" cy="30480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4888" y="3200400"/>
            <a:ext cx="2791968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pen Sans"/>
              </a:rPr>
              <a:t>Effect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1992" y="3200400"/>
            <a:ext cx="2791968" cy="30480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6856" y="3200400"/>
            <a:ext cx="2791968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pen Sans"/>
              </a:rPr>
              <a:t>Typical 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" y="3505200"/>
            <a:ext cx="2791968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505200"/>
            <a:ext cx="2791968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temperature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0024" y="3505200"/>
            <a:ext cx="2791968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4888" y="3505200"/>
            <a:ext cx="2791968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Scales logits before softmax — higher = more random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1992" y="3505200"/>
            <a:ext cx="2791968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6856" y="3505200"/>
            <a:ext cx="2791968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0.7–1.0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" y="3810000"/>
            <a:ext cx="2791968" cy="3048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810000"/>
            <a:ext cx="2791968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top_k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0024" y="3810000"/>
            <a:ext cx="2791968" cy="3048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4888" y="3810000"/>
            <a:ext cx="2791968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Sample only from top-K most likely tokens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1992" y="3810000"/>
            <a:ext cx="2791968" cy="3048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6856" y="3810000"/>
            <a:ext cx="2791968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40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" y="4114800"/>
            <a:ext cx="2791968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114800"/>
            <a:ext cx="2791968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top_p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0024" y="4114800"/>
            <a:ext cx="2791968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4888" y="4114800"/>
            <a:ext cx="2791968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Nucleus sampling: smallest set with cumulative p prob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1992" y="4114800"/>
            <a:ext cx="2791968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6856" y="4114800"/>
            <a:ext cx="2791968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0.95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" y="4419600"/>
            <a:ext cx="2791968" cy="3048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419600"/>
            <a:ext cx="2791968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max_tokens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0024" y="4419600"/>
            <a:ext cx="2791968" cy="3048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4888" y="4419600"/>
            <a:ext cx="2791968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Hard stop on output length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1992" y="4419600"/>
            <a:ext cx="2791968" cy="3048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6856" y="4419600"/>
            <a:ext cx="2791968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512–2048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" y="4724400"/>
            <a:ext cx="2791968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724400"/>
            <a:ext cx="2791968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stop_tokens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40024" y="4724400"/>
            <a:ext cx="2791968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4888" y="4724400"/>
            <a:ext cx="2791968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EOS token IDs that terminate generation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1992" y="4724400"/>
            <a:ext cx="2791968" cy="3048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86856" y="4724400"/>
            <a:ext cx="2791968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model-specific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LiteRT Performance: Real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1675180" cy="418011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pen Sans"/>
              </a:rPr>
              <a:t>Device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123236" y="914400"/>
            <a:ext cx="1675180" cy="418011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78100" y="914400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pen Sans"/>
              </a:rP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798417" y="914400"/>
            <a:ext cx="1675180" cy="418011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53281" y="914400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pen Sans"/>
              </a:rPr>
              <a:t>Backend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73598" y="914400"/>
            <a:ext cx="1675180" cy="418011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28462" y="914400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pen Sans"/>
              </a:rPr>
              <a:t>Prefill (tok/s)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8779" y="914400"/>
            <a:ext cx="1675180" cy="418011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3643" y="914400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pen Sans"/>
              </a:rPr>
              <a:t>Decode (tok/s)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" y="1332411"/>
            <a:ext cx="1675180" cy="418011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332411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Pixel 8 Pro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3236" y="1332411"/>
            <a:ext cx="1675180" cy="418011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78100" y="1332411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Gemma 3 1B INT4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98417" y="1332411"/>
            <a:ext cx="1675180" cy="418011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53281" y="1332411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GPU (Adreno 740)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73598" y="1332411"/>
            <a:ext cx="1675180" cy="418011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28462" y="1332411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~220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48779" y="1332411"/>
            <a:ext cx="1675180" cy="418011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3643" y="1332411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~130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" y="1750422"/>
            <a:ext cx="1675180" cy="418011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1750422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Pixel 8 Pro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23236" y="1750422"/>
            <a:ext cx="1675180" cy="418011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78100" y="1750422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Gemma 3 1B INT4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98417" y="1750422"/>
            <a:ext cx="1675180" cy="418011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3281" y="1750422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CPU (XNNPack)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73598" y="1750422"/>
            <a:ext cx="1675180" cy="418011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28462" y="1750422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~55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48779" y="1750422"/>
            <a:ext cx="1675180" cy="418011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03643" y="1750422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~30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" y="2168434"/>
            <a:ext cx="1675180" cy="418011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168434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Samsung S24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23236" y="2168434"/>
            <a:ext cx="1675180" cy="418011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78100" y="2168434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Gemma 3 1B INT4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98417" y="2168434"/>
            <a:ext cx="1675180" cy="418011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53281" y="2168434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GPU (Xclipse 940)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73598" y="2168434"/>
            <a:ext cx="1675180" cy="418011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28462" y="2168434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~180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48779" y="2168434"/>
            <a:ext cx="1675180" cy="418011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03643" y="2168434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~110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056" y="2586445"/>
            <a:ext cx="1675180" cy="418011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2586445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MacBook M3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23236" y="2586445"/>
            <a:ext cx="1675180" cy="418011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78100" y="2586445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Gemma 3 1B INT4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98417" y="2586445"/>
            <a:ext cx="1675180" cy="418011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53281" y="2586445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CPU (XNNPack)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73598" y="2586445"/>
            <a:ext cx="1675180" cy="418011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28462" y="2586445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~400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48779" y="2586445"/>
            <a:ext cx="1675180" cy="418011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03643" y="2586445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~250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8056" y="3004457"/>
            <a:ext cx="1675180" cy="418011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3004457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Desktop RTX 4070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23236" y="3004457"/>
            <a:ext cx="1675180" cy="418011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78100" y="3004457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Gemma 3 1B INT4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98417" y="3004457"/>
            <a:ext cx="1675180" cy="418011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53281" y="3004457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GPU delegate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73598" y="3004457"/>
            <a:ext cx="1675180" cy="418011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28462" y="3004457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~900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48779" y="3004457"/>
            <a:ext cx="1675180" cy="418011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03643" y="3004457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~600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48056" y="3422468"/>
            <a:ext cx="1675180" cy="418011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3422468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BERT-base (embed)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123236" y="3422468"/>
            <a:ext cx="1675180" cy="418011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178100" y="3422468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128 tokens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798417" y="3422468"/>
            <a:ext cx="1675180" cy="418011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853281" y="3422468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CPU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73598" y="3422468"/>
            <a:ext cx="1675180" cy="418011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28462" y="3422468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148779" y="3422468"/>
            <a:ext cx="1675180" cy="418011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203643" y="3422468"/>
            <a:ext cx="1675180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~5 ms/call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8056" y="3977639"/>
            <a:ext cx="837590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  <a:latin typeface="Open Sans"/>
              </a:rPr>
              <a:t>▸  Prefill = processing the prompt (parallel) — Decode = generating tokens (sequential)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First-token latency dominated by prefill — keep prompts short for responsiveness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GPU delegate requires model to be loaded once; subsequent calls reuse weights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BERT embedding: 5 ms/call — ingest 1000 chunks in ~5 s on CPU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tauri-plugin-litert: Plugin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8056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C9C0C"/>
                </a:solidFill>
                <a:latin typeface="Open Sans"/>
              </a:rPr>
              <a:t>Plugin exposes Tauri commands: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6" y="1325880"/>
            <a:ext cx="4023360" cy="210312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" y="1399032"/>
            <a:ext cx="3803904" cy="19568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// src-tauri/capabilities/default.json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"permissions": [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"litert:allow-load-lm-model",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"litert:allow-run-inference",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"litert:allow-abort-inference",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"litert:allow-run-embedding",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"litert:allow-download-model",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"litert:allow-cancel-download"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914400"/>
            <a:ext cx="4261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C9C0C"/>
                </a:solidFill>
                <a:latin typeface="Open Sans"/>
              </a:rPr>
              <a:t>TypeScript API surface: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325880"/>
            <a:ext cx="4261104" cy="210312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1399032"/>
            <a:ext cx="4041648" cy="19568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import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loadLmModel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     </a:t>
            </a:r>
            <a:r>
              <a:rPr sz="900" b="0">
                <a:solidFill>
                  <a:srgbClr val="6A6A6A"/>
                </a:solidFill>
                <a:latin typeface="Courier New"/>
              </a:rPr>
              <a:t>// load .litertlm into session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runInference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    </a:t>
            </a:r>
            <a:r>
              <a:rPr sz="900" b="0">
                <a:solidFill>
                  <a:srgbClr val="6A6A6A"/>
                </a:solidFill>
                <a:latin typeface="Courier New"/>
              </a:rPr>
              <a:t>// stream tokens via Channel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abortInference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  </a:t>
            </a:r>
            <a:r>
              <a:rPr sz="900" b="0">
                <a:solidFill>
                  <a:srgbClr val="6A6A6A"/>
                </a:solidFill>
                <a:latin typeface="Courier New"/>
              </a:rPr>
              <a:t>// cancel mid-stream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runEmbedding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    </a:t>
            </a:r>
            <a:r>
              <a:rPr sz="900" b="0">
                <a:solidFill>
                  <a:srgbClr val="6A6A6A"/>
                </a:solidFill>
                <a:latin typeface="Courier New"/>
              </a:rPr>
              <a:t>// BERT → float32[]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downloadModel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900" b="0">
                <a:solidFill>
                  <a:srgbClr val="6A6A6A"/>
                </a:solidFill>
                <a:latin typeface="Courier New"/>
              </a:rPr>
              <a:t>// streaming download + progress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cancelDownload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  </a:t>
            </a:r>
            <a:r>
              <a:rPr sz="900" b="0">
                <a:solidFill>
                  <a:srgbClr val="6A6A6A"/>
                </a:solidFill>
                <a:latin typeface="Courier New"/>
              </a:rPr>
              <a:t>// abort in-flight download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BA0E12"/>
                </a:solidFill>
                <a:latin typeface="Courier New"/>
              </a:rPr>
              <a:t>from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187A1F"/>
                </a:solidFill>
                <a:latin typeface="Courier New"/>
              </a:rPr>
              <a:t>'tauri-plugin-litert-api'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3566160"/>
            <a:ext cx="837590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  <a:latin typeface="Open Sans"/>
              </a:rPr>
              <a:t>▸  Plugin state: Arc&lt;Mutex&lt;Session&gt;&gt; shared across commands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Embedding model loaded separately from LLM session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All file I/O uses Tauri path resolver — sandboxed per platform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Web fallback: same API shape, ONNX Runtime Web under the hood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From TensorFlow Lite to LiteRT: The History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1417320" cy="475488"/>
          </a:xfrm>
          <a:prstGeom prst="rect">
            <a:avLst/>
          </a:prstGeom>
          <a:solidFill>
            <a:srgbClr val="E5E5E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00000"/>
                </a:solidFill>
                <a:latin typeface="Open Sans"/>
              </a:rPr>
              <a:t>2017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93392" y="914400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TensorFlow Lite announced at Google I/O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" y="1389888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C1218"/>
                </a:solidFill>
                <a:latin typeface="Open Sans"/>
              </a:rPr>
              <a:t>↓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" y="1554480"/>
            <a:ext cx="1417320" cy="475488"/>
          </a:xfrm>
          <a:prstGeom prst="rect">
            <a:avLst/>
          </a:prstGeom>
          <a:solidFill>
            <a:srgbClr val="E5E5E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00000"/>
                </a:solidFill>
                <a:latin typeface="Open Sans"/>
              </a:rPr>
              <a:t>2019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93392" y="1554480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TFLite 1.0 ships — Android + iOS, GPU delegate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" y="2029968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C1218"/>
                </a:solidFill>
                <a:latin typeface="Open Sans"/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" y="2194560"/>
            <a:ext cx="1417320" cy="475488"/>
          </a:xfrm>
          <a:prstGeom prst="rect">
            <a:avLst/>
          </a:prstGeom>
          <a:solidFill>
            <a:srgbClr val="FFF0DB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00000"/>
                </a:solidFill>
                <a:latin typeface="Open Sans"/>
              </a:rPr>
              <a:t>2021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2194560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MediaPipe Solutions built on TFLite 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2670048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C1218"/>
                </a:solidFill>
                <a:latin typeface="Open Sans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" y="2834640"/>
            <a:ext cx="1417320" cy="475488"/>
          </a:xfrm>
          <a:prstGeom prst="rect">
            <a:avLst/>
          </a:prstGeom>
          <a:solidFill>
            <a:srgbClr val="FFF0DB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00000"/>
                </a:solidFill>
                <a:latin typeface="Open Sans"/>
              </a:rPr>
              <a:t>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93392" y="2834640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GenAI API added — LLM inference, KV-cache, streaming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" y="3310128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C1218"/>
                </a:solidFill>
                <a:latin typeface="Open Sans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" y="3474720"/>
            <a:ext cx="1417320" cy="475488"/>
          </a:xfrm>
          <a:prstGeom prst="rect">
            <a:avLst/>
          </a:prstGeom>
          <a:solidFill>
            <a:srgbClr val="EC121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Open Sans"/>
              </a:rPr>
              <a:t>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93392" y="3474720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TFLite rebranded → LiteRT under Google AI Edge umbrella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" y="3950208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C1218"/>
                </a:solidFill>
                <a:latin typeface="Open Sans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" y="4114800"/>
            <a:ext cx="1417320" cy="475488"/>
          </a:xfrm>
          <a:prstGeom prst="rect">
            <a:avLst/>
          </a:prstGeom>
          <a:solidFill>
            <a:srgbClr val="BA0E1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Open Sans"/>
              </a:rPr>
              <a:t>2024+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93392" y="4114800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LiteRT-LM: dedicated LLM runtime (.litertlm format)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" y="5029200"/>
            <a:ext cx="83759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0000"/>
                </a:solidFill>
                <a:latin typeface="Open Sans"/>
              </a:rPr>
              <a:t>▸  The .tflite format is unchanged — all existing models still work</a:t>
            </a:r>
          </a:p>
          <a:p>
            <a:r>
              <a:rPr sz="1100">
                <a:solidFill>
                  <a:srgbClr val="000000"/>
                </a:solidFill>
                <a:latin typeface="Open Sans"/>
              </a:rPr>
              <a:t>▸  LiteRT is a rename + governance change, not a rewrite</a:t>
            </a:r>
          </a:p>
          <a:p>
            <a:r>
              <a:rPr sz="1100">
                <a:solidFill>
                  <a:srgbClr val="000000"/>
                </a:solidFill>
                <a:latin typeface="Open Sans"/>
              </a:rPr>
              <a:t>▸  Google AI Edge = LiteRT + MediaPipe + AI Edge Torch (conversion toolchain)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MediaPipe vs LiteRT: Roles &amp; Relationship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2791968" cy="41148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2791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pen Sans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3240024" y="914400"/>
            <a:ext cx="2791968" cy="41148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4888" y="914400"/>
            <a:ext cx="2791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pen Sans"/>
              </a:rPr>
              <a:t>LiteRT (core runtime)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1992" y="914400"/>
            <a:ext cx="2791968" cy="41148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6856" y="914400"/>
            <a:ext cx="2791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pen Sans"/>
              </a:rPr>
              <a:t>MediaPipe Solutions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" y="1325880"/>
            <a:ext cx="2791968" cy="41148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2791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What it 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24" y="1325880"/>
            <a:ext cx="2791968" cy="41148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4888" y="1325880"/>
            <a:ext cx="2791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Low-level inference 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1992" y="1325880"/>
            <a:ext cx="2791968" cy="41148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6856" y="1325880"/>
            <a:ext cx="2791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High-level ML pipeline framework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" y="1737360"/>
            <a:ext cx="2791968" cy="41148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737360"/>
            <a:ext cx="2791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Abstraction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0024" y="1737360"/>
            <a:ext cx="2791968" cy="41148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4888" y="1737360"/>
            <a:ext cx="2791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Runs a .tflite / .litertlm graph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1992" y="1737360"/>
            <a:ext cx="2791968" cy="41148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6856" y="1737360"/>
            <a:ext cx="2791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Bundles model + pre/post-processing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" y="2148840"/>
            <a:ext cx="2791968" cy="41148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148840"/>
            <a:ext cx="2791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API level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0024" y="2148840"/>
            <a:ext cx="2791968" cy="41148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4888" y="2148840"/>
            <a:ext cx="2791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Tensor in → tensor out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1992" y="2148840"/>
            <a:ext cx="2791968" cy="41148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6856" y="2148840"/>
            <a:ext cx="2791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Image in → structured result 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" y="2560320"/>
            <a:ext cx="2791968" cy="41148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560320"/>
            <a:ext cx="2791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Model format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0024" y="2560320"/>
            <a:ext cx="2791968" cy="41148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4888" y="2560320"/>
            <a:ext cx="2791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.tflite, .litertlm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1992" y="2560320"/>
            <a:ext cx="2791968" cy="41148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6856" y="2560320"/>
            <a:ext cx="2791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.task (wraps .tflite internally)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" y="2971800"/>
            <a:ext cx="2791968" cy="41148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971800"/>
            <a:ext cx="2791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Use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40024" y="2971800"/>
            <a:ext cx="2791968" cy="41148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4888" y="2971800"/>
            <a:ext cx="2791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Custom models, LLMs, embeddings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1992" y="2971800"/>
            <a:ext cx="2791968" cy="41148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6856" y="2971800"/>
            <a:ext cx="2791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Object detection, pose, face, text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8056" y="3383280"/>
            <a:ext cx="2791968" cy="41148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383280"/>
            <a:ext cx="2791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Who uses 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40024" y="3383280"/>
            <a:ext cx="2791968" cy="41148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94888" y="3383280"/>
            <a:ext cx="2791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ML engineers, app developers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1992" y="3383280"/>
            <a:ext cx="2791968" cy="41148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6856" y="3383280"/>
            <a:ext cx="2791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App developers, no ML expertise needed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8056" y="3794760"/>
            <a:ext cx="2791968" cy="41148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3794760"/>
            <a:ext cx="2791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Relationship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40024" y="3794760"/>
            <a:ext cx="2791968" cy="41148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94888" y="3794760"/>
            <a:ext cx="2791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MediaPipe Tasks run on top of LiteRT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1992" y="3794760"/>
            <a:ext cx="2791968" cy="41148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86856" y="3794760"/>
            <a:ext cx="2791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MediaPipe is a consumer of LiteRT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8056" y="4343400"/>
            <a:ext cx="837590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  <a:latin typeface="Open Sans"/>
              </a:rPr>
              <a:t>▸  MediaPipe Tasks = LiteRT + pre-built pipelines + .task bundle format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If you need object detection or pose estimation: use MediaPipe Tasks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If you need a custom model or LLM: use LiteRT directly (as this app does)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Both ship in the same Google AI Edge SDK — not mutually exclusive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On-Device Model Management: Strategies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2093976" cy="45720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pen Sans"/>
              </a:rPr>
              <a:t>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2542032" y="914400"/>
            <a:ext cx="2093976" cy="45720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96896" y="9144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pen Sans"/>
              </a:rPr>
              <a:t>How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636008" y="914400"/>
            <a:ext cx="2093976" cy="45720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9144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pen Sans"/>
              </a:rPr>
              <a:t>Pros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729984" y="914400"/>
            <a:ext cx="2093976" cy="45720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9144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pen Sans"/>
              </a:rPr>
              <a:t>Cons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" y="1371600"/>
            <a:ext cx="2093976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3716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Bundle in 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42032" y="1371600"/>
            <a:ext cx="2093976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96896" y="13716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Ship model inside the binary / assets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36008" y="1371600"/>
            <a:ext cx="2093976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13716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No download, always available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9984" y="1371600"/>
            <a:ext cx="2093976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4848" y="13716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Large install size, hard to update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" y="1828800"/>
            <a:ext cx="2093976" cy="4572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18288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Download on first run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42032" y="1828800"/>
            <a:ext cx="2093976" cy="4572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96896" y="18288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Fetch from CDN after install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36008" y="1828800"/>
            <a:ext cx="2093976" cy="4572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0872" y="18288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Small initial install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9984" y="1828800"/>
            <a:ext cx="2093976" cy="4572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4848" y="18288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Requires internet, user waits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" y="2286000"/>
            <a:ext cx="2093976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2860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Download on demand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42032" y="2286000"/>
            <a:ext cx="2093976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96896" y="22860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Fetch when feature first used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36008" y="2286000"/>
            <a:ext cx="2093976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90872" y="22860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Only download if needed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9984" y="2286000"/>
            <a:ext cx="2093976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84848" y="22860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Latency at feature activation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" y="2743200"/>
            <a:ext cx="2093976" cy="4572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27432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Background prefetch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42032" y="2743200"/>
            <a:ext cx="2093976" cy="4572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96896" y="27432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Download silently after install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36008" y="2743200"/>
            <a:ext cx="2093976" cy="4572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90872" y="27432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Ready before user needs 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29984" y="2743200"/>
            <a:ext cx="2093976" cy="4572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84848" y="27432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Uses data without explicit consent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056" y="3200400"/>
            <a:ext cx="2093976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32004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Model hub / OTA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42032" y="3200400"/>
            <a:ext cx="2093976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96896" y="32004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Server pushes new model versions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36008" y="3200400"/>
            <a:ext cx="2093976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90872" y="32004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Update without app store release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9984" y="3200400"/>
            <a:ext cx="2093976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84848" y="3200400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Complex infra, version management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8056" y="3794760"/>
            <a:ext cx="837590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  <a:latin typeface="Open Sans"/>
              </a:rPr>
              <a:t>▸  This app: download on demand — user explicitly triggers, progress shown via Channel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Model stored in app_local_data_dir() — survives app updates, excluded from backup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Integrity: verify SHA-256 after download before loading into LiteRT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Multiple models: store in models/ subdirectory, keyed by filename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Hugging Face Hub, ai.google.dev, and Kaggle Models are common CDN sources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Model Storage &amp; Lifecycle on Each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2093976" cy="39624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2093976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pen Sans"/>
              </a:rPr>
              <a:t>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2542032" y="914400"/>
            <a:ext cx="2093976" cy="39624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96896" y="914400"/>
            <a:ext cx="2093976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pen Sans"/>
              </a:rPr>
              <a:t>Storage path</a:t>
            </a:r>
          </a:p>
        </p:txBody>
      </p:sp>
      <p:sp>
        <p:nvSpPr>
          <p:cNvPr id="7" name="Rectangle 6"/>
          <p:cNvSpPr/>
          <p:nvPr/>
        </p:nvSpPr>
        <p:spPr>
          <a:xfrm>
            <a:off x="4636008" y="914400"/>
            <a:ext cx="2093976" cy="39624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914400"/>
            <a:ext cx="2093976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pen Sans"/>
              </a:rPr>
              <a:t>Persists across updates?</a:t>
            </a:r>
          </a:p>
        </p:txBody>
      </p:sp>
      <p:sp>
        <p:nvSpPr>
          <p:cNvPr id="9" name="Rectangle 8"/>
          <p:cNvSpPr/>
          <p:nvPr/>
        </p:nvSpPr>
        <p:spPr>
          <a:xfrm>
            <a:off x="6729984" y="914400"/>
            <a:ext cx="2093976" cy="39624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914400"/>
            <a:ext cx="2093976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pen Sans"/>
              </a:rPr>
              <a:t>Backup?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" y="1310640"/>
            <a:ext cx="2093976" cy="39624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310640"/>
            <a:ext cx="2093976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Android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42032" y="1310640"/>
            <a:ext cx="2093976" cy="39624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96896" y="1310640"/>
            <a:ext cx="2093976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getFilesDir() / app_local_data_dir()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36008" y="1310640"/>
            <a:ext cx="2093976" cy="39624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1310640"/>
            <a:ext cx="2093976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Yes (internal storage)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9984" y="1310640"/>
            <a:ext cx="2093976" cy="39624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4848" y="1310640"/>
            <a:ext cx="2093976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No (excluded)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" y="1706880"/>
            <a:ext cx="2093976" cy="39624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1706880"/>
            <a:ext cx="2093976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iOS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42032" y="1706880"/>
            <a:ext cx="2093976" cy="39624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96896" y="1706880"/>
            <a:ext cx="2093976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Application Support/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36008" y="1706880"/>
            <a:ext cx="2093976" cy="39624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0872" y="1706880"/>
            <a:ext cx="2093976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Yes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9984" y="1706880"/>
            <a:ext cx="2093976" cy="39624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4848" y="1706880"/>
            <a:ext cx="2093976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iCloud optional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" y="2103120"/>
            <a:ext cx="2093976" cy="39624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103120"/>
            <a:ext cx="2093976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macOS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42032" y="2103120"/>
            <a:ext cx="2093976" cy="39624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96896" y="2103120"/>
            <a:ext cx="2093976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~/Library/Application Support/&lt;bundle&gt;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36008" y="2103120"/>
            <a:ext cx="2093976" cy="39624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90872" y="2103120"/>
            <a:ext cx="2093976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Yes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9984" y="2103120"/>
            <a:ext cx="2093976" cy="39624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84848" y="2103120"/>
            <a:ext cx="2093976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Time Machine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" y="2499360"/>
            <a:ext cx="2093976" cy="39624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2499360"/>
            <a:ext cx="2093976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Windows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42032" y="2499360"/>
            <a:ext cx="2093976" cy="39624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96896" y="2499360"/>
            <a:ext cx="2093976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%APPDATA%\&lt;bundle&gt;\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36008" y="2499360"/>
            <a:ext cx="2093976" cy="39624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90872" y="2499360"/>
            <a:ext cx="2093976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Yes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29984" y="2499360"/>
            <a:ext cx="2093976" cy="39624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84848" y="2499360"/>
            <a:ext cx="2093976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No default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056" y="2895600"/>
            <a:ext cx="2093976" cy="39624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2895600"/>
            <a:ext cx="2093976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Linux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42032" y="2895600"/>
            <a:ext cx="2093976" cy="39624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96896" y="2895600"/>
            <a:ext cx="2093976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~/.local/share/&lt;bundle&gt;/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36008" y="2895600"/>
            <a:ext cx="2093976" cy="39624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90872" y="2895600"/>
            <a:ext cx="2093976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Yes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9984" y="2895600"/>
            <a:ext cx="2093976" cy="39624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84848" y="2895600"/>
            <a:ext cx="2093976" cy="3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No default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8056" y="3429000"/>
            <a:ext cx="8375904" cy="173736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7784" y="3502152"/>
            <a:ext cx="8156448" cy="1591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6A6A"/>
                </a:solidFill>
                <a:latin typeface="Courier New"/>
              </a:rPr>
              <a:t>// Tauri resolves the correct path per platform automatically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modelDir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appLocalDataDir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  <a:r>
              <a:rPr sz="900" b="0">
                <a:solidFill>
                  <a:srgbClr val="212121"/>
                </a:solidFill>
                <a:latin typeface="Courier New"/>
              </a:rPr>
              <a:t>   </a:t>
            </a:r>
            <a:r>
              <a:rPr sz="900" b="0">
                <a:solidFill>
                  <a:srgbClr val="6A6A6A"/>
                </a:solidFill>
                <a:latin typeface="Courier New"/>
              </a:rPr>
              <a:t>// e.g. ~/Library/Application Support/com.app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modelPath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join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212121"/>
                </a:solidFill>
                <a:latin typeface="Courier New"/>
              </a:rPr>
              <a:t>modelDir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187A1F"/>
                </a:solidFill>
                <a:latin typeface="Courier New"/>
              </a:rPr>
              <a:t>'models'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187A1F"/>
                </a:solidFill>
                <a:latin typeface="Courier New"/>
              </a:rPr>
              <a:t>'gemma3-1b-it-int4.litertlm'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6A6A"/>
                </a:solidFill>
                <a:latin typeface="Courier New"/>
              </a:rPr>
              <a:t>// Check if already downloaded before showing download UI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exists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invoke</a:t>
            </a:r>
            <a:r>
              <a:rPr sz="900" b="0">
                <a:solidFill>
                  <a:srgbClr val="444444"/>
                </a:solidFill>
                <a:latin typeface="Courier New"/>
              </a:rPr>
              <a:t>&lt;</a:t>
            </a:r>
            <a:r>
              <a:rPr sz="900" b="0">
                <a:solidFill>
                  <a:srgbClr val="7B008B"/>
                </a:solidFill>
                <a:latin typeface="Courier New"/>
              </a:rPr>
              <a:t>boolean</a:t>
            </a:r>
            <a:r>
              <a:rPr sz="900" b="0">
                <a:solidFill>
                  <a:srgbClr val="444444"/>
                </a:solidFill>
                <a:latin typeface="Courier New"/>
              </a:rPr>
              <a:t>&gt;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187A1F"/>
                </a:solidFill>
                <a:latin typeface="Courier New"/>
              </a:rPr>
              <a:t>'model_exists'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path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modelPath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if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444444"/>
                </a:solidFill>
                <a:latin typeface="Courier New"/>
              </a:rPr>
              <a:t>!</a:t>
            </a:r>
            <a:r>
              <a:rPr sz="900" b="0">
                <a:solidFill>
                  <a:srgbClr val="212121"/>
                </a:solidFill>
                <a:latin typeface="Courier New"/>
              </a:rPr>
              <a:t>exists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showDownloadPrompt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8056" y="5257800"/>
            <a:ext cx="83759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0000"/>
                </a:solidFill>
                <a:latin typeface="Open Sans"/>
              </a:rPr>
              <a:t>▸  Never store models in the app bundle directory — it may be read-only on some platforms</a:t>
            </a:r>
          </a:p>
          <a:p>
            <a:r>
              <a:rPr sz="1100">
                <a:solidFill>
                  <a:srgbClr val="000000"/>
                </a:solidFill>
                <a:latin typeface="Open Sans"/>
              </a:rPr>
              <a:t>▸  Use Tauri's path API, not hardcoded paths — avoids /sdcard vs /storage/emulated/0 bugs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On-Device Inference Runtimes: Full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1395984" cy="40640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Open Sans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1844040" y="914400"/>
            <a:ext cx="1395984" cy="40640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98904" y="9144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Open Sans"/>
              </a:rPr>
              <a:t>LiteRT-LM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0024" y="914400"/>
            <a:ext cx="1395984" cy="40640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4888" y="9144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Open Sans"/>
              </a:rPr>
              <a:t>llama.cpp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6008" y="914400"/>
            <a:ext cx="1395984" cy="40640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9144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Open Sans"/>
              </a:rPr>
              <a:t>ONNX Runtime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1992" y="914400"/>
            <a:ext cx="1395984" cy="40640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6856" y="9144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Open Sans"/>
              </a:rPr>
              <a:t>MLC-LLM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27976" y="914400"/>
            <a:ext cx="1395984" cy="40640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82840" y="9144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Open Sans"/>
              </a:rPr>
              <a:t>Core ML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" y="1320800"/>
            <a:ext cx="1395984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3208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Format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44040" y="1320800"/>
            <a:ext cx="1395984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98904" y="13208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.litertlm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0024" y="1320800"/>
            <a:ext cx="1395984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4888" y="13208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GGUF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6008" y="1320800"/>
            <a:ext cx="1395984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0872" y="13208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.onnx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1992" y="1320800"/>
            <a:ext cx="1395984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6856" y="13208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MLC weights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27976" y="1320800"/>
            <a:ext cx="1395984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82840" y="13208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.mlpackage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" y="1727200"/>
            <a:ext cx="1395984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17272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LLM support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44040" y="1727200"/>
            <a:ext cx="1395984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98904" y="17272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✓ GenAI 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0024" y="1727200"/>
            <a:ext cx="1395984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4888" y="17272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✓ native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36008" y="1727200"/>
            <a:ext cx="1395984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90872" y="17272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via GenAI ext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1992" y="1727200"/>
            <a:ext cx="1395984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6856" y="17272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native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27976" y="1727200"/>
            <a:ext cx="1395984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82840" y="17272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✓ (iOS 18+)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8056" y="2133600"/>
            <a:ext cx="1395984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21336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Mobile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44040" y="2133600"/>
            <a:ext cx="1395984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98904" y="21336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✓ first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40024" y="2133600"/>
            <a:ext cx="1395984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4888" y="21336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36008" y="2133600"/>
            <a:ext cx="1395984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90872" y="21336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1992" y="2133600"/>
            <a:ext cx="1395984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6856" y="21336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✓ Android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27976" y="2133600"/>
            <a:ext cx="1395984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82840" y="21336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iOS/macOS only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8056" y="2540000"/>
            <a:ext cx="1395984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25400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GPU backend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44040" y="2540000"/>
            <a:ext cx="1395984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98904" y="25400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Delegate API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40024" y="2540000"/>
            <a:ext cx="1395984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94888" y="25400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CUDA/Metal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36008" y="2540000"/>
            <a:ext cx="1395984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90872" y="25400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DirectML/CUDA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31992" y="2540000"/>
            <a:ext cx="1395984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86856" y="25400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Vulkan/Metal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27976" y="2540000"/>
            <a:ext cx="1395984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82840" y="25400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ANE/GPU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48056" y="2946400"/>
            <a:ext cx="1395984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29464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Streaming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844040" y="2946400"/>
            <a:ext cx="1395984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898904" y="29464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✓ Channel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40024" y="2946400"/>
            <a:ext cx="1395984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94888" y="29464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✓ callback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636008" y="2946400"/>
            <a:ext cx="1395984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90872" y="29464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✓ callback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1992" y="2946400"/>
            <a:ext cx="1395984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086856" y="29464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✓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427976" y="2946400"/>
            <a:ext cx="1395984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82840" y="29464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✓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48056" y="3352800"/>
            <a:ext cx="1395984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2920" y="33528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Rust binding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844040" y="3352800"/>
            <a:ext cx="1395984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898904" y="33528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✓ official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40024" y="3352800"/>
            <a:ext cx="1395984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94888" y="33528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✓ llama-cpp-rs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636008" y="3352800"/>
            <a:ext cx="1395984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690872" y="33528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ort crate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031992" y="3352800"/>
            <a:ext cx="1395984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086856" y="33528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limited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427976" y="3352800"/>
            <a:ext cx="1395984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482840" y="33528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✗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48056" y="3759200"/>
            <a:ext cx="1395984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02920" y="37592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Tauri plugin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844040" y="3759200"/>
            <a:ext cx="1395984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898904" y="37592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✓ this app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240024" y="3759200"/>
            <a:ext cx="1395984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94888" y="37592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✗ DIY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636008" y="3759200"/>
            <a:ext cx="1395984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690872" y="37592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✗ DIY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031992" y="3759200"/>
            <a:ext cx="1395984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086856" y="37592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✗ DIY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427976" y="3759200"/>
            <a:ext cx="1395984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482840" y="37592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✗ macOS only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48056" y="4165600"/>
            <a:ext cx="1395984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02920" y="41656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License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844040" y="4165600"/>
            <a:ext cx="1395984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898904" y="41656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Apache 2.0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240024" y="4165600"/>
            <a:ext cx="1395984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294888" y="41656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MIT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636008" y="4165600"/>
            <a:ext cx="1395984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690872" y="41656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MIT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031992" y="4165600"/>
            <a:ext cx="1395984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086856" y="41656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Apache 2.0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427976" y="4165600"/>
            <a:ext cx="1395984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482840" y="4165600"/>
            <a:ext cx="1395984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proprietary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48056" y="4709160"/>
            <a:ext cx="83759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0000"/>
                </a:solidFill>
                <a:latin typeface="Open Sans"/>
              </a:rPr>
              <a:t>▸  llama.cpp: best ecosystem for GGUF models (Mistral, Llama, Phi) — no official Tauri plugin</a:t>
            </a:r>
          </a:p>
          <a:p>
            <a:r>
              <a:rPr sz="1100">
                <a:solidFill>
                  <a:srgbClr val="000000"/>
                </a:solidFill>
                <a:latin typeface="Open Sans"/>
              </a:rPr>
              <a:t>▸  ONNX Runtime: widest model compatibility, strong for non-LLM tasks (BERT, Whisper)</a:t>
            </a:r>
          </a:p>
          <a:p>
            <a:r>
              <a:rPr sz="1100">
                <a:solidFill>
                  <a:srgbClr val="000000"/>
                </a:solidFill>
                <a:latin typeface="Open Sans"/>
              </a:rPr>
              <a:t>▸  MLC-LLM: WebGPU + Vulkan focus, good for browser + Android, less mature Rust story</a:t>
            </a:r>
          </a:p>
          <a:p>
            <a:r>
              <a:rPr sz="1100">
                <a:solidFill>
                  <a:srgbClr val="000000"/>
                </a:solidFill>
                <a:latin typeface="Open Sans"/>
              </a:rPr>
              <a:t>▸  Core ML: Apple-only, best ANE utilisation on M-series — not cross-platform</a:t>
            </a:r>
          </a:p>
          <a:p>
            <a:r>
              <a:rPr sz="1100">
                <a:solidFill>
                  <a:srgbClr val="000000"/>
                </a:solidFill>
                <a:latin typeface="Open Sans"/>
              </a:rPr>
              <a:t>▸  LiteRT: best choice when targeting Android + iOS + Desktop from one codebase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How to Choose an On-Device Runtime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4187952" cy="416559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4187952" cy="416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pen Sans"/>
              </a:rPr>
              <a:t>Your situation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636008" y="914400"/>
            <a:ext cx="4187952" cy="416559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90872" y="914400"/>
            <a:ext cx="4187952" cy="416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pen Sans"/>
              </a:rPr>
              <a:t>Reach for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" y="1330959"/>
            <a:ext cx="4187952" cy="416559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30959"/>
            <a:ext cx="4187952" cy="416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You need Android + iOS + Desktop from one codebase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6008" y="1330959"/>
            <a:ext cx="4187952" cy="416559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330959"/>
            <a:ext cx="4187952" cy="416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LiteRT — first-class mobile delegates, single format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" y="1747519"/>
            <a:ext cx="4187952" cy="416559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47519"/>
            <a:ext cx="4187952" cy="416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Your model is already in GGUF (Llama, Mistral, Phi, Qwen …)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36008" y="1747519"/>
            <a:ext cx="4187952" cy="416559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1747519"/>
            <a:ext cx="4187952" cy="416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llama.cpp — widest GGUF ecosystem, mature quantisation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" y="2164079"/>
            <a:ext cx="4187952" cy="416559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164079"/>
            <a:ext cx="4187952" cy="416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You need non-LLM tasks: BERT, Whisper, YOLO, Stable Diffusion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36008" y="2164079"/>
            <a:ext cx="4187952" cy="416559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2" y="2164079"/>
            <a:ext cx="4187952" cy="416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ONNX Runtime — broadest op coverage, strong tooling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" y="2580639"/>
            <a:ext cx="4187952" cy="416559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580639"/>
            <a:ext cx="4187952" cy="416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You target Apple devices only and want best ANE performance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6008" y="2580639"/>
            <a:ext cx="4187952" cy="416559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0872" y="2580639"/>
            <a:ext cx="4187952" cy="416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Core ML — deepest Apple Silicon integration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" y="2997199"/>
            <a:ext cx="4187952" cy="416559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997199"/>
            <a:ext cx="4187952" cy="416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You need WebGPU / browser + native from one 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36008" y="2997199"/>
            <a:ext cx="4187952" cy="416559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90872" y="2997199"/>
            <a:ext cx="4187952" cy="416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MLC-LLM — Vulkan + WebGPU, same weights on web and device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" y="3413759"/>
            <a:ext cx="4187952" cy="416559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413759"/>
            <a:ext cx="4187952" cy="416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You want a ready-made Tauri plugin with no Rust FFI work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36008" y="3413759"/>
            <a:ext cx="4187952" cy="416559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90872" y="3413759"/>
            <a:ext cx="4187952" cy="416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LiteRT (this repo) — plugin already written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" y="3830319"/>
            <a:ext cx="4187952" cy="416559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830319"/>
            <a:ext cx="4187952" cy="416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You need the largest model selection and community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36008" y="3830319"/>
            <a:ext cx="4187952" cy="416559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90872" y="3830319"/>
            <a:ext cx="4187952" cy="416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llama.cpp — most models, most quantisation recipes on HF Hub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" y="4246879"/>
            <a:ext cx="4187952" cy="416559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246879"/>
            <a:ext cx="4187952" cy="416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You need to run the same model in a Python training loop and on device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36008" y="4246879"/>
            <a:ext cx="4187952" cy="416559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90872" y="4246879"/>
            <a:ext cx="4187952" cy="416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Open Sans"/>
              </a:rPr>
              <a:t>ONNX Runtime — export once, run everywhere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" y="4800600"/>
            <a:ext cx="83759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0000"/>
                </a:solidFill>
                <a:latin typeface="Open Sans"/>
              </a:rPr>
              <a:t>▸  No runtime wins on every axis — the right choice depends on your model source, target platforms, and team</a:t>
            </a:r>
          </a:p>
          <a:p>
            <a:r>
              <a:rPr sz="1100">
                <a:solidFill>
                  <a:srgbClr val="000000"/>
                </a:solidFill>
                <a:latin typeface="Open Sans"/>
              </a:rPr>
              <a:t>▸  Runtimes are not mutually exclusive: use ONNX Runtime for BERT embeddings and LiteRT for the LLM in the same app</a:t>
            </a:r>
          </a:p>
          <a:p>
            <a:r>
              <a:rPr sz="1100">
                <a:solidFill>
                  <a:srgbClr val="000000"/>
                </a:solidFill>
                <a:latin typeface="Open Sans"/>
              </a:rPr>
              <a:t>▸  Benchmark on your target device with your actual model — published numbers vary widely across hardware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000000"/>
                </a:solidFill>
                <a:latin typeface="Open Sans"/>
              </a:rPr>
              <a:t>Part 6
RAG Pipeline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l"/>
            <a:r>
              <a:rPr sz="1400">
                <a:solidFill>
                  <a:srgbClr val="595959"/>
                </a:solidFill>
                <a:latin typeface="Open Sans"/>
              </a:rPr>
              <a:t>Slides 46–50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Document Ingest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8375904" cy="384048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987552"/>
            <a:ext cx="8156448" cy="3694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A0E12"/>
                </a:solidFill>
                <a:latin typeface="Courier New"/>
              </a:rPr>
              <a:t>async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function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ingestDocument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file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7B008B"/>
                </a:solidFill>
                <a:latin typeface="Courier New"/>
              </a:rPr>
              <a:t>File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0">
                <a:solidFill>
                  <a:srgbClr val="6A6A6A"/>
                </a:solidFill>
                <a:latin typeface="Courier New"/>
              </a:rPr>
              <a:t>// 1. Extract text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text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extractText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file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  <a:r>
              <a:rPr sz="850" b="0">
                <a:solidFill>
                  <a:srgbClr val="212121"/>
                </a:solidFill>
                <a:latin typeface="Courier New"/>
              </a:rPr>
              <a:t>          </a:t>
            </a:r>
            <a:r>
              <a:rPr sz="850" b="0">
                <a:solidFill>
                  <a:srgbClr val="6A6A6A"/>
                </a:solidFill>
                <a:latin typeface="Courier New"/>
              </a:rPr>
              <a:t>// PDF / TXT / MD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0">
                <a:solidFill>
                  <a:srgbClr val="6A6A6A"/>
                </a:solidFill>
                <a:latin typeface="Courier New"/>
              </a:rPr>
              <a:t>// 2. Store raw document + blob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blobKey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saveBlob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file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BA0E12"/>
                </a:solidFill>
                <a:latin typeface="Courier New"/>
              </a:rPr>
              <a:t>type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bytes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docId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saveDocument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187A1F"/>
                </a:solidFill>
                <a:latin typeface="Courier New"/>
              </a:rPr>
              <a:t>"_default.documents"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uuid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212121"/>
                </a:solidFill>
                <a:latin typeface="Courier New"/>
              </a:rPr>
              <a:t>title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7B008B"/>
                </a:solidFill>
                <a:latin typeface="Courier New"/>
              </a:rPr>
              <a:t>file.name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mimeType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7B008B"/>
                </a:solidFill>
                <a:latin typeface="Courier New"/>
              </a:rPr>
              <a:t>file.type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blobKey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0">
                <a:solidFill>
                  <a:srgbClr val="6A6A6A"/>
                </a:solidFill>
                <a:latin typeface="Courier New"/>
              </a:rPr>
              <a:t>// 3. Chunk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chunks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chunkText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text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size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7B008B"/>
                </a:solidFill>
                <a:latin typeface="Courier New"/>
              </a:rPr>
              <a:t>512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overlap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7B008B"/>
                </a:solidFill>
                <a:latin typeface="Courier New"/>
              </a:rPr>
              <a:t>64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0">
                <a:solidFill>
                  <a:srgbClr val="6A6A6A"/>
                </a:solidFill>
                <a:latin typeface="Courier New"/>
              </a:rPr>
              <a:t>// 4. Embed + store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for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chunk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of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chunks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embedding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embed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chunk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saveDocument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187A1F"/>
                </a:solidFill>
                <a:latin typeface="Courier New"/>
              </a:rPr>
              <a:t>"_default.chunks"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uuid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  </a:t>
            </a:r>
            <a:r>
              <a:rPr sz="850" b="0">
                <a:solidFill>
                  <a:srgbClr val="212121"/>
                </a:solidFill>
                <a:latin typeface="Courier New"/>
              </a:rPr>
              <a:t>docId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text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7B008B"/>
                </a:solidFill>
                <a:latin typeface="Courier New"/>
              </a:rPr>
              <a:t>chunk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embedding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>
                <a:latin typeface="Courier New"/>
              </a:rPr>
              <a:t> 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Chunking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5029200" cy="22860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987552"/>
            <a:ext cx="4809744" cy="2139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function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chunkText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212121"/>
                </a:solidFill>
                <a:latin typeface="Courier New"/>
              </a:rPr>
              <a:t>text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string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opts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size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512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overlap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64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words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text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split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187A1F"/>
                </a:solidFill>
                <a:latin typeface="Courier New"/>
              </a:rPr>
              <a:t>/\s+/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chunks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string</a:t>
            </a:r>
            <a:r>
              <a:rPr sz="900" b="0">
                <a:solidFill>
                  <a:srgbClr val="444444"/>
                </a:solidFill>
                <a:latin typeface="Courier New"/>
              </a:rPr>
              <a:t>[</a:t>
            </a:r>
            <a:r>
              <a:rPr sz="900" b="0">
                <a:solidFill>
                  <a:srgbClr val="444444"/>
                </a:solidFill>
                <a:latin typeface="Courier New"/>
              </a:rPr>
              <a:t>]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[</a:t>
            </a:r>
            <a:r>
              <a:rPr sz="900" b="0">
                <a:solidFill>
                  <a:srgbClr val="444444"/>
                </a:solidFill>
                <a:latin typeface="Courier New"/>
              </a:rPr>
              <a:t>]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1">
                <a:solidFill>
                  <a:srgbClr val="BA0E12"/>
                </a:solidFill>
                <a:latin typeface="Courier New"/>
              </a:rPr>
              <a:t>let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i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C05000"/>
                </a:solidFill>
                <a:latin typeface="Courier New"/>
              </a:rPr>
              <a:t>0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1">
                <a:solidFill>
                  <a:srgbClr val="BA0E12"/>
                </a:solidFill>
                <a:latin typeface="Courier New"/>
              </a:rPr>
              <a:t>while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212121"/>
                </a:solidFill>
                <a:latin typeface="Courier New"/>
              </a:rPr>
              <a:t>i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&lt;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words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length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chunks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push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212121"/>
                </a:solidFill>
                <a:latin typeface="Courier New"/>
              </a:rPr>
              <a:t>words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slice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212121"/>
                </a:solidFill>
                <a:latin typeface="Courier New"/>
              </a:rPr>
              <a:t>i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i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+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opts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size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join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187A1F"/>
                </a:solidFill>
                <a:latin typeface="Courier New"/>
              </a:rPr>
              <a:t>" "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i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+=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opts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size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-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opts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overlap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1">
                <a:solidFill>
                  <a:srgbClr val="BA0E12"/>
                </a:solidFill>
                <a:latin typeface="Courier New"/>
              </a:rPr>
              <a:t>return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chunks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" y="3474720"/>
            <a:ext cx="1676400" cy="34290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474720"/>
            <a:ext cx="1676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Parameter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4456" y="3474720"/>
            <a:ext cx="1676400" cy="34290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79320" y="3474720"/>
            <a:ext cx="1676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00856" y="3474720"/>
            <a:ext cx="1676400" cy="34290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55720" y="3474720"/>
            <a:ext cx="1676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Effect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" y="3817620"/>
            <a:ext cx="16764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817620"/>
            <a:ext cx="1676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size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24456" y="3817620"/>
            <a:ext cx="16764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79320" y="3817620"/>
            <a:ext cx="1676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512 words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00856" y="3817620"/>
            <a:ext cx="16764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5720" y="3817620"/>
            <a:ext cx="1676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Fits BERT 512-token limit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" y="4160520"/>
            <a:ext cx="1676400" cy="3429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60520"/>
            <a:ext cx="1676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overlap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24456" y="4160520"/>
            <a:ext cx="1676400" cy="3429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79320" y="4160520"/>
            <a:ext cx="1676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64 words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00856" y="4160520"/>
            <a:ext cx="1676400" cy="3429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55720" y="4160520"/>
            <a:ext cx="1676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Preserves cross-boundary context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" y="4503420"/>
            <a:ext cx="16764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503420"/>
            <a:ext cx="1676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strategy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24456" y="4503420"/>
            <a:ext cx="16764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79320" y="4503420"/>
            <a:ext cx="1676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word-split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00856" y="4503420"/>
            <a:ext cx="1676400" cy="3429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5720" y="4503420"/>
            <a:ext cx="1676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Language-agnostic, fast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1188720"/>
            <a:ext cx="352958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  <a:latin typeface="Open Sans"/>
              </a:rPr>
              <a:t>▸  Semantic chunking (split on paragraphs/headings) gives better results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Smaller chunks = more precise retrieval, more DB rows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Larger chunks = more context per result, fewer rows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Vector Search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8375904" cy="3749039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987552"/>
            <a:ext cx="8156448" cy="36027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A0E12"/>
                </a:solidFill>
                <a:latin typeface="Courier New"/>
              </a:rPr>
              <a:t>async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function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vectorSearch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queryEmbedding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7B008B"/>
                </a:solidFill>
                <a:latin typeface="Courier New"/>
              </a:rPr>
              <a:t>number</a:t>
            </a:r>
            <a:r>
              <a:rPr sz="850" b="0">
                <a:solidFill>
                  <a:srgbClr val="444444"/>
                </a:solidFill>
                <a:latin typeface="Courier New"/>
              </a:rPr>
              <a:t>[</a:t>
            </a:r>
            <a:r>
              <a:rPr sz="850" b="0">
                <a:solidFill>
                  <a:srgbClr val="444444"/>
                </a:solidFill>
                <a:latin typeface="Courier New"/>
              </a:rPr>
              <a:t>]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topK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C05000"/>
                </a:solidFill>
                <a:latin typeface="Courier New"/>
              </a:rPr>
              <a:t>5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rows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executeQuery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187A1F"/>
                </a:solidFill>
                <a:latin typeface="Courier New"/>
              </a:rPr>
              <a:t>"SELECT id, text, embedding FROM _default.chunks"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return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rows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map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r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=&gt;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  </a:t>
            </a:r>
            <a:r>
              <a:rPr sz="850" b="0">
                <a:solidFill>
                  <a:srgbClr val="444444"/>
                </a:solidFill>
                <a:latin typeface="Courier New"/>
              </a:rPr>
              <a:t>...</a:t>
            </a:r>
            <a:r>
              <a:rPr sz="850" b="0">
                <a:solidFill>
                  <a:srgbClr val="212121"/>
                </a:solidFill>
                <a:latin typeface="Courier New"/>
              </a:rPr>
              <a:t>r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  </a:t>
            </a:r>
            <a:r>
              <a:rPr sz="850" b="0">
                <a:solidFill>
                  <a:srgbClr val="212121"/>
                </a:solidFill>
                <a:latin typeface="Courier New"/>
              </a:rPr>
              <a:t>score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7B008B"/>
                </a:solidFill>
                <a:latin typeface="Courier New"/>
              </a:rPr>
              <a:t>cosineSimilarity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queryEmbedding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r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embedding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sort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a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b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=&gt;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b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score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-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a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score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slice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C05000"/>
                </a:solidFill>
                <a:latin typeface="Courier New"/>
              </a:rPr>
              <a:t>0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topK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A0E12"/>
                </a:solidFill>
                <a:latin typeface="Courier New"/>
              </a:rPr>
              <a:t>function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cosineSimilarity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a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7B008B"/>
                </a:solidFill>
                <a:latin typeface="Courier New"/>
              </a:rPr>
              <a:t>number</a:t>
            </a:r>
            <a:r>
              <a:rPr sz="850" b="0">
                <a:solidFill>
                  <a:srgbClr val="444444"/>
                </a:solidFill>
                <a:latin typeface="Courier New"/>
              </a:rPr>
              <a:t>[</a:t>
            </a:r>
            <a:r>
              <a:rPr sz="850" b="0">
                <a:solidFill>
                  <a:srgbClr val="444444"/>
                </a:solidFill>
                <a:latin typeface="Courier New"/>
              </a:rPr>
              <a:t>]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b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7B008B"/>
                </a:solidFill>
                <a:latin typeface="Courier New"/>
              </a:rPr>
              <a:t>number</a:t>
            </a:r>
            <a:r>
              <a:rPr sz="850" b="0">
                <a:solidFill>
                  <a:srgbClr val="444444"/>
                </a:solidFill>
                <a:latin typeface="Courier New"/>
              </a:rPr>
              <a:t>[</a:t>
            </a:r>
            <a:r>
              <a:rPr sz="850" b="0">
                <a:solidFill>
                  <a:srgbClr val="444444"/>
                </a:solidFill>
                <a:latin typeface="Courier New"/>
              </a:rPr>
              <a:t>]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let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dot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C05000"/>
                </a:solidFill>
                <a:latin typeface="Courier New"/>
              </a:rPr>
              <a:t>0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na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C05000"/>
                </a:solidFill>
                <a:latin typeface="Courier New"/>
              </a:rPr>
              <a:t>0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nb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C05000"/>
                </a:solidFill>
                <a:latin typeface="Courier New"/>
              </a:rPr>
              <a:t>0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for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1">
                <a:solidFill>
                  <a:srgbClr val="BA0E12"/>
                </a:solidFill>
                <a:latin typeface="Courier New"/>
              </a:rPr>
              <a:t>let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i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C05000"/>
                </a:solidFill>
                <a:latin typeface="Courier New"/>
              </a:rPr>
              <a:t>0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i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&lt;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a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length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i</a:t>
            </a:r>
            <a:r>
              <a:rPr sz="850" b="0">
                <a:solidFill>
                  <a:srgbClr val="444444"/>
                </a:solidFill>
                <a:latin typeface="Courier New"/>
              </a:rPr>
              <a:t>++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212121"/>
                </a:solidFill>
                <a:latin typeface="Courier New"/>
              </a:rPr>
              <a:t>dot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+=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a</a:t>
            </a:r>
            <a:r>
              <a:rPr sz="850" b="0">
                <a:solidFill>
                  <a:srgbClr val="444444"/>
                </a:solidFill>
                <a:latin typeface="Courier New"/>
              </a:rPr>
              <a:t>[</a:t>
            </a:r>
            <a:r>
              <a:rPr sz="850" b="0">
                <a:solidFill>
                  <a:srgbClr val="212121"/>
                </a:solidFill>
                <a:latin typeface="Courier New"/>
              </a:rPr>
              <a:t>i</a:t>
            </a:r>
            <a:r>
              <a:rPr sz="850" b="0">
                <a:solidFill>
                  <a:srgbClr val="444444"/>
                </a:solidFill>
                <a:latin typeface="Courier New"/>
              </a:rPr>
              <a:t>]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*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b</a:t>
            </a:r>
            <a:r>
              <a:rPr sz="850" b="0">
                <a:solidFill>
                  <a:srgbClr val="444444"/>
                </a:solidFill>
                <a:latin typeface="Courier New"/>
              </a:rPr>
              <a:t>[</a:t>
            </a:r>
            <a:r>
              <a:rPr sz="850" b="0">
                <a:solidFill>
                  <a:srgbClr val="212121"/>
                </a:solidFill>
                <a:latin typeface="Courier New"/>
              </a:rPr>
              <a:t>i</a:t>
            </a:r>
            <a:r>
              <a:rPr sz="850" b="0">
                <a:solidFill>
                  <a:srgbClr val="444444"/>
                </a:solidFill>
                <a:latin typeface="Courier New"/>
              </a:rPr>
              <a:t>]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na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+=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a</a:t>
            </a:r>
            <a:r>
              <a:rPr sz="850" b="0">
                <a:solidFill>
                  <a:srgbClr val="444444"/>
                </a:solidFill>
                <a:latin typeface="Courier New"/>
              </a:rPr>
              <a:t>[</a:t>
            </a:r>
            <a:r>
              <a:rPr sz="850" b="0">
                <a:solidFill>
                  <a:srgbClr val="212121"/>
                </a:solidFill>
                <a:latin typeface="Courier New"/>
              </a:rPr>
              <a:t>i</a:t>
            </a:r>
            <a:r>
              <a:rPr sz="850" b="0">
                <a:solidFill>
                  <a:srgbClr val="444444"/>
                </a:solidFill>
                <a:latin typeface="Courier New"/>
              </a:rPr>
              <a:t>]</a:t>
            </a:r>
            <a:r>
              <a:rPr sz="850" b="0">
                <a:solidFill>
                  <a:srgbClr val="444444"/>
                </a:solidFill>
                <a:latin typeface="Courier New"/>
              </a:rPr>
              <a:t>**</a:t>
            </a:r>
            <a:r>
              <a:rPr sz="850" b="0">
                <a:solidFill>
                  <a:srgbClr val="C05000"/>
                </a:solidFill>
                <a:latin typeface="Courier New"/>
              </a:rPr>
              <a:t>2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nb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+=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b</a:t>
            </a:r>
            <a:r>
              <a:rPr sz="850" b="0">
                <a:solidFill>
                  <a:srgbClr val="444444"/>
                </a:solidFill>
                <a:latin typeface="Courier New"/>
              </a:rPr>
              <a:t>[</a:t>
            </a:r>
            <a:r>
              <a:rPr sz="850" b="0">
                <a:solidFill>
                  <a:srgbClr val="212121"/>
                </a:solidFill>
                <a:latin typeface="Courier New"/>
              </a:rPr>
              <a:t>i</a:t>
            </a:r>
            <a:r>
              <a:rPr sz="850" b="0">
                <a:solidFill>
                  <a:srgbClr val="444444"/>
                </a:solidFill>
                <a:latin typeface="Courier New"/>
              </a:rPr>
              <a:t>]</a:t>
            </a:r>
            <a:r>
              <a:rPr sz="850" b="0">
                <a:solidFill>
                  <a:srgbClr val="444444"/>
                </a:solidFill>
                <a:latin typeface="Courier New"/>
              </a:rPr>
              <a:t>**</a:t>
            </a:r>
            <a:r>
              <a:rPr sz="850" b="0">
                <a:solidFill>
                  <a:srgbClr val="C05000"/>
                </a:solidFill>
                <a:latin typeface="Courier New"/>
              </a:rPr>
              <a:t>2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return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dot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/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007070"/>
                </a:solidFill>
                <a:latin typeface="Courier New"/>
              </a:rPr>
              <a:t>Math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sqrt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na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*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007070"/>
                </a:solidFill>
                <a:latin typeface="Courier New"/>
              </a:rPr>
              <a:t>Math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sqrt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nb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>
                <a:latin typeface="Courier New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" y="4343400"/>
            <a:ext cx="8375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C1218"/>
                </a:solidFill>
                <a:latin typeface="Open Sans"/>
              </a:rPr>
              <a:t>Note: full table scan — acceptable for &lt;10k chunks; add HNSW index for larger corpora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BM25 + RRF Fusion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8375904" cy="384048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987552"/>
            <a:ext cx="8156448" cy="3694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A0E12"/>
                </a:solidFill>
                <a:latin typeface="Courier New"/>
              </a:rPr>
              <a:t>async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function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hybridSearch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query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7B008B"/>
                </a:solidFill>
                <a:latin typeface="Courier New"/>
              </a:rPr>
              <a:t>string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topK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C05000"/>
                </a:solidFill>
                <a:latin typeface="Courier New"/>
              </a:rPr>
              <a:t>5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qEmbed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embed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query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[</a:t>
            </a:r>
            <a:r>
              <a:rPr sz="850" b="0">
                <a:solidFill>
                  <a:srgbClr val="212121"/>
                </a:solidFill>
                <a:latin typeface="Courier New"/>
              </a:rPr>
              <a:t>vecResults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bm25Results</a:t>
            </a:r>
            <a:r>
              <a:rPr sz="850" b="0">
                <a:solidFill>
                  <a:srgbClr val="444444"/>
                </a:solidFill>
                <a:latin typeface="Courier New"/>
              </a:rPr>
              <a:t>]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007070"/>
                </a:solidFill>
                <a:latin typeface="Courier New"/>
              </a:rPr>
              <a:t>Promise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all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[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212121"/>
                </a:solidFill>
                <a:latin typeface="Courier New"/>
              </a:rPr>
              <a:t>vectorSearch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qEmbed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topK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*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C05000"/>
                </a:solidFill>
                <a:latin typeface="Courier New"/>
              </a:rPr>
              <a:t>2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212121"/>
                </a:solidFill>
                <a:latin typeface="Courier New"/>
              </a:rPr>
              <a:t>bm25Search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query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topK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*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C05000"/>
                </a:solidFill>
                <a:latin typeface="Courier New"/>
              </a:rPr>
              <a:t>2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0">
                <a:solidFill>
                  <a:srgbClr val="444444"/>
                </a:solidFill>
                <a:latin typeface="Courier New"/>
              </a:rPr>
              <a:t>]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return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rrfFusion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vecResults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bm25Results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212121"/>
                </a:solidFill>
                <a:latin typeface="Courier New"/>
              </a:rPr>
              <a:t>k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7B008B"/>
                </a:solidFill>
                <a:latin typeface="Courier New"/>
              </a:rPr>
              <a:t>60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bm25Weight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7B008B"/>
                </a:solidFill>
                <a:latin typeface="Courier New"/>
              </a:rPr>
              <a:t>0.3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topK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A0E12"/>
                </a:solidFill>
                <a:latin typeface="Courier New"/>
              </a:rPr>
              <a:t>function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rrfFusion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vecR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bm25R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k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bm25Weight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topK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scores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new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007070"/>
                </a:solidFill>
                <a:latin typeface="Courier New"/>
              </a:rPr>
              <a:t>Map</a:t>
            </a:r>
            <a:r>
              <a:rPr sz="850" b="0">
                <a:solidFill>
                  <a:srgbClr val="444444"/>
                </a:solidFill>
                <a:latin typeface="Courier New"/>
              </a:rPr>
              <a:t>&lt;</a:t>
            </a:r>
            <a:r>
              <a:rPr sz="850" b="0">
                <a:solidFill>
                  <a:srgbClr val="7B008B"/>
                </a:solidFill>
                <a:latin typeface="Courier New"/>
              </a:rPr>
              <a:t>string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7B008B"/>
                </a:solidFill>
                <a:latin typeface="Courier New"/>
              </a:rPr>
              <a:t>number</a:t>
            </a:r>
            <a:r>
              <a:rPr sz="850" b="0">
                <a:solidFill>
                  <a:srgbClr val="444444"/>
                </a:solidFill>
                <a:latin typeface="Courier New"/>
              </a:rPr>
              <a:t>&gt;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0">
                <a:solidFill>
                  <a:srgbClr val="212121"/>
                </a:solidFill>
                <a:latin typeface="Courier New"/>
              </a:rPr>
              <a:t>vecR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forEach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r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i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=&gt;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scores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set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r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id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scores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get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r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id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??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C05000"/>
                </a:solidFill>
                <a:latin typeface="Courier New"/>
              </a:rPr>
              <a:t>0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+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C05000"/>
                </a:solidFill>
                <a:latin typeface="Courier New"/>
              </a:rPr>
              <a:t>1</a:t>
            </a:r>
            <a:r>
              <a:rPr sz="850" b="0">
                <a:solidFill>
                  <a:srgbClr val="444444"/>
                </a:solidFill>
                <a:latin typeface="Courier New"/>
              </a:rPr>
              <a:t>-</a:t>
            </a:r>
            <a:r>
              <a:rPr sz="850" b="0">
                <a:solidFill>
                  <a:srgbClr val="212121"/>
                </a:solidFill>
                <a:latin typeface="Courier New"/>
              </a:rPr>
              <a:t>bm25Weight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/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k</a:t>
            </a:r>
            <a:r>
              <a:rPr sz="850" b="0">
                <a:solidFill>
                  <a:srgbClr val="444444"/>
                </a:solidFill>
                <a:latin typeface="Courier New"/>
              </a:rPr>
              <a:t>+</a:t>
            </a:r>
            <a:r>
              <a:rPr sz="850" b="0">
                <a:solidFill>
                  <a:srgbClr val="212121"/>
                </a:solidFill>
                <a:latin typeface="Courier New"/>
              </a:rPr>
              <a:t>i</a:t>
            </a:r>
            <a:r>
              <a:rPr sz="850" b="0">
                <a:solidFill>
                  <a:srgbClr val="444444"/>
                </a:solidFill>
                <a:latin typeface="Courier New"/>
              </a:rPr>
              <a:t>+</a:t>
            </a:r>
            <a:r>
              <a:rPr sz="850" b="0">
                <a:solidFill>
                  <a:srgbClr val="C05000"/>
                </a:solidFill>
                <a:latin typeface="Courier New"/>
              </a:rPr>
              <a:t>1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0">
                <a:solidFill>
                  <a:srgbClr val="212121"/>
                </a:solidFill>
                <a:latin typeface="Courier New"/>
              </a:rPr>
              <a:t>bm25R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forEach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r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i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=&gt;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scores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set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r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id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scores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get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r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id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??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C05000"/>
                </a:solidFill>
                <a:latin typeface="Courier New"/>
              </a:rPr>
              <a:t>0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+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bm25Weight</a:t>
            </a:r>
            <a:r>
              <a:rPr sz="850" b="0">
                <a:solidFill>
                  <a:srgbClr val="444444"/>
                </a:solidFill>
                <a:latin typeface="Courier New"/>
              </a:rPr>
              <a:t>/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k</a:t>
            </a:r>
            <a:r>
              <a:rPr sz="850" b="0">
                <a:solidFill>
                  <a:srgbClr val="444444"/>
                </a:solidFill>
                <a:latin typeface="Courier New"/>
              </a:rPr>
              <a:t>+</a:t>
            </a:r>
            <a:r>
              <a:rPr sz="850" b="0">
                <a:solidFill>
                  <a:srgbClr val="212121"/>
                </a:solidFill>
                <a:latin typeface="Courier New"/>
              </a:rPr>
              <a:t>i</a:t>
            </a:r>
            <a:r>
              <a:rPr sz="850" b="0">
                <a:solidFill>
                  <a:srgbClr val="444444"/>
                </a:solidFill>
                <a:latin typeface="Courier New"/>
              </a:rPr>
              <a:t>+</a:t>
            </a:r>
            <a:r>
              <a:rPr sz="850" b="0">
                <a:solidFill>
                  <a:srgbClr val="C05000"/>
                </a:solidFill>
                <a:latin typeface="Courier New"/>
              </a:rPr>
              <a:t>1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return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[</a:t>
            </a:r>
            <a:r>
              <a:rPr sz="850" b="0">
                <a:solidFill>
                  <a:srgbClr val="444444"/>
                </a:solidFill>
                <a:latin typeface="Courier New"/>
              </a:rPr>
              <a:t>...</a:t>
            </a:r>
            <a:r>
              <a:rPr sz="850" b="0">
                <a:solidFill>
                  <a:srgbClr val="212121"/>
                </a:solidFill>
                <a:latin typeface="Courier New"/>
              </a:rPr>
              <a:t>scores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entries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sort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a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b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=&gt;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b</a:t>
            </a:r>
            <a:r>
              <a:rPr sz="850" b="0">
                <a:solidFill>
                  <a:srgbClr val="444444"/>
                </a:solidFill>
                <a:latin typeface="Courier New"/>
              </a:rPr>
              <a:t>[</a:t>
            </a:r>
            <a:r>
              <a:rPr sz="850" b="0">
                <a:solidFill>
                  <a:srgbClr val="C05000"/>
                </a:solidFill>
                <a:latin typeface="Courier New"/>
              </a:rPr>
              <a:t>1</a:t>
            </a:r>
            <a:r>
              <a:rPr sz="850" b="0">
                <a:solidFill>
                  <a:srgbClr val="444444"/>
                </a:solidFill>
                <a:latin typeface="Courier New"/>
              </a:rPr>
              <a:t>]</a:t>
            </a:r>
            <a:r>
              <a:rPr sz="850" b="0">
                <a:solidFill>
                  <a:srgbClr val="444444"/>
                </a:solidFill>
                <a:latin typeface="Courier New"/>
              </a:rPr>
              <a:t>-</a:t>
            </a:r>
            <a:r>
              <a:rPr sz="850" b="0">
                <a:solidFill>
                  <a:srgbClr val="212121"/>
                </a:solidFill>
                <a:latin typeface="Courier New"/>
              </a:rPr>
              <a:t>a</a:t>
            </a:r>
            <a:r>
              <a:rPr sz="850" b="0">
                <a:solidFill>
                  <a:srgbClr val="444444"/>
                </a:solidFill>
                <a:latin typeface="Courier New"/>
              </a:rPr>
              <a:t>[</a:t>
            </a:r>
            <a:r>
              <a:rPr sz="850" b="0">
                <a:solidFill>
                  <a:srgbClr val="C05000"/>
                </a:solidFill>
                <a:latin typeface="Courier New"/>
              </a:rPr>
              <a:t>1</a:t>
            </a:r>
            <a:r>
              <a:rPr sz="850" b="0">
                <a:solidFill>
                  <a:srgbClr val="444444"/>
                </a:solidFill>
                <a:latin typeface="Courier New"/>
              </a:rPr>
              <a:t>]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slice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C05000"/>
                </a:solidFill>
                <a:latin typeface="Courier New"/>
              </a:rPr>
              <a:t>0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topK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map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[</a:t>
            </a:r>
            <a:r>
              <a:rPr sz="850" b="0">
                <a:solidFill>
                  <a:srgbClr val="212121"/>
                </a:solidFill>
                <a:latin typeface="Courier New"/>
              </a:rPr>
              <a:t>id</a:t>
            </a:r>
            <a:r>
              <a:rPr sz="850" b="0">
                <a:solidFill>
                  <a:srgbClr val="444444"/>
                </a:solidFill>
                <a:latin typeface="Courier New"/>
              </a:rPr>
              <a:t>]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=&gt;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vecR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find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r</a:t>
            </a:r>
            <a:r>
              <a:rPr sz="850" b="0">
                <a:solidFill>
                  <a:srgbClr val="444444"/>
                </a:solidFill>
                <a:latin typeface="Courier New"/>
              </a:rPr>
              <a:t>=&gt;</a:t>
            </a:r>
            <a:r>
              <a:rPr sz="850" b="0">
                <a:solidFill>
                  <a:srgbClr val="212121"/>
                </a:solidFill>
                <a:latin typeface="Courier New"/>
              </a:rPr>
              <a:t>r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id</a:t>
            </a:r>
            <a:r>
              <a:rPr sz="850" b="0">
                <a:solidFill>
                  <a:srgbClr val="444444"/>
                </a:solidFill>
                <a:latin typeface="Courier New"/>
              </a:rPr>
              <a:t>===</a:t>
            </a:r>
            <a:r>
              <a:rPr sz="850" b="0">
                <a:solidFill>
                  <a:srgbClr val="212121"/>
                </a:solidFill>
                <a:latin typeface="Courier New"/>
              </a:rPr>
              <a:t>id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??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bm25R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find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r</a:t>
            </a:r>
            <a:r>
              <a:rPr sz="850" b="0">
                <a:solidFill>
                  <a:srgbClr val="444444"/>
                </a:solidFill>
                <a:latin typeface="Courier New"/>
              </a:rPr>
              <a:t>=&gt;</a:t>
            </a:r>
            <a:r>
              <a:rPr sz="850" b="0">
                <a:solidFill>
                  <a:srgbClr val="212121"/>
                </a:solidFill>
                <a:latin typeface="Courier New"/>
              </a:rPr>
              <a:t>r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id</a:t>
            </a:r>
            <a:r>
              <a:rPr sz="850" b="0">
                <a:solidFill>
                  <a:srgbClr val="444444"/>
                </a:solidFill>
                <a:latin typeface="Courier New"/>
              </a:rPr>
              <a:t>===</a:t>
            </a:r>
            <a:r>
              <a:rPr sz="850" b="0">
                <a:solidFill>
                  <a:srgbClr val="212121"/>
                </a:solidFill>
                <a:latin typeface="Courier New"/>
              </a:rPr>
              <a:t>id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!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>
                <a:latin typeface="Courier New"/>
              </a:rPr>
              <a:t> 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Prompt Assembly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5029200" cy="27432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987552"/>
            <a:ext cx="4809744" cy="2596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function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buildRAGPrompt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212121"/>
                </a:solidFill>
                <a:latin typeface="Courier New"/>
              </a:rPr>
              <a:t>query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string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chunks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Chunk</a:t>
            </a:r>
            <a:r>
              <a:rPr sz="900" b="0">
                <a:solidFill>
                  <a:srgbClr val="444444"/>
                </a:solidFill>
                <a:latin typeface="Courier New"/>
              </a:rPr>
              <a:t>[</a:t>
            </a:r>
            <a:r>
              <a:rPr sz="900" b="0">
                <a:solidFill>
                  <a:srgbClr val="444444"/>
                </a:solidFill>
                <a:latin typeface="Courier New"/>
              </a:rPr>
              <a:t>]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context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chunks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map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212121"/>
                </a:solidFill>
                <a:latin typeface="Courier New"/>
              </a:rPr>
              <a:t>c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i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=&gt;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187A1F"/>
                </a:solidFill>
                <a:latin typeface="Courier New"/>
              </a:rPr>
              <a:t>`</a:t>
            </a:r>
            <a:r>
              <a:rPr sz="900" b="0">
                <a:solidFill>
                  <a:srgbClr val="187A1F"/>
                </a:solidFill>
                <a:latin typeface="Courier New"/>
              </a:rPr>
              <a:t>[</a:t>
            </a:r>
            <a:r>
              <a:rPr sz="900" b="0">
                <a:solidFill>
                  <a:srgbClr val="187A1F"/>
                </a:solidFill>
                <a:latin typeface="Courier New"/>
              </a:rPr>
              <a:t>${</a:t>
            </a:r>
            <a:r>
              <a:rPr sz="900" b="0">
                <a:solidFill>
                  <a:srgbClr val="212121"/>
                </a:solidFill>
                <a:latin typeface="Courier New"/>
              </a:rPr>
              <a:t>i</a:t>
            </a:r>
            <a:r>
              <a:rPr sz="900" b="0">
                <a:solidFill>
                  <a:srgbClr val="444444"/>
                </a:solidFill>
                <a:latin typeface="Courier New"/>
              </a:rPr>
              <a:t>+</a:t>
            </a:r>
            <a:r>
              <a:rPr sz="900" b="0">
                <a:solidFill>
                  <a:srgbClr val="C05000"/>
                </a:solidFill>
                <a:latin typeface="Courier New"/>
              </a:rPr>
              <a:t>1</a:t>
            </a:r>
            <a:r>
              <a:rPr sz="900" b="0">
                <a:solidFill>
                  <a:srgbClr val="187A1F"/>
                </a:solidFill>
                <a:latin typeface="Courier New"/>
              </a:rPr>
              <a:t>}</a:t>
            </a:r>
            <a:r>
              <a:rPr sz="900" b="0">
                <a:solidFill>
                  <a:srgbClr val="187A1F"/>
                </a:solidFill>
                <a:latin typeface="Courier New"/>
              </a:rPr>
              <a:t>] </a:t>
            </a:r>
            <a:r>
              <a:rPr sz="900" b="0">
                <a:solidFill>
                  <a:srgbClr val="187A1F"/>
                </a:solidFill>
                <a:latin typeface="Courier New"/>
              </a:rPr>
              <a:t>${</a:t>
            </a:r>
            <a:r>
              <a:rPr sz="900" b="0">
                <a:solidFill>
                  <a:srgbClr val="212121"/>
                </a:solidFill>
                <a:latin typeface="Courier New"/>
              </a:rPr>
              <a:t>c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text</a:t>
            </a:r>
            <a:r>
              <a:rPr sz="900" b="0">
                <a:solidFill>
                  <a:srgbClr val="187A1F"/>
                </a:solidFill>
                <a:latin typeface="Courier New"/>
              </a:rPr>
              <a:t>}</a:t>
            </a:r>
            <a:r>
              <a:rPr sz="900" b="0">
                <a:solidFill>
                  <a:srgbClr val="187A1F"/>
                </a:solidFill>
                <a:latin typeface="Courier New"/>
              </a:rPr>
              <a:t>`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join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187A1F"/>
                </a:solidFill>
                <a:latin typeface="Courier New"/>
              </a:rPr>
              <a:t>"\n\n"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1">
                <a:solidFill>
                  <a:srgbClr val="BA0E12"/>
                </a:solidFill>
                <a:latin typeface="Courier New"/>
              </a:rPr>
              <a:t>return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[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role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187A1F"/>
                </a:solidFill>
                <a:latin typeface="Courier New"/>
              </a:rPr>
              <a:t>"system"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content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  </a:t>
            </a:r>
            <a:r>
              <a:rPr sz="900" b="0">
                <a:solidFill>
                  <a:srgbClr val="187A1F"/>
                </a:solidFill>
                <a:latin typeface="Courier New"/>
              </a:rPr>
              <a:t>"Answer using ONLY the context below.\n"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  </a:t>
            </a:r>
            <a:r>
              <a:rPr sz="900" b="0">
                <a:solidFill>
                  <a:srgbClr val="444444"/>
                </a:solidFill>
                <a:latin typeface="Courier New"/>
              </a:rPr>
              <a:t>+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187A1F"/>
                </a:solidFill>
                <a:latin typeface="Courier New"/>
              </a:rPr>
              <a:t>"If the answer is not in the context, say so.\n\n"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  </a:t>
            </a:r>
            <a:r>
              <a:rPr sz="900" b="0">
                <a:solidFill>
                  <a:srgbClr val="444444"/>
                </a:solidFill>
                <a:latin typeface="Courier New"/>
              </a:rPr>
              <a:t>+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context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role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187A1F"/>
                </a:solidFill>
                <a:latin typeface="Courier New"/>
              </a:rPr>
              <a:t>"user"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content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query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444444"/>
                </a:solidFill>
                <a:latin typeface="Courier New"/>
              </a:rPr>
              <a:t>]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1188720"/>
            <a:ext cx="352958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  <a:latin typeface="Open Sans"/>
              </a:rPr>
              <a:t>▸  "ONLY the context" reduces hallucination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Number chunks so LLM can cite sources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Keep context under 2048 tokens for Gemma 3 1B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Prepend agent system prompt before RAG context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000000"/>
                </a:solidFill>
                <a:latin typeface="Open Sans"/>
              </a:rPr>
              <a:t>Part 7
Tools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l"/>
            <a:r>
              <a:rPr sz="1400">
                <a:solidFill>
                  <a:srgbClr val="595959"/>
                </a:solidFill>
                <a:latin typeface="Open Sans"/>
              </a:rPr>
              <a:t>Slides 51–54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Tool Definition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5029200" cy="292608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987552"/>
            <a:ext cx="4809744" cy="2779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interface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Tool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name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string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description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string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  <a:r>
              <a:rPr sz="900" b="0">
                <a:solidFill>
                  <a:srgbClr val="212121"/>
                </a:solidFill>
                <a:latin typeface="Courier New"/>
              </a:rPr>
              <a:t>   </a:t>
            </a:r>
            <a:r>
              <a:rPr sz="900" b="0">
                <a:solidFill>
                  <a:srgbClr val="6A6A6A"/>
                </a:solidFill>
                <a:latin typeface="Courier New"/>
              </a:rPr>
              <a:t>// LLM reads this to decide when to call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parameters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900" b="0">
                <a:solidFill>
                  <a:srgbClr val="BA0E12"/>
                </a:solidFill>
                <a:latin typeface="Courier New"/>
              </a:rPr>
              <a:t>type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187A1F"/>
                </a:solidFill>
                <a:latin typeface="Courier New"/>
              </a:rPr>
              <a:t>"object"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properties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Record</a:t>
            </a:r>
            <a:r>
              <a:rPr sz="900" b="0">
                <a:solidFill>
                  <a:srgbClr val="444444"/>
                </a:solidFill>
                <a:latin typeface="Courier New"/>
              </a:rPr>
              <a:t>&lt;</a:t>
            </a:r>
            <a:r>
              <a:rPr sz="900" b="0">
                <a:solidFill>
                  <a:srgbClr val="7B008B"/>
                </a:solidFill>
                <a:latin typeface="Courier New"/>
              </a:rPr>
              <a:t>string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  </a:t>
            </a:r>
            <a:r>
              <a:rPr sz="900" b="0">
                <a:solidFill>
                  <a:srgbClr val="BA0E12"/>
                </a:solidFill>
                <a:latin typeface="Courier New"/>
              </a:rPr>
              <a:t>type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string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description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string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  </a:t>
            </a:r>
            <a:r>
              <a:rPr sz="900" b="1">
                <a:solidFill>
                  <a:srgbClr val="BA0E12"/>
                </a:solidFill>
                <a:latin typeface="Courier New"/>
              </a:rPr>
              <a:t>enum</a:t>
            </a:r>
            <a:r>
              <a:rPr sz="900" b="0">
                <a:solidFill>
                  <a:srgbClr val="212121"/>
                </a:solidFill>
                <a:latin typeface="Courier New"/>
              </a:rPr>
              <a:t>?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string</a:t>
            </a:r>
            <a:r>
              <a:rPr sz="900" b="0">
                <a:solidFill>
                  <a:srgbClr val="444444"/>
                </a:solidFill>
                <a:latin typeface="Courier New"/>
              </a:rPr>
              <a:t>[</a:t>
            </a:r>
            <a:r>
              <a:rPr sz="900" b="0">
                <a:solidFill>
                  <a:srgbClr val="444444"/>
                </a:solidFill>
                <a:latin typeface="Courier New"/>
              </a:rPr>
              <a:t>]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  <a:r>
              <a:rPr sz="900" b="0">
                <a:solidFill>
                  <a:srgbClr val="444444"/>
                </a:solidFill>
                <a:latin typeface="Courier New"/>
              </a:rPr>
              <a:t>&gt;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required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string</a:t>
            </a:r>
            <a:r>
              <a:rPr sz="900" b="0">
                <a:solidFill>
                  <a:srgbClr val="444444"/>
                </a:solidFill>
                <a:latin typeface="Courier New"/>
              </a:rPr>
              <a:t>[</a:t>
            </a:r>
            <a:r>
              <a:rPr sz="900" b="0">
                <a:solidFill>
                  <a:srgbClr val="444444"/>
                </a:solidFill>
                <a:latin typeface="Courier New"/>
              </a:rPr>
              <a:t>]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execute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212121"/>
                </a:solidFill>
                <a:latin typeface="Courier New"/>
              </a:rPr>
              <a:t>args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Record</a:t>
            </a:r>
            <a:r>
              <a:rPr sz="900" b="0">
                <a:solidFill>
                  <a:srgbClr val="444444"/>
                </a:solidFill>
                <a:latin typeface="Courier New"/>
              </a:rPr>
              <a:t>&lt;</a:t>
            </a:r>
            <a:r>
              <a:rPr sz="900" b="0">
                <a:solidFill>
                  <a:srgbClr val="7B008B"/>
                </a:solidFill>
                <a:latin typeface="Courier New"/>
              </a:rPr>
              <a:t>string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unknown</a:t>
            </a:r>
            <a:r>
              <a:rPr sz="900" b="0">
                <a:solidFill>
                  <a:srgbClr val="444444"/>
                </a:solidFill>
                <a:latin typeface="Courier New"/>
              </a:rPr>
              <a:t>&gt;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007070"/>
                </a:solidFill>
                <a:latin typeface="Courier New"/>
              </a:rPr>
              <a:t>Promise</a:t>
            </a:r>
            <a:r>
              <a:rPr sz="900" b="0">
                <a:solidFill>
                  <a:srgbClr val="444444"/>
                </a:solidFill>
                <a:latin typeface="Courier New"/>
              </a:rPr>
              <a:t>&lt;</a:t>
            </a:r>
            <a:r>
              <a:rPr sz="900" b="0">
                <a:solidFill>
                  <a:srgbClr val="7B008B"/>
                </a:solidFill>
                <a:latin typeface="Courier New"/>
              </a:rPr>
              <a:t>string</a:t>
            </a:r>
            <a:r>
              <a:rPr sz="900" b="0">
                <a:solidFill>
                  <a:srgbClr val="444444"/>
                </a:solidFill>
                <a:latin typeface="Courier New"/>
              </a:rPr>
              <a:t>&gt;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1188720"/>
            <a:ext cx="352958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  <a:latin typeface="Open Sans"/>
              </a:rPr>
              <a:t>▸  description is the most important field — be specific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execute() returns a string the LLM reads as tool output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Tools are injected into the system prompt as JSON schema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LLM emits &lt;tool_call&gt;{...}&lt;/tool_call&gt; to invoke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Built-in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2791968" cy="418011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2791968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24" y="914400"/>
            <a:ext cx="2791968" cy="418011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4888" y="914400"/>
            <a:ext cx="2791968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Description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1992" y="914400"/>
            <a:ext cx="2791968" cy="418011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6856" y="914400"/>
            <a:ext cx="2791968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Key parameters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" y="1332411"/>
            <a:ext cx="2791968" cy="418011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32411"/>
            <a:ext cx="2791968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search_documents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24" y="1332411"/>
            <a:ext cx="2791968" cy="418011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4888" y="1332411"/>
            <a:ext cx="2791968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Hybrid RAG search over ingested docs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1992" y="1332411"/>
            <a:ext cx="2791968" cy="418011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6856" y="1332411"/>
            <a:ext cx="2791968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query: string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" y="1750422"/>
            <a:ext cx="2791968" cy="418011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750422"/>
            <a:ext cx="2791968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get_current_time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0024" y="1750422"/>
            <a:ext cx="2791968" cy="418011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4888" y="1750422"/>
            <a:ext cx="2791968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Returns ISO timestamp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1992" y="1750422"/>
            <a:ext cx="2791968" cy="418011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6856" y="1750422"/>
            <a:ext cx="2791968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(none)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" y="2168434"/>
            <a:ext cx="2791968" cy="418011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168434"/>
            <a:ext cx="2791968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calculate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0024" y="2168434"/>
            <a:ext cx="2791968" cy="418011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4888" y="2168434"/>
            <a:ext cx="2791968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Evaluate a math expression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1992" y="2168434"/>
            <a:ext cx="2791968" cy="418011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6856" y="2168434"/>
            <a:ext cx="2791968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expression: string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" y="2586445"/>
            <a:ext cx="2791968" cy="418011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586445"/>
            <a:ext cx="2791968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get_weather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0024" y="2586445"/>
            <a:ext cx="2791968" cy="418011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4888" y="2586445"/>
            <a:ext cx="2791968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Fetch weather for a city (demo)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1992" y="2586445"/>
            <a:ext cx="2791968" cy="418011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6856" y="2586445"/>
            <a:ext cx="2791968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city: string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" y="3004457"/>
            <a:ext cx="2791968" cy="418011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3004457"/>
            <a:ext cx="2791968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list_documents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40024" y="3004457"/>
            <a:ext cx="2791968" cy="418011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4888" y="3004457"/>
            <a:ext cx="2791968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List all ingested document titles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1992" y="3004457"/>
            <a:ext cx="2791968" cy="418011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6856" y="3004457"/>
            <a:ext cx="2791968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(none)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8056" y="3422468"/>
            <a:ext cx="2791968" cy="418011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422468"/>
            <a:ext cx="2791968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web_search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40024" y="3422468"/>
            <a:ext cx="2791968" cy="418011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94888" y="3422468"/>
            <a:ext cx="2791968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DuckDuckGo instant answer (demo)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1992" y="3422468"/>
            <a:ext cx="2791968" cy="418011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6856" y="3422468"/>
            <a:ext cx="2791968" cy="41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query: string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" y="4023360"/>
            <a:ext cx="8375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Open Sans"/>
              </a:rPr>
              <a:t>Tools are assigned per-agent in the agent config — not globally available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ReAct Loop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8375904" cy="36576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987552"/>
            <a:ext cx="8156448" cy="3511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A0E12"/>
                </a:solidFill>
                <a:latin typeface="Courier New"/>
              </a:rPr>
              <a:t>async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function</a:t>
            </a:r>
            <a:r>
              <a:rPr sz="850" b="0">
                <a:solidFill>
                  <a:srgbClr val="444444"/>
                </a:solidFill>
                <a:latin typeface="Courier New"/>
              </a:rPr>
              <a:t>*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runReAct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messages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tools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maxIter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C05000"/>
                </a:solidFill>
                <a:latin typeface="Courier New"/>
              </a:rPr>
              <a:t>5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history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[</a:t>
            </a:r>
            <a:r>
              <a:rPr sz="850" b="0">
                <a:solidFill>
                  <a:srgbClr val="444444"/>
                </a:solidFill>
                <a:latin typeface="Courier New"/>
              </a:rPr>
              <a:t>...</a:t>
            </a:r>
            <a:r>
              <a:rPr sz="850" b="0">
                <a:solidFill>
                  <a:srgbClr val="212121"/>
                </a:solidFill>
                <a:latin typeface="Courier New"/>
              </a:rPr>
              <a:t>messages</a:t>
            </a:r>
            <a:r>
              <a:rPr sz="850" b="0">
                <a:solidFill>
                  <a:srgbClr val="444444"/>
                </a:solidFill>
                <a:latin typeface="Courier New"/>
              </a:rPr>
              <a:t>]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for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1">
                <a:solidFill>
                  <a:srgbClr val="BA0E12"/>
                </a:solidFill>
                <a:latin typeface="Courier New"/>
              </a:rPr>
              <a:t>let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iter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C05000"/>
                </a:solidFill>
                <a:latin typeface="Courier New"/>
              </a:rPr>
              <a:t>0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iter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&lt;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maxIter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iter</a:t>
            </a:r>
            <a:r>
              <a:rPr sz="850" b="0">
                <a:solidFill>
                  <a:srgbClr val="444444"/>
                </a:solidFill>
                <a:latin typeface="Courier New"/>
              </a:rPr>
              <a:t>++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response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yield</a:t>
            </a:r>
            <a:r>
              <a:rPr sz="850" b="0">
                <a:solidFill>
                  <a:srgbClr val="444444"/>
                </a:solidFill>
                <a:latin typeface="Courier New"/>
              </a:rPr>
              <a:t>*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streamLLM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history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calls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parseToolCalls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response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if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calls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length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===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C05000"/>
                </a:solidFill>
                <a:latin typeface="Courier New"/>
              </a:rPr>
              <a:t>0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return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  <a:r>
              <a:rPr sz="850" b="0">
                <a:solidFill>
                  <a:srgbClr val="212121"/>
                </a:solidFill>
                <a:latin typeface="Courier New"/>
              </a:rPr>
              <a:t>          </a:t>
            </a:r>
            <a:r>
              <a:rPr sz="850" b="0">
                <a:solidFill>
                  <a:srgbClr val="6A6A6A"/>
                </a:solidFill>
                <a:latin typeface="Courier New"/>
              </a:rPr>
              <a:t>// done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212121"/>
                </a:solidFill>
                <a:latin typeface="Courier New"/>
              </a:rPr>
              <a:t>history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push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role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187A1F"/>
                </a:solidFill>
                <a:latin typeface="Courier New"/>
              </a:rPr>
              <a:t>"assistant"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content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7B008B"/>
                </a:solidFill>
                <a:latin typeface="Courier New"/>
              </a:rPr>
              <a:t>response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for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call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of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calls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tool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tools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find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=&gt;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t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name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===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call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name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if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!</a:t>
            </a:r>
            <a:r>
              <a:rPr sz="850" b="0">
                <a:solidFill>
                  <a:srgbClr val="212121"/>
                </a:solidFill>
                <a:latin typeface="Courier New"/>
              </a:rPr>
              <a:t>tool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history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push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role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187A1F"/>
                </a:solidFill>
                <a:latin typeface="Courier New"/>
              </a:rPr>
              <a:t>"tool"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    </a:t>
            </a:r>
            <a:r>
              <a:rPr sz="850" b="0">
                <a:solidFill>
                  <a:srgbClr val="212121"/>
                </a:solidFill>
                <a:latin typeface="Courier New"/>
              </a:rPr>
              <a:t>content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187A1F"/>
                </a:solidFill>
                <a:latin typeface="Courier New"/>
              </a:rPr>
              <a:t>`</a:t>
            </a:r>
            <a:r>
              <a:rPr sz="850" b="0">
                <a:solidFill>
                  <a:srgbClr val="187A1F"/>
                </a:solidFill>
                <a:latin typeface="Courier New"/>
              </a:rPr>
              <a:t>Unknown tool: </a:t>
            </a:r>
            <a:r>
              <a:rPr sz="850" b="0">
                <a:solidFill>
                  <a:srgbClr val="187A1F"/>
                </a:solidFill>
                <a:latin typeface="Courier New"/>
              </a:rPr>
              <a:t>${</a:t>
            </a:r>
            <a:r>
              <a:rPr sz="850" b="0">
                <a:solidFill>
                  <a:srgbClr val="212121"/>
                </a:solidFill>
                <a:latin typeface="Courier New"/>
              </a:rPr>
              <a:t>call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name</a:t>
            </a:r>
            <a:r>
              <a:rPr sz="850" b="0">
                <a:solidFill>
                  <a:srgbClr val="187A1F"/>
                </a:solidFill>
                <a:latin typeface="Courier New"/>
              </a:rPr>
              <a:t>}</a:t>
            </a:r>
            <a:r>
              <a:rPr sz="850" b="0">
                <a:solidFill>
                  <a:srgbClr val="187A1F"/>
                </a:solidFill>
                <a:latin typeface="Courier New"/>
              </a:rPr>
              <a:t>`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continue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result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tool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execute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call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args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  </a:t>
            </a:r>
            <a:r>
              <a:rPr sz="850" b="0">
                <a:solidFill>
                  <a:srgbClr val="212121"/>
                </a:solidFill>
                <a:latin typeface="Courier New"/>
              </a:rPr>
              <a:t>history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push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role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187A1F"/>
                </a:solidFill>
                <a:latin typeface="Courier New"/>
              </a:rPr>
              <a:t>"tool"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content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7B008B"/>
                </a:solidFill>
                <a:latin typeface="Courier New"/>
              </a:rPr>
              <a:t>result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yield</a:t>
            </a:r>
            <a:r>
              <a:rPr sz="850" b="0">
                <a:solidFill>
                  <a:srgbClr val="444444"/>
                </a:solidFill>
                <a:latin typeface="Courier New"/>
              </a:rPr>
              <a:t>*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streamLLM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history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0">
                <a:solidFill>
                  <a:srgbClr val="6A6A6A"/>
                </a:solidFill>
                <a:latin typeface="Courier New"/>
              </a:rPr>
              <a:t>// final answer after max iterations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>
                <a:latin typeface="Courier New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" y="4343400"/>
            <a:ext cx="8375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A0E12"/>
                </a:solidFill>
                <a:latin typeface="Open Sans"/>
              </a:rPr>
              <a:t>yield* streams tokens to the UI while the loop runs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Adding a Custom Tool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8375904" cy="36576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987552"/>
            <a:ext cx="8156448" cy="3511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A6A6A"/>
                </a:solidFill>
                <a:latin typeface="Courier New"/>
              </a:rPr>
              <a:t>// src/lib/tools/myTool.ts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A0E12"/>
                </a:solidFill>
                <a:latin typeface="Courier New"/>
              </a:rPr>
              <a:t>export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myTool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7B008B"/>
                </a:solidFill>
                <a:latin typeface="Courier New"/>
              </a:rPr>
              <a:t>Tool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0">
                <a:solidFill>
                  <a:srgbClr val="212121"/>
                </a:solidFill>
                <a:latin typeface="Courier New"/>
              </a:rPr>
              <a:t>name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187A1F"/>
                </a:solidFill>
                <a:latin typeface="Courier New"/>
              </a:rPr>
              <a:t>"lookup_product"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0">
                <a:solidFill>
                  <a:srgbClr val="212121"/>
                </a:solidFill>
                <a:latin typeface="Courier New"/>
              </a:rPr>
              <a:t>description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187A1F"/>
                </a:solidFill>
                <a:latin typeface="Courier New"/>
              </a:rPr>
              <a:t>"Look up a product by SKU and return its details."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0">
                <a:solidFill>
                  <a:srgbClr val="212121"/>
                </a:solidFill>
                <a:latin typeface="Courier New"/>
              </a:rPr>
              <a:t>parameters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BA0E12"/>
                </a:solidFill>
                <a:latin typeface="Courier New"/>
              </a:rPr>
              <a:t>type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187A1F"/>
                </a:solidFill>
                <a:latin typeface="Courier New"/>
              </a:rPr>
              <a:t>"object"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212121"/>
                </a:solidFill>
                <a:latin typeface="Courier New"/>
              </a:rPr>
              <a:t>properties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  </a:t>
            </a:r>
            <a:r>
              <a:rPr sz="850" b="0">
                <a:solidFill>
                  <a:srgbClr val="212121"/>
                </a:solidFill>
                <a:latin typeface="Courier New"/>
              </a:rPr>
              <a:t>sku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BA0E12"/>
                </a:solidFill>
                <a:latin typeface="Courier New"/>
              </a:rPr>
              <a:t>type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187A1F"/>
                </a:solidFill>
                <a:latin typeface="Courier New"/>
              </a:rPr>
              <a:t>"string"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description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187A1F"/>
                </a:solidFill>
                <a:latin typeface="Courier New"/>
              </a:rPr>
              <a:t>"Product SKU code"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212121"/>
                </a:solidFill>
                <a:latin typeface="Courier New"/>
              </a:rPr>
              <a:t>required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[</a:t>
            </a:r>
            <a:r>
              <a:rPr sz="850" b="0">
                <a:solidFill>
                  <a:srgbClr val="187A1F"/>
                </a:solidFill>
                <a:latin typeface="Courier New"/>
              </a:rPr>
              <a:t>"sku"</a:t>
            </a:r>
            <a:r>
              <a:rPr sz="850" b="0">
                <a:solidFill>
                  <a:srgbClr val="444444"/>
                </a:solidFill>
                <a:latin typeface="Courier New"/>
              </a:rPr>
              <a:t>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async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execute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sku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product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fetchProduct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007070"/>
                </a:solidFill>
                <a:latin typeface="Courier New"/>
              </a:rPr>
              <a:t>String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sku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return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007070"/>
                </a:solidFill>
                <a:latin typeface="Courier New"/>
              </a:rPr>
              <a:t>JSON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stringify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product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A6A6A"/>
                </a:solidFill>
                <a:latin typeface="Courier New"/>
              </a:rPr>
              <a:t>// Register in src/lib/tools/index.ts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A0E12"/>
                </a:solidFill>
                <a:latin typeface="Courier New"/>
              </a:rPr>
              <a:t>export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ALL_TOOLS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[</a:t>
            </a:r>
            <a:r>
              <a:rPr sz="850" b="0">
                <a:solidFill>
                  <a:srgbClr val="212121"/>
                </a:solidFill>
                <a:latin typeface="Courier New"/>
              </a:rPr>
              <a:t>searchDocuments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getCurrentTime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myTool</a:t>
            </a:r>
            <a:r>
              <a:rPr sz="850" b="0">
                <a:solidFill>
                  <a:srgbClr val="444444"/>
                </a:solidFill>
                <a:latin typeface="Courier New"/>
              </a:rPr>
              <a:t>]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>
                <a:latin typeface="Courier New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" y="4343400"/>
            <a:ext cx="8375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A0E12"/>
                </a:solidFill>
                <a:latin typeface="Open Sans"/>
              </a:rPr>
              <a:t>Assign to an agent: agent.tools = ["lookup_product"]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000000"/>
                </a:solidFill>
                <a:latin typeface="Open Sans"/>
              </a:rPr>
              <a:t>Part 8
Agents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l"/>
            <a:r>
              <a:rPr sz="1400">
                <a:solidFill>
                  <a:srgbClr val="595959"/>
                </a:solidFill>
                <a:latin typeface="Open Sans"/>
              </a:rPr>
              <a:t>Slides 55–58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Agent Data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5029200" cy="256032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987552"/>
            <a:ext cx="4809744" cy="2414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interface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Agent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id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string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name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string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description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string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  <a:r>
              <a:rPr sz="90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900" b="0">
                <a:solidFill>
                  <a:srgbClr val="6A6A6A"/>
                </a:solidFill>
                <a:latin typeface="Courier New"/>
              </a:rPr>
              <a:t>// shown to router LLM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systemPrompt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string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  <a:r>
              <a:rPr sz="900" b="0">
                <a:solidFill>
                  <a:srgbClr val="212121"/>
                </a:solidFill>
                <a:latin typeface="Courier New"/>
              </a:rPr>
              <a:t>   </a:t>
            </a:r>
            <a:r>
              <a:rPr sz="900" b="0">
                <a:solidFill>
                  <a:srgbClr val="6A6A6A"/>
                </a:solidFill>
                <a:latin typeface="Courier New"/>
              </a:rPr>
              <a:t>// injected before every conversation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tools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string</a:t>
            </a:r>
            <a:r>
              <a:rPr sz="900" b="0">
                <a:solidFill>
                  <a:srgbClr val="444444"/>
                </a:solidFill>
                <a:latin typeface="Courier New"/>
              </a:rPr>
              <a:t>[</a:t>
            </a:r>
            <a:r>
              <a:rPr sz="900" b="0">
                <a:solidFill>
                  <a:srgbClr val="444444"/>
                </a:solidFill>
                <a:latin typeface="Courier New"/>
              </a:rPr>
              <a:t>]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  <a:r>
              <a:rPr sz="900" b="0">
                <a:solidFill>
                  <a:srgbClr val="212121"/>
                </a:solidFill>
                <a:latin typeface="Courier New"/>
              </a:rPr>
              <a:t>        </a:t>
            </a:r>
            <a:r>
              <a:rPr sz="900" b="0">
                <a:solidFill>
                  <a:srgbClr val="6A6A6A"/>
                </a:solidFill>
                <a:latin typeface="Courier New"/>
              </a:rPr>
              <a:t>// tool names from ALL_TOOLS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ragEnabled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boolean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  <a:r>
              <a:rPr sz="90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900" b="0">
                <a:solidFill>
                  <a:srgbClr val="6A6A6A"/>
                </a:solidFill>
                <a:latin typeface="Courier New"/>
              </a:rPr>
              <a:t>// inject retrieved chunks?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modelPath?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string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  <a:r>
              <a:rPr sz="900" b="0">
                <a:solidFill>
                  <a:srgbClr val="212121"/>
                </a:solidFill>
                <a:latin typeface="Courier New"/>
              </a:rPr>
              <a:t>     </a:t>
            </a:r>
            <a:r>
              <a:rPr sz="900" b="0">
                <a:solidFill>
                  <a:srgbClr val="6A6A6A"/>
                </a:solidFill>
                <a:latin typeface="Courier New"/>
              </a:rPr>
              <a:t>// override default model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temperature?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number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  <a:r>
              <a:rPr sz="900" b="0">
                <a:solidFill>
                  <a:srgbClr val="212121"/>
                </a:solidFill>
                <a:latin typeface="Courier New"/>
              </a:rPr>
              <a:t>   </a:t>
            </a:r>
            <a:r>
              <a:rPr sz="900" b="0">
                <a:solidFill>
                  <a:srgbClr val="6A6A6A"/>
                </a:solidFill>
                <a:latin typeface="Courier New"/>
              </a:rPr>
              <a:t>// 0–1, default 0.7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212121"/>
                </a:solidFill>
                <a:latin typeface="Courier New"/>
              </a:rPr>
              <a:t>maxTokens?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number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  <a:r>
              <a:rPr sz="900" b="0">
                <a:solidFill>
                  <a:srgbClr val="212121"/>
                </a:solidFill>
                <a:latin typeface="Courier New"/>
              </a:rPr>
              <a:t>     </a:t>
            </a:r>
            <a:r>
              <a:rPr sz="900" b="0">
                <a:solidFill>
                  <a:srgbClr val="6A6A6A"/>
                </a:solidFill>
                <a:latin typeface="Courier New"/>
              </a:rPr>
              <a:t>// default 512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1188720"/>
            <a:ext cx="352958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  <a:latin typeface="Open Sans"/>
              </a:rPr>
              <a:t>▸  Agents stored in _default.agents collection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Default agent created by migration v1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UI: Settings → Agents → New Agent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Router sees all agent names + descriptions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Agent Router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8375904" cy="32004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987552"/>
            <a:ext cx="8156448" cy="3054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A0E12"/>
                </a:solidFill>
                <a:latin typeface="Courier New"/>
              </a:rPr>
              <a:t>async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1">
                <a:solidFill>
                  <a:srgbClr val="BA0E12"/>
                </a:solidFill>
                <a:latin typeface="Courier New"/>
              </a:rPr>
              <a:t>function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routeMessage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212121"/>
                </a:solidFill>
                <a:latin typeface="Courier New"/>
              </a:rPr>
              <a:t>message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string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agents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Agent</a:t>
            </a:r>
            <a:r>
              <a:rPr sz="900" b="0">
                <a:solidFill>
                  <a:srgbClr val="444444"/>
                </a:solidFill>
                <a:latin typeface="Courier New"/>
              </a:rPr>
              <a:t>[</a:t>
            </a:r>
            <a:r>
              <a:rPr sz="900" b="0">
                <a:solidFill>
                  <a:srgbClr val="444444"/>
                </a:solidFill>
                <a:latin typeface="Courier New"/>
              </a:rPr>
              <a:t>]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prompt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[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role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187A1F"/>
                </a:solidFill>
                <a:latin typeface="Courier New"/>
              </a:rPr>
              <a:t>"system"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content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  </a:t>
            </a:r>
            <a:r>
              <a:rPr sz="900" b="0">
                <a:solidFill>
                  <a:srgbClr val="187A1F"/>
                </a:solidFill>
                <a:latin typeface="Courier New"/>
              </a:rPr>
              <a:t>"You are a router. Given a user message, return JSON:\n"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  </a:t>
            </a:r>
            <a:r>
              <a:rPr sz="900" b="0">
                <a:solidFill>
                  <a:srgbClr val="444444"/>
                </a:solidFill>
                <a:latin typeface="Courier New"/>
              </a:rPr>
              <a:t>+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187A1F"/>
                </a:solidFill>
                <a:latin typeface="Courier New"/>
              </a:rPr>
              <a:t>'{"agent": "&lt;agent_name&gt;"}\n'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  </a:t>
            </a:r>
            <a:r>
              <a:rPr sz="900" b="0">
                <a:solidFill>
                  <a:srgbClr val="444444"/>
                </a:solidFill>
                <a:latin typeface="Courier New"/>
              </a:rPr>
              <a:t>+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187A1F"/>
                </a:solidFill>
                <a:latin typeface="Courier New"/>
              </a:rPr>
              <a:t>"Choose from: "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+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agents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map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212121"/>
                </a:solidFill>
                <a:latin typeface="Courier New"/>
              </a:rPr>
              <a:t>a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=&gt;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      </a:t>
            </a:r>
            <a:r>
              <a:rPr sz="900" b="0">
                <a:solidFill>
                  <a:srgbClr val="187A1F"/>
                </a:solidFill>
                <a:latin typeface="Courier New"/>
              </a:rPr>
              <a:t>`</a:t>
            </a:r>
            <a:r>
              <a:rPr sz="900" b="0">
                <a:solidFill>
                  <a:srgbClr val="187A1F"/>
                </a:solidFill>
                <a:latin typeface="Courier New"/>
              </a:rPr>
              <a:t>${</a:t>
            </a:r>
            <a:r>
              <a:rPr sz="900" b="0">
                <a:solidFill>
                  <a:srgbClr val="212121"/>
                </a:solidFill>
                <a:latin typeface="Courier New"/>
              </a:rPr>
              <a:t>a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name</a:t>
            </a:r>
            <a:r>
              <a:rPr sz="900" b="0">
                <a:solidFill>
                  <a:srgbClr val="187A1F"/>
                </a:solidFill>
                <a:latin typeface="Courier New"/>
              </a:rPr>
              <a:t>}</a:t>
            </a:r>
            <a:r>
              <a:rPr sz="900" b="0">
                <a:solidFill>
                  <a:srgbClr val="187A1F"/>
                </a:solidFill>
                <a:latin typeface="Courier New"/>
              </a:rPr>
              <a:t>: </a:t>
            </a:r>
            <a:r>
              <a:rPr sz="900" b="0">
                <a:solidFill>
                  <a:srgbClr val="187A1F"/>
                </a:solidFill>
                <a:latin typeface="Courier New"/>
              </a:rPr>
              <a:t>${</a:t>
            </a:r>
            <a:r>
              <a:rPr sz="900" b="0">
                <a:solidFill>
                  <a:srgbClr val="212121"/>
                </a:solidFill>
                <a:latin typeface="Courier New"/>
              </a:rPr>
              <a:t>a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description</a:t>
            </a:r>
            <a:r>
              <a:rPr sz="900" b="0">
                <a:solidFill>
                  <a:srgbClr val="187A1F"/>
                </a:solidFill>
                <a:latin typeface="Courier New"/>
              </a:rPr>
              <a:t>}</a:t>
            </a:r>
            <a:r>
              <a:rPr sz="900" b="0">
                <a:solidFill>
                  <a:srgbClr val="187A1F"/>
                </a:solidFill>
                <a:latin typeface="Courier New"/>
              </a:rPr>
              <a:t>`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join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187A1F"/>
                </a:solidFill>
                <a:latin typeface="Courier New"/>
              </a:rPr>
              <a:t>"; "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role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187A1F"/>
                </a:solidFill>
                <a:latin typeface="Courier New"/>
              </a:rPr>
              <a:t>"user"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content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message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0">
                <a:solidFill>
                  <a:srgbClr val="444444"/>
                </a:solidFill>
                <a:latin typeface="Courier New"/>
              </a:rPr>
              <a:t>]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response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runLLM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212121"/>
                </a:solidFill>
                <a:latin typeface="Courier New"/>
              </a:rPr>
              <a:t>prompt</a:t>
            </a:r>
            <a:r>
              <a:rPr sz="900" b="0">
                <a:solidFill>
                  <a:srgbClr val="444444"/>
                </a:solidFill>
                <a:latin typeface="Courier New"/>
              </a:rPr>
              <a:t>,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maxTokens</a:t>
            </a:r>
            <a:r>
              <a:rPr sz="900" b="0">
                <a:solidFill>
                  <a:srgbClr val="444444"/>
                </a:solidFill>
                <a:latin typeface="Courier New"/>
              </a:rPr>
              <a:t>: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7B008B"/>
                </a:solidFill>
                <a:latin typeface="Courier New"/>
              </a:rPr>
              <a:t>20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{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agent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007070"/>
                </a:solidFill>
                <a:latin typeface="Courier New"/>
              </a:rPr>
              <a:t>JSON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parse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212121"/>
                </a:solidFill>
                <a:latin typeface="Courier New"/>
              </a:rPr>
              <a:t>extractJSON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212121"/>
                </a:solidFill>
                <a:latin typeface="Courier New"/>
              </a:rPr>
              <a:t>response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Courier New"/>
              </a:rPr>
              <a:t>  </a:t>
            </a:r>
            <a:r>
              <a:rPr sz="900" b="1">
                <a:solidFill>
                  <a:srgbClr val="BA0E12"/>
                </a:solidFill>
                <a:latin typeface="Courier New"/>
              </a:rPr>
              <a:t>return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agents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find</a:t>
            </a:r>
            <a:r>
              <a:rPr sz="900" b="0">
                <a:solidFill>
                  <a:srgbClr val="444444"/>
                </a:solidFill>
                <a:latin typeface="Courier New"/>
              </a:rPr>
              <a:t>(</a:t>
            </a:r>
            <a:r>
              <a:rPr sz="900" b="0">
                <a:solidFill>
                  <a:srgbClr val="212121"/>
                </a:solidFill>
                <a:latin typeface="Courier New"/>
              </a:rPr>
              <a:t>a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=&gt;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a</a:t>
            </a:r>
            <a:r>
              <a:rPr sz="900" b="0">
                <a:solidFill>
                  <a:srgbClr val="444444"/>
                </a:solidFill>
                <a:latin typeface="Courier New"/>
              </a:rPr>
              <a:t>.</a:t>
            </a:r>
            <a:r>
              <a:rPr sz="900" b="0">
                <a:solidFill>
                  <a:srgbClr val="212121"/>
                </a:solidFill>
                <a:latin typeface="Courier New"/>
              </a:rPr>
              <a:t>name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===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agent</a:t>
            </a:r>
            <a:r>
              <a:rPr sz="900" b="0">
                <a:solidFill>
                  <a:srgbClr val="444444"/>
                </a:solidFill>
                <a:latin typeface="Courier New"/>
              </a:rPr>
              <a:t>)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444444"/>
                </a:solidFill>
                <a:latin typeface="Courier New"/>
              </a:rPr>
              <a:t>??</a:t>
            </a:r>
            <a:r>
              <a:rPr sz="900" b="0">
                <a:solidFill>
                  <a:srgbClr val="212121"/>
                </a:solidFill>
                <a:latin typeface="Courier New"/>
              </a:rPr>
              <a:t> </a:t>
            </a:r>
            <a:r>
              <a:rPr sz="900" b="0">
                <a:solidFill>
                  <a:srgbClr val="212121"/>
                </a:solidFill>
                <a:latin typeface="Courier New"/>
              </a:rPr>
              <a:t>agents</a:t>
            </a:r>
            <a:r>
              <a:rPr sz="900" b="0">
                <a:solidFill>
                  <a:srgbClr val="444444"/>
                </a:solidFill>
                <a:latin typeface="Courier New"/>
              </a:rPr>
              <a:t>[</a:t>
            </a:r>
            <a:r>
              <a:rPr sz="900" b="0">
                <a:solidFill>
                  <a:srgbClr val="C05000"/>
                </a:solidFill>
                <a:latin typeface="Courier New"/>
              </a:rPr>
              <a:t>0</a:t>
            </a:r>
            <a:r>
              <a:rPr sz="900" b="0">
                <a:solidFill>
                  <a:srgbClr val="444444"/>
                </a:solidFill>
                <a:latin typeface="Courier New"/>
              </a:rPr>
              <a:t>]</a:t>
            </a:r>
            <a:r>
              <a:rPr sz="90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latin typeface="Courier New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" y="3931920"/>
            <a:ext cx="837590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Open Sans"/>
              </a:rPr>
              <a:t>▸  maxTokens: 20 — router only needs a short JSON response</a:t>
            </a:r>
          </a:p>
          <a:p>
            <a:r>
              <a:rPr sz="1300">
                <a:solidFill>
                  <a:srgbClr val="000000"/>
                </a:solidFill>
                <a:latin typeface="Open Sans"/>
              </a:rPr>
              <a:t>▸  extractJSON() strips markdown code fences if present</a:t>
            </a:r>
          </a:p>
          <a:p>
            <a:r>
              <a:rPr sz="1300">
                <a:solidFill>
                  <a:srgbClr val="000000"/>
                </a:solidFill>
                <a:latin typeface="Open Sans"/>
              </a:rPr>
              <a:t>▸  Falls back to agents[0] (default) on parse error</a:t>
            </a:r>
          </a:p>
          <a:p>
            <a:r>
              <a:rPr sz="1300">
                <a:solidFill>
                  <a:srgbClr val="000000"/>
                </a:solidFill>
                <a:latin typeface="Open Sans"/>
              </a:rPr>
              <a:t>▸  Skip routing if only one agent configured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Conversation State Machine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30936" y="914400"/>
            <a:ext cx="1828800" cy="457200"/>
          </a:xfrm>
          <a:prstGeom prst="rect">
            <a:avLst/>
          </a:prstGeom>
          <a:solidFill>
            <a:srgbClr val="E5E5E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00000"/>
                </a:solidFill>
                <a:latin typeface="Open Sans"/>
              </a:rPr>
              <a:t>idle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13716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C1218"/>
                </a:solidFill>
                <a:latin typeface="Open Sans"/>
              </a:rPr>
              <a:t>↓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572768"/>
            <a:ext cx="1828800" cy="457200"/>
          </a:xfrm>
          <a:prstGeom prst="rect">
            <a:avLst/>
          </a:prstGeom>
          <a:solidFill>
            <a:srgbClr val="FFF0DB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00000"/>
                </a:solidFill>
                <a:latin typeface="Open Sans"/>
              </a:rPr>
              <a:t>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9464" y="157276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Open Sans"/>
              </a:rPr>
              <a:t>router LLM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20299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C1218"/>
                </a:solidFill>
                <a:latin typeface="Open Sans"/>
              </a:rPr>
              <a:t>↓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" y="2231136"/>
            <a:ext cx="1828800" cy="457200"/>
          </a:xfrm>
          <a:prstGeom prst="rect">
            <a:avLst/>
          </a:prstGeom>
          <a:solidFill>
            <a:srgbClr val="EC121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Open Sans"/>
              </a:rPr>
              <a:t>generating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9464" y="223113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Open Sans"/>
              </a:rPr>
              <a:t>streaming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26883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C1218"/>
                </a:solidFill>
                <a:latin typeface="Open Sans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" y="2889504"/>
            <a:ext cx="1828800" cy="45720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00000"/>
                </a:solidFill>
                <a:latin typeface="Open Sans"/>
              </a:rPr>
              <a:t>executing_tool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9464" y="288950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Open Sans"/>
              </a:rPr>
              <a:t>tool result appended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334670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C1218"/>
                </a:solidFill>
                <a:latin typeface="Open Sans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" y="3547872"/>
            <a:ext cx="1828800" cy="457200"/>
          </a:xfrm>
          <a:prstGeom prst="rect">
            <a:avLst/>
          </a:prstGeom>
          <a:solidFill>
            <a:srgbClr val="E5E5E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00000"/>
                </a:solidFill>
                <a:latin typeface="Open Sans"/>
              </a:rPr>
              <a:t>idle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9464" y="3547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Open Sans"/>
              </a:rPr>
              <a:t>stream ends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9464" y="227685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C1218"/>
                </a:solidFill>
                <a:latin typeface="Open Sans"/>
              </a:rPr>
              <a:t>→ tool_call detected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188720"/>
            <a:ext cx="426110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  <a:latin typeface="Open Sans"/>
              </a:rPr>
              <a:t>▸  State held in useChat hook (React)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Abort button transitions generating → idle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Error transitions any state → idle + toast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Messages persisted to DB at each state transition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useChat Hook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8375904" cy="384048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987552"/>
            <a:ext cx="8156448" cy="3694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A6A6A"/>
                </a:solidFill>
                <a:latin typeface="Courier New"/>
              </a:rPr>
              <a:t>// src/hooks/useChat.ts  (simplified)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A0E12"/>
                </a:solidFill>
                <a:latin typeface="Courier New"/>
              </a:rPr>
              <a:t>export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function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useChat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[</a:t>
            </a:r>
            <a:r>
              <a:rPr sz="850" b="0">
                <a:solidFill>
                  <a:srgbClr val="212121"/>
                </a:solidFill>
                <a:latin typeface="Courier New"/>
              </a:rPr>
              <a:t>messages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setMessages</a:t>
            </a:r>
            <a:r>
              <a:rPr sz="850" b="0">
                <a:solidFill>
                  <a:srgbClr val="444444"/>
                </a:solidFill>
                <a:latin typeface="Courier New"/>
              </a:rPr>
              <a:t>]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useState</a:t>
            </a:r>
            <a:r>
              <a:rPr sz="850" b="0">
                <a:solidFill>
                  <a:srgbClr val="444444"/>
                </a:solidFill>
                <a:latin typeface="Courier New"/>
              </a:rPr>
              <a:t>&lt;</a:t>
            </a:r>
            <a:r>
              <a:rPr sz="850" b="0">
                <a:solidFill>
                  <a:srgbClr val="212121"/>
                </a:solidFill>
                <a:latin typeface="Courier New"/>
              </a:rPr>
              <a:t>Message</a:t>
            </a:r>
            <a:r>
              <a:rPr sz="850" b="0">
                <a:solidFill>
                  <a:srgbClr val="444444"/>
                </a:solidFill>
                <a:latin typeface="Courier New"/>
              </a:rPr>
              <a:t>[</a:t>
            </a:r>
            <a:r>
              <a:rPr sz="850" b="0">
                <a:solidFill>
                  <a:srgbClr val="444444"/>
                </a:solidFill>
                <a:latin typeface="Courier New"/>
              </a:rPr>
              <a:t>]</a:t>
            </a:r>
            <a:r>
              <a:rPr sz="850" b="0">
                <a:solidFill>
                  <a:srgbClr val="444444"/>
                </a:solidFill>
                <a:latin typeface="Courier New"/>
              </a:rPr>
              <a:t>&gt;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[</a:t>
            </a:r>
            <a:r>
              <a:rPr sz="850" b="0">
                <a:solidFill>
                  <a:srgbClr val="444444"/>
                </a:solidFill>
                <a:latin typeface="Courier New"/>
              </a:rPr>
              <a:t>]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[</a:t>
            </a:r>
            <a:r>
              <a:rPr sz="850" b="0">
                <a:solidFill>
                  <a:srgbClr val="212121"/>
                </a:solidFill>
                <a:latin typeface="Courier New"/>
              </a:rPr>
              <a:t>status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setStatus</a:t>
            </a:r>
            <a:r>
              <a:rPr sz="850" b="0">
                <a:solidFill>
                  <a:srgbClr val="444444"/>
                </a:solidFill>
                <a:latin typeface="Courier New"/>
              </a:rPr>
              <a:t>]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useState</a:t>
            </a:r>
            <a:r>
              <a:rPr sz="850" b="0">
                <a:solidFill>
                  <a:srgbClr val="444444"/>
                </a:solidFill>
                <a:latin typeface="Courier New"/>
              </a:rPr>
              <a:t>&lt;</a:t>
            </a:r>
            <a:r>
              <a:rPr sz="850" b="0">
                <a:solidFill>
                  <a:srgbClr val="212121"/>
                </a:solidFill>
                <a:latin typeface="Courier New"/>
              </a:rPr>
              <a:t>ChatStatus</a:t>
            </a:r>
            <a:r>
              <a:rPr sz="850" b="0">
                <a:solidFill>
                  <a:srgbClr val="444444"/>
                </a:solidFill>
                <a:latin typeface="Courier New"/>
              </a:rPr>
              <a:t>&gt;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187A1F"/>
                </a:solidFill>
                <a:latin typeface="Courier New"/>
              </a:rPr>
              <a:t>"idle"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async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function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sendMessage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text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7B008B"/>
                </a:solidFill>
                <a:latin typeface="Courier New"/>
              </a:rPr>
              <a:t>string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212121"/>
                </a:solidFill>
                <a:latin typeface="Courier New"/>
              </a:rPr>
              <a:t>setStatus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187A1F"/>
                </a:solidFill>
                <a:latin typeface="Courier New"/>
              </a:rPr>
              <a:t>"routing"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agent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routeMessage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text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agents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212121"/>
                </a:solidFill>
                <a:latin typeface="Courier New"/>
              </a:rPr>
              <a:t>setStatus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187A1F"/>
                </a:solidFill>
                <a:latin typeface="Courier New"/>
              </a:rPr>
              <a:t>"generating"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userMsg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saveMessage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role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187A1F"/>
                </a:solidFill>
                <a:latin typeface="Courier New"/>
              </a:rPr>
              <a:t>"user"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content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7B008B"/>
                </a:solidFill>
                <a:latin typeface="Courier New"/>
              </a:rPr>
              <a:t>text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212121"/>
                </a:solidFill>
                <a:latin typeface="Courier New"/>
              </a:rPr>
              <a:t>setMessages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m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=&gt;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[</a:t>
            </a:r>
            <a:r>
              <a:rPr sz="850" b="0">
                <a:solidFill>
                  <a:srgbClr val="444444"/>
                </a:solidFill>
                <a:latin typeface="Courier New"/>
              </a:rPr>
              <a:t>...</a:t>
            </a:r>
            <a:r>
              <a:rPr sz="850" b="0">
                <a:solidFill>
                  <a:srgbClr val="212121"/>
                </a:solidFill>
                <a:latin typeface="Courier New"/>
              </a:rPr>
              <a:t>m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userMsg</a:t>
            </a:r>
            <a:r>
              <a:rPr sz="850" b="0">
                <a:solidFill>
                  <a:srgbClr val="444444"/>
                </a:solidFill>
                <a:latin typeface="Courier New"/>
              </a:rPr>
              <a:t>]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let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assistantContent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187A1F"/>
                </a:solidFill>
                <a:latin typeface="Courier New"/>
              </a:rPr>
              <a:t>""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for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1">
                <a:solidFill>
                  <a:srgbClr val="BA0E12"/>
                </a:solidFill>
                <a:latin typeface="Courier New"/>
              </a:rPr>
              <a:t>const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token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1">
                <a:solidFill>
                  <a:srgbClr val="BA0E12"/>
                </a:solidFill>
                <a:latin typeface="Courier New"/>
              </a:rPr>
              <a:t>of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runReAct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[</a:t>
            </a:r>
            <a:r>
              <a:rPr sz="850" b="0">
                <a:solidFill>
                  <a:srgbClr val="444444"/>
                </a:solidFill>
                <a:latin typeface="Courier New"/>
              </a:rPr>
              <a:t>...</a:t>
            </a:r>
            <a:r>
              <a:rPr sz="850" b="0">
                <a:solidFill>
                  <a:srgbClr val="212121"/>
                </a:solidFill>
                <a:latin typeface="Courier New"/>
              </a:rPr>
              <a:t>messages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userMsg</a:t>
            </a:r>
            <a:r>
              <a:rPr sz="850" b="0">
                <a:solidFill>
                  <a:srgbClr val="444444"/>
                </a:solidFill>
                <a:latin typeface="Courier New"/>
              </a:rPr>
              <a:t>]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                                   </a:t>
            </a:r>
            <a:r>
              <a:rPr sz="850" b="0">
                <a:solidFill>
                  <a:srgbClr val="212121"/>
                </a:solidFill>
                <a:latin typeface="Courier New"/>
              </a:rPr>
              <a:t>agent</a:t>
            </a:r>
            <a:r>
              <a:rPr sz="850" b="0">
                <a:solidFill>
                  <a:srgbClr val="444444"/>
                </a:solidFill>
                <a:latin typeface="Courier New"/>
              </a:rPr>
              <a:t>.</a:t>
            </a:r>
            <a:r>
              <a:rPr sz="850" b="0">
                <a:solidFill>
                  <a:srgbClr val="212121"/>
                </a:solidFill>
                <a:latin typeface="Courier New"/>
              </a:rPr>
              <a:t>tools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  </a:t>
            </a:r>
            <a:r>
              <a:rPr sz="850" b="0">
                <a:solidFill>
                  <a:srgbClr val="212121"/>
                </a:solidFill>
                <a:latin typeface="Courier New"/>
              </a:rPr>
              <a:t>assistantContent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+=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token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  </a:t>
            </a:r>
            <a:r>
              <a:rPr sz="850" b="0">
                <a:solidFill>
                  <a:srgbClr val="212121"/>
                </a:solidFill>
                <a:latin typeface="Courier New"/>
              </a:rPr>
              <a:t>setMessages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m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=&gt;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updateLast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212121"/>
                </a:solidFill>
                <a:latin typeface="Courier New"/>
              </a:rPr>
              <a:t>m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assistantContent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await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saveMessage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role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187A1F"/>
                </a:solidFill>
                <a:latin typeface="Courier New"/>
              </a:rPr>
              <a:t>"assistant"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content</a:t>
            </a:r>
            <a:r>
              <a:rPr sz="850" b="0">
                <a:solidFill>
                  <a:srgbClr val="444444"/>
                </a:solidFill>
                <a:latin typeface="Courier New"/>
              </a:rPr>
              <a:t>:</a:t>
            </a:r>
            <a:r>
              <a:rPr sz="850" b="0">
                <a:solidFill>
                  <a:srgbClr val="7B008B"/>
                </a:solidFill>
                <a:latin typeface="Courier New"/>
              </a:rPr>
              <a:t>assistantContent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  </a:t>
            </a:r>
            <a:r>
              <a:rPr sz="850" b="0">
                <a:solidFill>
                  <a:srgbClr val="212121"/>
                </a:solidFill>
                <a:latin typeface="Courier New"/>
              </a:rPr>
              <a:t>setStatus</a:t>
            </a:r>
            <a:r>
              <a:rPr sz="850" b="0">
                <a:solidFill>
                  <a:srgbClr val="444444"/>
                </a:solidFill>
                <a:latin typeface="Courier New"/>
              </a:rPr>
              <a:t>(</a:t>
            </a:r>
            <a:r>
              <a:rPr sz="850" b="0">
                <a:solidFill>
                  <a:srgbClr val="187A1F"/>
                </a:solidFill>
                <a:latin typeface="Courier New"/>
              </a:rPr>
              <a:t>"idle"</a:t>
            </a:r>
            <a:r>
              <a:rPr sz="850" b="0">
                <a:solidFill>
                  <a:srgbClr val="444444"/>
                </a:solidFill>
                <a:latin typeface="Courier New"/>
              </a:rPr>
              <a:t>)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12121"/>
                </a:solidFill>
                <a:latin typeface="Courier New"/>
              </a:rPr>
              <a:t>  </a:t>
            </a:r>
            <a:r>
              <a:rPr sz="850" b="1">
                <a:solidFill>
                  <a:srgbClr val="BA0E12"/>
                </a:solidFill>
                <a:latin typeface="Courier New"/>
              </a:rPr>
              <a:t>return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{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messages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status</a:t>
            </a:r>
            <a:r>
              <a:rPr sz="850" b="0">
                <a:solidFill>
                  <a:srgbClr val="444444"/>
                </a:solidFill>
                <a:latin typeface="Courier New"/>
              </a:rPr>
              <a:t>,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212121"/>
                </a:solidFill>
                <a:latin typeface="Courier New"/>
              </a:rPr>
              <a:t>sendMessage</a:t>
            </a:r>
            <a:r>
              <a:rPr sz="850" b="0">
                <a:solidFill>
                  <a:srgbClr val="212121"/>
                </a:solidFill>
                <a:latin typeface="Courier New"/>
              </a:rPr>
              <a:t> </a:t>
            </a: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  <a:r>
              <a:rPr sz="850" b="0">
                <a:solidFill>
                  <a:srgbClr val="444444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Courier New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>
                <a:latin typeface="Courier New"/>
              </a:rPr>
              <a:t> 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000000"/>
                </a:solidFill>
                <a:latin typeface="Open Sans"/>
              </a:rPr>
              <a:t>Part 9
Putting It All Together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l"/>
            <a:r>
              <a:rPr sz="1400">
                <a:solidFill>
                  <a:srgbClr val="595959"/>
                </a:solidFill>
                <a:latin typeface="Open Sans"/>
              </a:rPr>
              <a:t>Slides 59–61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End-to-End Request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9496" y="914400"/>
            <a:ext cx="2377440" cy="438912"/>
          </a:xfrm>
          <a:prstGeom prst="rect">
            <a:avLst/>
          </a:prstGeom>
          <a:solidFill>
            <a:srgbClr val="E5E5E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00000"/>
                </a:solidFill>
                <a:latin typeface="Open Sans"/>
              </a:rPr>
              <a:t>User types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496" y="1353312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C1218"/>
                </a:solidFill>
                <a:latin typeface="Open Sans"/>
              </a:rPr>
              <a:t>↓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" y="1517904"/>
            <a:ext cx="2377440" cy="438912"/>
          </a:xfrm>
          <a:prstGeom prst="rect">
            <a:avLst/>
          </a:prstGeom>
          <a:solidFill>
            <a:srgbClr val="FFF0DB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00000"/>
                </a:solidFill>
                <a:latin typeface="Open Sans"/>
              </a:rPr>
              <a:t>routeMessage()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4952" y="1517904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Open Sans"/>
              </a:rPr>
              <a:t>LLM call  ~200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956816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C1218"/>
                </a:solidFill>
                <a:latin typeface="Open Sans"/>
              </a:rPr>
              <a:t>↓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496" y="2121408"/>
            <a:ext cx="2377440" cy="438912"/>
          </a:xfrm>
          <a:prstGeom prst="rect">
            <a:avLst/>
          </a:prstGeom>
          <a:solidFill>
            <a:srgbClr val="FFF0DB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00000"/>
                </a:solidFill>
                <a:latin typeface="Open Sans"/>
              </a:rPr>
              <a:t>hybridSearch()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4952" y="212140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Open Sans"/>
              </a:rPr>
              <a:t>embed + SQL++ + BM25 + RRF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" y="2560320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C1218"/>
                </a:solidFill>
                <a:latin typeface="Open Sans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" y="2724912"/>
            <a:ext cx="2377440" cy="438912"/>
          </a:xfrm>
          <a:prstGeom prst="rect">
            <a:avLst/>
          </a:prstGeom>
          <a:solidFill>
            <a:srgbClr val="FFF0DB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00000"/>
                </a:solidFill>
                <a:latin typeface="Open Sans"/>
              </a:rPr>
              <a:t>buildRAGPrompt()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272491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Open Sans"/>
              </a:rPr>
              <a:t>system + context +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3163824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C1218"/>
                </a:solidFill>
                <a:latin typeface="Open Sans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496" y="3328416"/>
            <a:ext cx="2377440" cy="438912"/>
          </a:xfrm>
          <a:prstGeom prst="rect">
            <a:avLst/>
          </a:prstGeom>
          <a:solidFill>
            <a:srgbClr val="EC121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Open Sans"/>
              </a:rPr>
              <a:t>runReAct()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3328416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Open Sans"/>
              </a:rPr>
              <a:t>stream tokens, execute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" y="3767328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C1218"/>
                </a:solidFill>
                <a:latin typeface="Open Sans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" y="3931920"/>
            <a:ext cx="2377440" cy="438912"/>
          </a:xfrm>
          <a:prstGeom prst="rect">
            <a:avLst/>
          </a:prstGeom>
          <a:solidFill>
            <a:srgbClr val="E5E5E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00000"/>
                </a:solidFill>
                <a:latin typeface="Open Sans"/>
              </a:rPr>
              <a:t>saveMessage() + render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393192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Open Sans"/>
              </a:rPr>
              <a:t>persist to CouchbaseLite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1280160"/>
            <a:ext cx="343814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  <a:latin typeface="Open Sans"/>
              </a:rPr>
              <a:t>▸  Total latency: ~200 ms routing + ~500 ms first token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Streaming hides generation latency</a:t>
            </a:r>
          </a:p>
          <a:p>
            <a:r>
              <a:rPr sz="1200">
                <a:solidFill>
                  <a:srgbClr val="000000"/>
                </a:solidFill>
                <a:latin typeface="Open Sans"/>
              </a:rPr>
              <a:t>▸  All data stays on-device — no cloud calls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Exercises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2791968" cy="40640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2791968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#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24" y="914400"/>
            <a:ext cx="2791968" cy="40640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4888" y="914400"/>
            <a:ext cx="2791968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Exercise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1992" y="914400"/>
            <a:ext cx="2791968" cy="40640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6856" y="914400"/>
            <a:ext cx="2791968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Open Sans"/>
              </a:rPr>
              <a:t>Difficulty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" y="1320800"/>
            <a:ext cx="2791968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20800"/>
            <a:ext cx="2791968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24" y="1320800"/>
            <a:ext cx="2791968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4888" y="1320800"/>
            <a:ext cx="2791968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Add a new tool: fetch a URL and return its 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1992" y="1320800"/>
            <a:ext cx="2791968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6856" y="1320800"/>
            <a:ext cx="2791968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★★☆☆☆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" y="1727200"/>
            <a:ext cx="2791968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727200"/>
            <a:ext cx="2791968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0024" y="1727200"/>
            <a:ext cx="2791968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4888" y="1727200"/>
            <a:ext cx="2791968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Create a second agent with a different system prompt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1992" y="1727200"/>
            <a:ext cx="2791968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6856" y="1727200"/>
            <a:ext cx="2791968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★☆☆☆☆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" y="2133600"/>
            <a:ext cx="2791968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133600"/>
            <a:ext cx="2791968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0024" y="2133600"/>
            <a:ext cx="2791968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4888" y="2133600"/>
            <a:ext cx="2791968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Ingest a PDF and ask questions about 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1992" y="2133600"/>
            <a:ext cx="2791968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6856" y="2133600"/>
            <a:ext cx="2791968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★☆☆☆☆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" y="2540000"/>
            <a:ext cx="2791968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540000"/>
            <a:ext cx="2791968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0024" y="2540000"/>
            <a:ext cx="2791968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4888" y="2540000"/>
            <a:ext cx="2791968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Tune bm25Weight and compare retrieval quality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1992" y="2540000"/>
            <a:ext cx="2791968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6856" y="2540000"/>
            <a:ext cx="2791968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★★☆☆☆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" y="2946400"/>
            <a:ext cx="2791968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946400"/>
            <a:ext cx="2791968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40024" y="2946400"/>
            <a:ext cx="2791968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4888" y="2946400"/>
            <a:ext cx="2791968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Add a Couchbase Sync Gateway and sync to a second device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1992" y="2946400"/>
            <a:ext cx="2791968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6856" y="2946400"/>
            <a:ext cx="2791968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★★★☆☆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8056" y="3352800"/>
            <a:ext cx="2791968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352800"/>
            <a:ext cx="2791968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40024" y="3352800"/>
            <a:ext cx="2791968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94888" y="3352800"/>
            <a:ext cx="2791968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Replace Gemma 3 1B with a different .litertlm model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1992" y="3352800"/>
            <a:ext cx="2791968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6856" y="3352800"/>
            <a:ext cx="2791968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★★☆☆☆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8056" y="3759200"/>
            <a:ext cx="2791968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3759200"/>
            <a:ext cx="2791968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40024" y="3759200"/>
            <a:ext cx="2791968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94888" y="3759200"/>
            <a:ext cx="2791968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Add a conversation export tool (Markdown / JSON)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1992" y="3759200"/>
            <a:ext cx="2791968" cy="40640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86856" y="3759200"/>
            <a:ext cx="2791968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★★☆☆☆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8056" y="4165600"/>
            <a:ext cx="2791968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4165600"/>
            <a:ext cx="2791968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40024" y="4165600"/>
            <a:ext cx="2791968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94888" y="4165600"/>
            <a:ext cx="2791968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Implement semantic chunking (split on paragraphs)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31992" y="4165600"/>
            <a:ext cx="2791968" cy="40640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86856" y="4165600"/>
            <a:ext cx="2791968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Open Sans"/>
              </a:rPr>
              <a:t>★★★☆☆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Resources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4261104" cy="40005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4261104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ns"/>
              </a:rPr>
              <a:t>Resource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709160" y="914400"/>
            <a:ext cx="4261104" cy="400050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64024" y="914400"/>
            <a:ext cx="4261104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pen Sans"/>
              </a:rPr>
              <a:t>URL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" y="1314450"/>
            <a:ext cx="4261104" cy="40005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14450"/>
            <a:ext cx="4261104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Open Sans"/>
              </a:rPr>
              <a:t>This repo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314450"/>
            <a:ext cx="4261104" cy="40005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64024" y="1314450"/>
            <a:ext cx="4261104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Open Sans"/>
              </a:rPr>
              <a:t>github.com/ldoguin/tauri-cblite-litert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" y="1714500"/>
            <a:ext cx="4261104" cy="40005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14500"/>
            <a:ext cx="4261104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Open Sans"/>
              </a:rPr>
              <a:t>Tauri docs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1714500"/>
            <a:ext cx="4261104" cy="40005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64024" y="1714500"/>
            <a:ext cx="4261104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Open Sans"/>
              </a:rPr>
              <a:t>tauri.app/v2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" y="2114550"/>
            <a:ext cx="4261104" cy="40005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114550"/>
            <a:ext cx="4261104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Open Sans"/>
              </a:rPr>
              <a:t>Couchbase Lite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2114550"/>
            <a:ext cx="4261104" cy="40005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64024" y="2114550"/>
            <a:ext cx="4261104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Open Sans"/>
              </a:rPr>
              <a:t>docs.couchbase.com/couchbase-lite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" y="2514600"/>
            <a:ext cx="4261104" cy="40005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514600"/>
            <a:ext cx="4261104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Open Sans"/>
              </a:rPr>
              <a:t>LiteRT / GenAI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2514600"/>
            <a:ext cx="4261104" cy="40005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64024" y="2514600"/>
            <a:ext cx="4261104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Open Sans"/>
              </a:rPr>
              <a:t>ai.google.dev/edge/litert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" y="2914650"/>
            <a:ext cx="4261104" cy="40005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914650"/>
            <a:ext cx="4261104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Open Sans"/>
              </a:rPr>
              <a:t>Gemma models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60" y="2914650"/>
            <a:ext cx="4261104" cy="40005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64024" y="2914650"/>
            <a:ext cx="4261104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Open Sans"/>
              </a:rPr>
              <a:t>ai.google.dev/gemma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" y="3314700"/>
            <a:ext cx="4261104" cy="40005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314700"/>
            <a:ext cx="4261104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Open Sans"/>
              </a:rPr>
              <a:t>BERT embeddings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60" y="3314700"/>
            <a:ext cx="4261104" cy="400050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64024" y="3314700"/>
            <a:ext cx="4261104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Open Sans"/>
              </a:rPr>
              <a:t>huggingface.co/bert-base-uncased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" y="3714750"/>
            <a:ext cx="4261104" cy="40005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714750"/>
            <a:ext cx="4261104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Open Sans"/>
              </a:rPr>
              <a:t>python-pptx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60" y="3714750"/>
            <a:ext cx="4261104" cy="40005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64024" y="3714750"/>
            <a:ext cx="4261104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Open Sans"/>
              </a:rPr>
              <a:t>python-pptx.readthedocs.io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" y="4206240"/>
            <a:ext cx="83759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Open Sans"/>
              </a:rPr>
              <a:t>▸  Star the repo — PRs welcome!</a:t>
            </a:r>
          </a:p>
          <a:p>
            <a:r>
              <a:rPr sz="1400">
                <a:solidFill>
                  <a:srgbClr val="000000"/>
                </a:solidFill>
                <a:latin typeface="Open Sans"/>
              </a:rPr>
              <a:t>▸  Questions? Open a GitHub Discussion</a:t>
            </a:r>
          </a:p>
          <a:p>
            <a:r>
              <a:rPr sz="1400">
                <a:solidFill>
                  <a:srgbClr val="000000"/>
                </a:solidFill>
                <a:latin typeface="Open Sans"/>
              </a:rPr>
              <a:t>▸  Workshop slides generated by make_pptx.py — edit and re-run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000000"/>
                </a:solidFill>
                <a:latin typeface="Open Sans"/>
              </a:rPr>
              <a:t>Appendix
Glossary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l"/>
            <a:r>
              <a:rPr sz="1400">
                <a:solidFill>
                  <a:srgbClr val="595959"/>
                </a:solidFill>
                <a:latin typeface="Open Sans"/>
              </a:rPr>
              <a:t>Slides 62–63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Glossary: AI &amp; ML Terms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4187952" cy="222068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Open Sans"/>
              </a:rPr>
              <a:t>Term</a:t>
            </a:r>
          </a:p>
        </p:txBody>
      </p:sp>
      <p:sp>
        <p:nvSpPr>
          <p:cNvPr id="5" name="Rectangle 4"/>
          <p:cNvSpPr/>
          <p:nvPr/>
        </p:nvSpPr>
        <p:spPr>
          <a:xfrm>
            <a:off x="4636008" y="914400"/>
            <a:ext cx="4187952" cy="222068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90872" y="914400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Open Sans"/>
              </a:rPr>
              <a:t>Stands for / Meaning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" y="1136468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36468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LLM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6008" y="1136468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136468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Large Language Model — a transformer trained to predict the next token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" y="1358537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358537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BERT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36008" y="1358537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1358537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Bidirectional Encoder Representations from Transformers — encoder-only model for embeddings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" y="1580605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580605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RAG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36008" y="1580605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2" y="1580605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Retrieval-Augmented Generation — inject retrieved context into an LLM prompt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" y="1802674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1802674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KV-cache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6008" y="1802674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0872" y="1802674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Key-Value cache — stores attention K/V tensors to avoid recomputing previous tokens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" y="2024742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024742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INT4/INT8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36008" y="2024742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90872" y="2024742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4-bit / 8-bit integer quantisation — reduces model size and speeds up inference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" y="2246811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246811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FP16/FP32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36008" y="2246811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90872" y="2246811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16-bit / 32-bit floating point — FP32 is full precision, FP16 halves memory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" y="2468880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468880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PTQ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36008" y="2468880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90872" y="2468880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Post-Training Quantisation — quantise a trained model without retraining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" y="2690948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2690948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QAT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36008" y="2690948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90872" y="2690948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Quantisation-Aware Training — simulate quantisation during fine-tuning for better accuracy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8056" y="2913017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2913017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FFN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36008" y="2913017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90872" y="2913017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Feed-Forward Network — the two-layer MLP inside each transformer block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056" y="3135085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3135085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MLM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36008" y="3135085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90872" y="3135085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Masked Language Modelling — BERT pre-training task: predict masked tokens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8056" y="3357154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3357154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NSP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36008" y="3357154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90872" y="3357154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Next Sentence Prediction — BERT pre-training task: predict if two sentences are adjacent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8056" y="3579222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3579222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SBERT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36008" y="3579222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90872" y="3579222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Sentence-BERT — BERT fine-tuned with a pooling head for sentence-level similarity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48056" y="3801291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3801291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BM25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36008" y="3801291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90872" y="3801291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Best Match 25 — probabilistic keyword ranking function (Okapi BM25)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8056" y="4023360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4023360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RRF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36008" y="4023360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90872" y="4023360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Reciprocal Rank Fusion — merges ranked lists from multiple retrieval methods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48056" y="4245428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4245428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IDF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636008" y="4245428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90872" y="4245428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Inverse Document Frequency — down-weights terms that appear in many documents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8056" y="4467497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" y="4467497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GELU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636008" y="4467497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90872" y="4467497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Gaussian Error Linear Unit — smooth activation function used in transformers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8056" y="4689565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2920" y="4689565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EOS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636008" y="4689565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690872" y="4689565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End-of-Sequence token — special token that signals the model to stop generating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48056" y="4911634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2920" y="4911634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CLS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636008" y="4911634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690872" y="4911634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[CLS] token — BERT’s first input token; its output vector represents the whole sequence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48056" y="5133702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2920" y="5133702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SEP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636008" y="5133702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690872" y="5133702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[SEP] token — BERT separator between sentence pairs; also marks end of input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48056" y="5355771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2920" y="5355771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PAD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636008" y="5355771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690872" y="5355771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[PAD] token — pads sequences to a fixed length; ignored by the attention mask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000" b="1">
                <a:solidFill>
                  <a:srgbClr val="EC1218"/>
                </a:solidFill>
                <a:latin typeface="Open Sans"/>
              </a:rPr>
              <a:t>Glossary: Infrastructure &amp; Format Terms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" y="914400"/>
            <a:ext cx="4187952" cy="222068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Open Sans"/>
              </a:rPr>
              <a:t>Term</a:t>
            </a:r>
          </a:p>
        </p:txBody>
      </p:sp>
      <p:sp>
        <p:nvSpPr>
          <p:cNvPr id="5" name="Rectangle 4"/>
          <p:cNvSpPr/>
          <p:nvPr/>
        </p:nvSpPr>
        <p:spPr>
          <a:xfrm>
            <a:off x="4636008" y="914400"/>
            <a:ext cx="4187952" cy="222068"/>
          </a:xfrm>
          <a:prstGeom prst="rect">
            <a:avLst/>
          </a:prstGeom>
          <a:solidFill>
            <a:srgbClr val="E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90872" y="914400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Open Sans"/>
              </a:rPr>
              <a:t>Stands for / Meaning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" y="1136468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36468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IPC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6008" y="1136468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136468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Inter-Process Communication — how the Tauri frontend (JS) calls the backend (Rust)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" y="1358537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358537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ACL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36008" y="1358537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1358537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Access Control List — Tauri v2 permission system that gates which commands the frontend can 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" y="1580605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580605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GGUF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36008" y="1580605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2" y="1580605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GPT-Generated Unified Format — llama.cpp’s binary model format (successor to GGML)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" y="1802674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1802674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ONNX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6008" y="1802674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0872" y="1802674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Open Neural Network Exchange — open format for representing ML models across frameworks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" y="2024742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024742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GPU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36008" y="2024742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90872" y="2024742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Graphics Processing Unit — massively parallel processor; accelerates matrix operations in ML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" y="2246811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246811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CPU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36008" y="2246811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90872" y="2246811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Central Processing Unit — general-purpose processor; fallback when no GPU delegate is available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" y="2468880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468880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NPU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36008" y="2468880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90872" y="2468880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Neural Processing Unit — dedicated silicon for ML inference (e.g. Qualcomm Hexagon, Apple ANE)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" y="2690948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2690948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ANE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36008" y="2690948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90872" y="2690948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Apple Neural Engine — Apple’s on-chip NPU in A-series and M-series chips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8056" y="2913017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2913017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DSP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36008" y="2913017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90872" y="2913017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Digital Signal Processor — low-power fixed-function chip; used by Qualcomm NNAPI delegate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056" y="3135085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3135085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NNAPI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36008" y="3135085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90872" y="3135085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Neural Networks API — Android abstraction layer that routes inference to GPU/DSP/NPU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8056" y="3357154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3357154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SIMD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36008" y="3357154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90872" y="3357154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Single Instruction Multiple Data — CPU vector instructions (NEON on ARM, AVX on x86)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8056" y="3579222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3579222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ACID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36008" y="3579222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90872" y="3579222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Atomicity, Consistency, Isolation, Durability — database transaction guarantees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48056" y="3801291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3801291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MVCC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36008" y="3801291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90872" y="3801291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Multi-Version Concurrency Control — allows concurrent reads without blocking writes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8056" y="4023360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4023360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SQL++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36008" y="4023360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90872" y="4023360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Superset of SQL for JSON documents — Couchbase’s query language (also called N1QL)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48056" y="4245428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4245428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CDN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636008" y="4245428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90872" y="4245428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Content Delivery Network — geographically distributed servers for fast file downloads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8056" y="4467497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" y="4467497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OTA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636008" y="4467497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90872" y="4467497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Over-The-Air — delivering updates (models, config) without an app store release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8056" y="4689565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2920" y="4689565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SHA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636008" y="4689565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690872" y="4689565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Secure Hash Algorithm — SHA-256 used here to verify model file integrity after download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48056" y="4911634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2920" y="4911634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FFI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636008" y="4911634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690872" y="4911634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Foreign Function Interface — mechanism for calling native C/Rust code from another language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48056" y="5133702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2920" y="5133702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SDK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636008" y="5133702"/>
            <a:ext cx="4187952" cy="222068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690872" y="5133702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Software Development Kit — bundled libraries, tools, and docs for a platform or API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48056" y="5355771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2920" y="5355771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HNSW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636008" y="5355771"/>
            <a:ext cx="4187952" cy="222068"/>
          </a:xfrm>
          <a:prstGeom prst="rect">
            <a:avLst/>
          </a:prstGeom>
          <a:solidFill>
            <a:srgbClr val="F3F3F3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690872" y="5355771"/>
            <a:ext cx="4187952" cy="222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Open Sans"/>
              </a:rPr>
              <a:t>Hierarchical Navigable Small World — graph-based approximate nearest-neighbour index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ouchbase Colors">
      <a:dk1>
        <a:srgbClr val="000000"/>
      </a:dk1>
      <a:lt1>
        <a:srgbClr val="FFFFFF"/>
      </a:lt1>
      <a:dk2>
        <a:srgbClr val="000000"/>
      </a:dk2>
      <a:lt2>
        <a:srgbClr val="E5E5E5"/>
      </a:lt2>
      <a:accent1>
        <a:srgbClr val="CECECE"/>
      </a:accent1>
      <a:accent2>
        <a:srgbClr val="EC1218"/>
      </a:accent2>
      <a:accent3>
        <a:srgbClr val="FC9C0C"/>
      </a:accent3>
      <a:accent4>
        <a:srgbClr val="FFF0DB"/>
      </a:accent4>
      <a:accent5>
        <a:srgbClr val="E5E5E5"/>
      </a:accent5>
      <a:accent6>
        <a:srgbClr val="BA0E12"/>
      </a:accent6>
      <a:hlink>
        <a:srgbClr val="666666"/>
      </a:hlink>
      <a:folHlink>
        <a:srgbClr val="CCCC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